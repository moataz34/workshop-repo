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Lst>
  <p:notesMasterIdLst>
    <p:notesMasterId r:id="rId23"/>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7"/>
    <p:sldId id="272" r:id="rId6"/>
    <p:sldId id="273" r:id="rId5"/>
    <p:sldId id="274" r:id="rId4"/>
    <p:sldId id="275" r:id="rId3"/>
    <p:sldId id="276" r:id="rId2"/>
    <p:sldId id="277" r:id="rId29"/>
    <p:sldId id="278" r:id="rId3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7BF"/>
    <a:srgbClr val="0000CC"/>
    <a:srgbClr val="840032"/>
    <a:srgbClr val="E3E5E8"/>
    <a:srgbClr val="FFFFFF"/>
    <a:srgbClr val="929292"/>
    <a:srgbClr val="910030"/>
    <a:srgbClr val="791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6" dt="2026-09-14T04:59:04.434"/>
    <p1510:client id="{1FF01865-E64E-B8F7-27B2-AABD0EA05F95}" v="2697" dt="2026-09-14T00:04:05.164"/>
    <p1510:client id="{63A9AD3A-4F8A-8FB2-EFF5-5A4E9348F93A}" v="66" dt="2026-09-14T01:13:54.193"/>
    <p1510:client id="{679C08CF-FF4B-A411-83CA-FF3460F21CA1}" v="15" dt="2026-09-13T18:24:15.098"/>
    <p1510:client id="{7E3E0B7E-2AC6-E347-9000-2CD5DA022310}" v="74" dt="2026-09-13T15:10:09.513"/>
    <p1510:client id="{CE2B56EA-8133-4B1B-0A2A-ACB613A15E9E}" v="87" dt="2026-09-14T04:53:25.244"/>
    <p1510:client id="{F375A045-6F36-63E5-3828-5E5D81C5FB4A}" v="1331" dt="2026-09-13T23:43:12.667"/>
    <p1510:client id="{FC858BC5-B9AC-F99A-C6D3-F389282B53E8}" v="480" dt="2026-09-13T16:38:59.84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1.xml"/><Relationship Id="rId3" Type="http://schemas.openxmlformats.org/officeDocument/2006/relationships/slide" Target="slides/slide20.xml"/><Relationship Id="rId4" Type="http://schemas.openxmlformats.org/officeDocument/2006/relationships/slide" Target="slides/slide19.xml"/><Relationship Id="rId5" Type="http://schemas.openxmlformats.org/officeDocument/2006/relationships/slide" Target="slides/slide18.xml"/><Relationship Id="rId6" Type="http://schemas.openxmlformats.org/officeDocument/2006/relationships/slide" Target="slides/slide17.xml"/><Relationship Id="rId7" Type="http://schemas.openxmlformats.org/officeDocument/2006/relationships/slide" Target="slides/slide1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5/10/relationships/revisionInfo" Target="revisionInfo.xml"/><Relationship Id="rId29" Type="http://schemas.openxmlformats.org/officeDocument/2006/relationships/slide" Target="slides/slide22.xml"/><Relationship Id="rId30"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600" b="0">
                <a:solidFill>
                  <a:srgbClr val="1A1A1A"/>
                </a:solidFill>
              </a:rPr>
              <a:t>Time off the road [s], mean of 10 roads</a:t>
            </a:r>
          </a:p>
        </c:rich>
      </c:tx>
      <c:layout/>
      <c:overlay val="0"/>
    </c:title>
    <c:autoTitleDeleted val="0"/>
    <c:plotArea>
      <c:barChart>
        <c:barDir val="col"/>
        <c:grouping val="clustered"/>
        <c:ser>
          <c:idx val="0"/>
          <c:order val="0"/>
          <c:tx>
            <c:strRef>
              <c:f>Sheet1!$B$1</c:f>
              <c:strCache>
                <c:ptCount val="1"/>
                <c:pt idx="0">
                  <c:v>Passive</c:v>
                </c:pt>
              </c:strCache>
            </c:strRef>
          </c:tx>
          <c:spPr>
            <a:solidFill>
              <a:srgbClr val="A6A6A6"/>
            </a:solidFill>
          </c:spPr>
          <c:invertIfNegative val="0"/>
          <c:cat>
            <c:strRef>
              <c:f>Sheet1!$A$2:$A$7</c:f>
              <c:strCache>
                <c:ptCount val="6"/>
                <c:pt idx="0">
                  <c:v>Class C</c:v>
                </c:pt>
                <c:pt idx="1">
                  <c:v>Potholes</c:v>
                </c:pt>
                <c:pt idx="2">
                  <c:v>Asymmetric</c:v>
                </c:pt>
                <c:pt idx="3">
                  <c:v>Speed bumps</c:v>
                </c:pt>
                <c:pt idx="4">
                  <c:v>Potholes + asym.</c:v>
                </c:pt>
                <c:pt idx="5">
                  <c:v>All defects</c:v>
                </c:pt>
              </c:strCache>
            </c:strRef>
          </c:cat>
          <c:val>
            <c:numRef>
              <c:f>Sheet1!$B$2:$B$7</c:f>
              <c:numCache>
                <c:formatCode>General</c:formatCode>
                <c:ptCount val="6"/>
                <c:pt idx="0">
                  <c:v>0.0</c:v>
                </c:pt>
                <c:pt idx="1">
                  <c:v>0.117</c:v>
                </c:pt>
                <c:pt idx="2">
                  <c:v>0.023</c:v>
                </c:pt>
                <c:pt idx="3">
                  <c:v>0.001</c:v>
                </c:pt>
                <c:pt idx="4">
                  <c:v>0.143</c:v>
                </c:pt>
                <c:pt idx="5">
                  <c:v>0.144</c:v>
                </c:pt>
              </c:numCache>
            </c:numRef>
          </c:val>
        </c:ser>
        <c:ser>
          <c:idx val="1"/>
          <c:order val="1"/>
          <c:tx>
            <c:strRef>
              <c:f>Sheet1!$C$1</c:f>
              <c:strCache>
                <c:ptCount val="1"/>
                <c:pt idx="0">
                  <c:v>Active LQR</c:v>
                </c:pt>
              </c:strCache>
            </c:strRef>
          </c:tx>
          <c:spPr>
            <a:solidFill>
              <a:srgbClr val="840032"/>
            </a:solidFill>
          </c:spPr>
          <c:invertIfNegative val="0"/>
          <c:cat>
            <c:strRef>
              <c:f>Sheet1!$A$2:$A$7</c:f>
              <c:strCache>
                <c:ptCount val="6"/>
                <c:pt idx="0">
                  <c:v>Class C</c:v>
                </c:pt>
                <c:pt idx="1">
                  <c:v>Potholes</c:v>
                </c:pt>
                <c:pt idx="2">
                  <c:v>Asymmetric</c:v>
                </c:pt>
                <c:pt idx="3">
                  <c:v>Speed bumps</c:v>
                </c:pt>
                <c:pt idx="4">
                  <c:v>Potholes + asym.</c:v>
                </c:pt>
                <c:pt idx="5">
                  <c:v>All defects</c:v>
                </c:pt>
              </c:strCache>
            </c:strRef>
          </c:cat>
          <c:val>
            <c:numRef>
              <c:f>Sheet1!$C$2:$C$7</c:f>
              <c:numCache>
                <c:formatCode>General</c:formatCode>
                <c:ptCount val="6"/>
                <c:pt idx="0">
                  <c:v>0.0</c:v>
                </c:pt>
                <c:pt idx="1">
                  <c:v>0.117</c:v>
                </c:pt>
                <c:pt idx="2">
                  <c:v>0.023</c:v>
                </c:pt>
                <c:pt idx="3">
                  <c:v>0.001</c:v>
                </c:pt>
                <c:pt idx="4">
                  <c:v>0.143</c:v>
                </c:pt>
                <c:pt idx="5">
                  <c:v>0.144</c:v>
                </c:pt>
              </c:numCache>
            </c:numRef>
          </c:val>
        </c:ser>
        <c:dLbls>
          <c:numFmt formatCode="0.000" sourceLinked="0"/>
          <c:txPr>
            <a:bodyPr/>
            <a:lstStyle/>
            <a:p>
              <a:pPr>
                <a:defRPr sz="18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2100"/>
            </a:pPr>
          </a:p>
        </c:txPr>
        <c:crossAx val="-2113994440"/>
        <c:crosses val="autoZero"/>
        <c:auto val="1"/>
        <c:lblAlgn val="ctr"/>
        <c:lblOffset val="100"/>
        <c:noMultiLvlLbl val="0"/>
      </c:catAx>
      <c:valAx>
        <c:axId val="-2113994440"/>
        <c:scaling>
          <c:max val="0.16"/>
          <c:min val="0.0"/>
        </c:scaling>
        <c:delete val="0"/>
        <c:axPos val="l"/>
        <c:majorGridlines>
          <c:spPr>
            <a:ln>
              <a:solidFill>
                <a:srgbClr val="E0E0E0"/>
              </a:solidFill>
            </a:ln>
          </c:spPr>
        </c:majorGridlines>
        <c:numFmt formatCode="0.00" sourceLinked="0"/>
        <c:majorTickMark val="out"/>
        <c:minorTickMark val="none"/>
        <c:tickLblPos val="nextTo"/>
        <c:spPr>
          <a:ln>
            <a:noFill/>
          </a:ln>
        </c:spPr>
        <c:txPr>
          <a:bodyPr/>
          <a:lstStyle/>
          <a:p>
            <a:pPr>
              <a:defRPr sz="2100"/>
            </a:pPr>
          </a:p>
        </c:txPr>
        <c:crossAx val="-2068027336"/>
        <c:crosses val="autoZero"/>
        <c:majorUnit val="0.04"/>
      </c:valAx>
    </c:plotArea>
    <c:legend>
      <c:legendPos val="t"/>
      <c:overlay val="0"/>
      <c:txPr>
        <a:bodyPr/>
        <a:lstStyle/>
        <a:p>
          <a:pPr>
            <a:defRPr sz="2200"/>
          </a:pPr>
        </a:p>
      </c:txPr>
    </c:legend>
    <c:dispBlanksAs val="gap"/>
  </c:chart>
  <c:txPr>
    <a:bodyPr/>
    <a:lstStyle/>
    <a:p>
      <a:pPr>
        <a:defRPr sz="1800">
          <a:solidFill>
            <a:srgbClr val="1A1A1A"/>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600" b="0">
                <a:solidFill>
                  <a:srgbClr val="1A1A1A"/>
                </a:solidFill>
              </a:rPr>
              <a:t>LQ cost reduction captured [%]</a:t>
            </a:r>
          </a:p>
        </c:rich>
      </c:tx>
      <c:layout/>
      <c:overlay val="0"/>
    </c:title>
    <c:autoTitleDeleted val="0"/>
    <c:plotArea>
      <c:lineChart>
        <c:grouping val="standard"/>
        <c:varyColors val="0"/>
        <c:ser>
          <c:idx val="0"/>
          <c:order val="0"/>
          <c:tx>
            <c:strRef>
              <c:f>Sheet1!$B$1</c:f>
              <c:strCache>
                <c:ptCount val="1"/>
                <c:pt idx="0">
                  <c:v>Cost reduction captured [%]</c:v>
                </c:pt>
              </c:strCache>
            </c:strRef>
          </c:tx>
          <c:spPr>
            <a:ln w="38100">
              <a:solidFill>
                <a:srgbClr val="840032"/>
              </a:solidFill>
            </a:ln>
          </c:spPr>
          <c:marker>
            <c:symbol val="circle"/>
            <c:size val="9"/>
            <c:spPr>
              <a:solidFill>
                <a:srgbClr val="840032"/>
              </a:solidFill>
              <a:ln>
                <a:solidFill>
                  <a:srgbClr val="840032"/>
                </a:solidFill>
              </a:ln>
            </c:spPr>
          </c:marker>
          <c:dLbls>
            <c:dLbl>
              <c:idx val="3"/>
              <c:tx>
                <c:rich>
                  <a:bodyPr/>
                  <a:lstStyle/>
                  <a:p>
                    <a:r>
                      <a:rPr sz="2200" b="1">
                        <a:solidFill>
                          <a:srgbClr val="840032"/>
                        </a:solidFill>
                      </a:rPr>
                      <a:t>0.28 m</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0</c:v>
                </c:pt>
                <c:pt idx="1">
                  <c:v>0.07</c:v>
                </c:pt>
                <c:pt idx="2">
                  <c:v>0.14</c:v>
                </c:pt>
                <c:pt idx="3">
                  <c:v>0.28</c:v>
                </c:pt>
                <c:pt idx="4">
                  <c:v>0.49</c:v>
                </c:pt>
                <c:pt idx="5">
                  <c:v>0.69</c:v>
                </c:pt>
                <c:pt idx="6">
                  <c:v>1.04</c:v>
                </c:pt>
                <c:pt idx="7">
                  <c:v>1.39</c:v>
                </c:pt>
                <c:pt idx="8">
                  <c:v>2.78</c:v>
                </c:pt>
              </c:strCache>
            </c:strRef>
          </c:cat>
          <c:val>
            <c:numRef>
              <c:f>Sheet1!$B$2:$B$10</c:f>
              <c:numCache>
                <c:formatCode>General</c:formatCode>
                <c:ptCount val="9"/>
                <c:pt idx="0">
                  <c:v>0</c:v>
                </c:pt>
                <c:pt idx="1">
                  <c:v>30.0</c:v>
                </c:pt>
                <c:pt idx="2">
                  <c:v>71.0</c:v>
                </c:pt>
                <c:pt idx="3">
                  <c:v>96.9</c:v>
                </c:pt>
                <c:pt idx="4">
                  <c:v>97.5</c:v>
                </c:pt>
                <c:pt idx="5">
                  <c:v>98.2</c:v>
                </c:pt>
                <c:pt idx="6">
                  <c:v>99.2</c:v>
                </c:pt>
                <c:pt idx="7">
                  <c:v>99.6</c:v>
                </c:pt>
                <c:pt idx="8">
                  <c:v>99.9</c:v>
                </c:pt>
              </c:numCache>
            </c:numRef>
          </c:val>
          <c:smooth val="0"/>
        </c:ser>
        <c:marker val="1"/>
        <c:smooth val="0"/>
        <c:axId val="2118791784"/>
        <c:axId val="2140495176"/>
      </c:lineChart>
      <c:catAx>
        <c:axId val="2118791784"/>
        <c:scaling>
          <c:orientation val="minMax"/>
        </c:scaling>
        <c:delete val="0"/>
        <c:axPos val="b"/>
        <c:title>
          <c:tx>
            <c:rich>
              <a:bodyPr/>
              <a:lstStyle/>
              <a:p>
                <a:r>
                  <a:rPr sz="2200" b="0">
                    <a:solidFill>
                      <a:srgbClr val="6E6E6E"/>
                    </a:solidFill>
                  </a:rPr>
                  <a:t>look-ahead distance [m]</a:t>
                </a:r>
              </a:p>
            </c:rich>
          </c:tx>
          <c:layout/>
          <c:overlay val="0"/>
        </c:title>
        <c:majorTickMark val="out"/>
        <c:minorTickMark val="none"/>
        <c:tickLblPos val="nextTo"/>
        <c:spPr>
          <a:ln>
            <a:solidFill>
              <a:srgbClr val="BFBFBF"/>
            </a:solidFill>
          </a:ln>
        </c:spPr>
        <c:txPr>
          <a:bodyPr/>
          <a:lstStyle/>
          <a:p>
            <a:pPr>
              <a:defRPr sz="2100"/>
            </a:pPr>
          </a:p>
        </c:txPr>
        <c:crossAx val="2140495176"/>
        <c:crosses val="autoZero"/>
        <c:auto val="1"/>
        <c:lblAlgn val="ctr"/>
        <c:lblOffset val="100"/>
        <c:noMultiLvlLbl val="0"/>
      </c:catAx>
      <c:valAx>
        <c:axId val="2140495176"/>
        <c:scaling>
          <c:max val="110.0"/>
          <c:min val="0.0"/>
        </c:scaling>
        <c:delete val="0"/>
        <c:axPos val="l"/>
        <c:majorGridlines>
          <c:spPr>
            <a:ln>
              <a:solidFill>
                <a:srgbClr val="E0E0E0"/>
              </a:solidFill>
            </a:ln>
          </c:spPr>
        </c:majorGridlines>
        <c:majorTickMark val="out"/>
        <c:minorTickMark val="none"/>
        <c:tickLblPos val="nextTo"/>
        <c:spPr>
          <a:ln>
            <a:noFill/>
          </a:ln>
        </c:spPr>
        <c:txPr>
          <a:bodyPr/>
          <a:lstStyle/>
          <a:p>
            <a:pPr>
              <a:defRPr sz="2100"/>
            </a:pPr>
          </a:p>
        </c:txPr>
        <c:crossAx val="2118791784"/>
        <c:crosses val="autoZero"/>
        <c:majorUnit val="20.0"/>
      </c:valAx>
    </c:plotArea>
    <c:plotVisOnly val="1"/>
    <c:dispBlanksAs val="gap"/>
    <c:showDLblsOverMax val="0"/>
  </c:chart>
  <c:txPr>
    <a:bodyPr/>
    <a:lstStyle/>
    <a:p>
      <a:pPr>
        <a:defRPr sz="1800">
          <a:solidFill>
            <a:srgbClr val="1A1A1A"/>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600" b="0">
                <a:solidFill>
                  <a:srgbClr val="1A1A1A"/>
                </a:solidFill>
              </a:rPr>
              <a:t>Peak LTR at the baseline case</a:t>
            </a:r>
          </a:p>
        </c:rich>
      </c:tx>
      <c:layout/>
      <c:overlay val="0"/>
    </c:title>
    <c:autoTitleDeleted val="0"/>
    <c:plotArea>
      <c:lineChart>
        <c:grouping val="standard"/>
        <c:varyColors val="0"/>
        <c:ser>
          <c:idx val="0"/>
          <c:order val="0"/>
          <c:tx>
            <c:strRef>
              <c:f>Sheet1!$B$1</c:f>
              <c:strCache>
                <c:ptCount val="1"/>
                <c:pt idx="0">
                  <c:v>Peak LTR</c:v>
                </c:pt>
              </c:strCache>
            </c:strRef>
          </c:tx>
          <c:spPr>
            <a:ln w="38100">
              <a:solidFill>
                <a:srgbClr val="840032"/>
              </a:solidFill>
            </a:ln>
          </c:spPr>
          <c:marker>
            <c:symbol val="circle"/>
            <c:size val="9"/>
            <c:spPr>
              <a:solidFill>
                <a:srgbClr val="840032"/>
              </a:solidFill>
              <a:ln>
                <a:solidFill>
                  <a:srgbClr val="840032"/>
                </a:solidFill>
              </a:ln>
            </c:spPr>
          </c:marker>
          <c:dLbls>
            <c:dLbl>
              <c:idx val="6"/>
              <c:tx>
                <c:rich>
                  <a:bodyPr/>
                  <a:lstStyle/>
                  <a:p>
                    <a:r>
                      <a:rPr sz="2200" b="1">
                        <a:solidFill>
                          <a:srgbClr val="840032"/>
                        </a:solidFill>
                      </a:rPr>
                      <a:t>1.04 m</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0</c:v>
                </c:pt>
                <c:pt idx="1">
                  <c:v>0.07</c:v>
                </c:pt>
                <c:pt idx="2">
                  <c:v>0.14</c:v>
                </c:pt>
                <c:pt idx="3">
                  <c:v>0.28</c:v>
                </c:pt>
                <c:pt idx="4">
                  <c:v>0.49</c:v>
                </c:pt>
                <c:pt idx="5">
                  <c:v>0.69</c:v>
                </c:pt>
                <c:pt idx="6">
                  <c:v>1.04</c:v>
                </c:pt>
                <c:pt idx="7">
                  <c:v>1.39</c:v>
                </c:pt>
                <c:pt idx="8">
                  <c:v>2.78</c:v>
                </c:pt>
              </c:strCache>
            </c:strRef>
          </c:cat>
          <c:val>
            <c:numRef>
              <c:f>Sheet1!$B$2:$B$10</c:f>
              <c:numCache>
                <c:formatCode>General</c:formatCode>
                <c:ptCount val="9"/>
                <c:pt idx="0">
                  <c:v>0.796</c:v>
                </c:pt>
                <c:pt idx="1">
                  <c:v>0.718</c:v>
                </c:pt>
                <c:pt idx="2">
                  <c:v>0.635</c:v>
                </c:pt>
                <c:pt idx="3">
                  <c:v>0.589</c:v>
                </c:pt>
                <c:pt idx="4">
                  <c:v>0.544</c:v>
                </c:pt>
                <c:pt idx="5">
                  <c:v>0.537</c:v>
                </c:pt>
                <c:pt idx="6">
                  <c:v>0.5</c:v>
                </c:pt>
                <c:pt idx="7">
                  <c:v>0.494</c:v>
                </c:pt>
                <c:pt idx="8">
                  <c:v>0.489</c:v>
                </c:pt>
              </c:numCache>
            </c:numRef>
          </c:val>
          <c:smooth val="0"/>
        </c:ser>
        <c:marker val="1"/>
        <c:smooth val="0"/>
        <c:axId val="2118791784"/>
        <c:axId val="2140495176"/>
      </c:lineChart>
      <c:catAx>
        <c:axId val="2118791784"/>
        <c:scaling>
          <c:orientation val="minMax"/>
        </c:scaling>
        <c:delete val="0"/>
        <c:axPos val="b"/>
        <c:title>
          <c:tx>
            <c:rich>
              <a:bodyPr/>
              <a:lstStyle/>
              <a:p>
                <a:r>
                  <a:rPr sz="2200" b="0">
                    <a:solidFill>
                      <a:srgbClr val="6E6E6E"/>
                    </a:solidFill>
                  </a:rPr>
                  <a:t>look-ahead distance [m]</a:t>
                </a:r>
              </a:p>
            </c:rich>
          </c:tx>
          <c:layout/>
          <c:overlay val="0"/>
        </c:title>
        <c:majorTickMark val="out"/>
        <c:minorTickMark val="none"/>
        <c:tickLblPos val="nextTo"/>
        <c:spPr>
          <a:ln>
            <a:solidFill>
              <a:srgbClr val="BFBFBF"/>
            </a:solidFill>
          </a:ln>
        </c:spPr>
        <c:txPr>
          <a:bodyPr/>
          <a:lstStyle/>
          <a:p>
            <a:pPr>
              <a:defRPr sz="2100"/>
            </a:pPr>
          </a:p>
        </c:txPr>
        <c:crossAx val="2140495176"/>
        <c:crosses val="autoZero"/>
        <c:auto val="1"/>
        <c:lblAlgn val="ctr"/>
        <c:lblOffset val="100"/>
        <c:noMultiLvlLbl val="0"/>
      </c:catAx>
      <c:valAx>
        <c:axId val="2140495176"/>
        <c:scaling>
          <c:max val="0.85"/>
          <c:min val="0.4"/>
        </c:scaling>
        <c:delete val="0"/>
        <c:axPos val="l"/>
        <c:majorGridlines>
          <c:spPr>
            <a:ln>
              <a:solidFill>
                <a:srgbClr val="E0E0E0"/>
              </a:solidFill>
            </a:ln>
          </c:spPr>
        </c:majorGridlines>
        <c:numFmt formatCode="0.0" sourceLinked="0"/>
        <c:majorTickMark val="out"/>
        <c:minorTickMark val="none"/>
        <c:tickLblPos val="nextTo"/>
        <c:spPr>
          <a:ln>
            <a:noFill/>
          </a:ln>
        </c:spPr>
        <c:txPr>
          <a:bodyPr/>
          <a:lstStyle/>
          <a:p>
            <a:pPr>
              <a:defRPr sz="2100"/>
            </a:pPr>
          </a:p>
        </c:txPr>
        <c:crossAx val="2118791784"/>
        <c:crosses val="autoZero"/>
        <c:majorUnit val="0.1"/>
      </c:valAx>
    </c:plotArea>
    <c:plotVisOnly val="1"/>
    <c:dispBlanksAs val="gap"/>
    <c:showDLblsOverMax val="0"/>
  </c:chart>
  <c:txPr>
    <a:bodyPr/>
    <a:lstStyle/>
    <a:p>
      <a:pPr>
        <a:defRPr sz="1800">
          <a:solidFill>
            <a:srgbClr val="1A1A1A"/>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600" b="0">
                <a:solidFill>
                  <a:srgbClr val="1A1A1A"/>
                </a:solidFill>
              </a:rPr>
              <a:t>Mean peak LTR over 25 roads (lower is better)</a:t>
            </a:r>
          </a:p>
        </c:rich>
      </c:tx>
      <c:layout/>
      <c:overlay val="0"/>
    </c:title>
    <c:autoTitleDeleted val="0"/>
    <c:plotArea>
      <c:barChart>
        <c:barDir val="col"/>
        <c:grouping val="clustered"/>
        <c:ser>
          <c:idx val="0"/>
          <c:order val="0"/>
          <c:tx>
            <c:strRef>
              <c:f>Sheet1!$B$1</c:f>
              <c:strCache>
                <c:ptCount val="1"/>
                <c:pt idx="0">
                  <c:v>0.5 g</c:v>
                </c:pt>
              </c:strCache>
            </c:strRef>
          </c:tx>
          <c:spPr>
            <a:solidFill>
              <a:srgbClr val="C28099"/>
            </a:solidFill>
          </c:spPr>
          <c:invertIfNegative val="0"/>
          <c:cat>
            <c:strRef>
              <c:f>Sheet1!$A$2:$A$5</c:f>
              <c:strCache>
                <c:ptCount val="4"/>
                <c:pt idx="0">
                  <c:v>P</c:v>
                </c:pt>
                <c:pt idx="1">
                  <c:v>B</c:v>
                </c:pt>
                <c:pt idx="2">
                  <c:v>Pv</c:v>
                </c:pt>
                <c:pt idx="3">
                  <c:v>Pa</c:v>
                </c:pt>
              </c:strCache>
            </c:strRef>
          </c:cat>
          <c:val>
            <c:numRef>
              <c:f>Sheet1!$B$2:$B$5</c:f>
              <c:numCache>
                <c:formatCode>General</c:formatCode>
                <c:ptCount val="4"/>
                <c:pt idx="0">
                  <c:v>0.714</c:v>
                </c:pt>
                <c:pt idx="1">
                  <c:v>0.688</c:v>
                </c:pt>
                <c:pt idx="2">
                  <c:v>0.524</c:v>
                </c:pt>
                <c:pt idx="3">
                  <c:v>0.478</c:v>
                </c:pt>
              </c:numCache>
            </c:numRef>
          </c:val>
        </c:ser>
        <c:ser>
          <c:idx val="1"/>
          <c:order val="1"/>
          <c:tx>
            <c:strRef>
              <c:f>Sheet1!$C$1</c:f>
              <c:strCache>
                <c:ptCount val="1"/>
                <c:pt idx="0">
                  <c:v>0.8 g</c:v>
                </c:pt>
              </c:strCache>
            </c:strRef>
          </c:tx>
          <c:spPr>
            <a:solidFill>
              <a:srgbClr val="840032"/>
            </a:solidFill>
          </c:spPr>
          <c:invertIfNegative val="0"/>
          <c:cat>
            <c:strRef>
              <c:f>Sheet1!$A$2:$A$5</c:f>
              <c:strCache>
                <c:ptCount val="4"/>
                <c:pt idx="0">
                  <c:v>P</c:v>
                </c:pt>
                <c:pt idx="1">
                  <c:v>B</c:v>
                </c:pt>
                <c:pt idx="2">
                  <c:v>Pv</c:v>
                </c:pt>
                <c:pt idx="3">
                  <c:v>Pa</c:v>
                </c:pt>
              </c:strCache>
            </c:strRef>
          </c:cat>
          <c:val>
            <c:numRef>
              <c:f>Sheet1!$C$2:$C$5</c:f>
              <c:numCache>
                <c:formatCode>General</c:formatCode>
                <c:ptCount val="4"/>
                <c:pt idx="0">
                  <c:v>0.87</c:v>
                </c:pt>
                <c:pt idx="1">
                  <c:v>0.926</c:v>
                </c:pt>
                <c:pt idx="2">
                  <c:v>0.771</c:v>
                </c:pt>
                <c:pt idx="3">
                  <c:v>0.676</c:v>
                </c:pt>
              </c:numCache>
            </c:numRef>
          </c:val>
        </c:ser>
        <c:dLbls>
          <c:numFmt formatCode="0.00" sourceLinked="0"/>
          <c:txPr>
            <a:bodyPr/>
            <a:lstStyle/>
            <a:p>
              <a:pPr>
                <a:defRPr sz="20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2400"/>
            </a:pPr>
          </a:p>
        </c:txPr>
        <c:crossAx val="-2113994440"/>
        <c:crosses val="autoZero"/>
        <c:auto val="1"/>
        <c:lblAlgn val="ctr"/>
        <c:lblOffset val="100"/>
        <c:noMultiLvlLbl val="0"/>
      </c:catAx>
      <c:valAx>
        <c:axId val="-2113994440"/>
        <c:scaling>
          <c:max val="1.0"/>
          <c:min val="0.0"/>
        </c:scaling>
        <c:delete val="0"/>
        <c:axPos val="l"/>
        <c:majorGridlines>
          <c:spPr>
            <a:ln>
              <a:solidFill>
                <a:srgbClr val="E0E0E0"/>
              </a:solidFill>
            </a:ln>
          </c:spPr>
        </c:majorGridlines>
        <c:numFmt formatCode="0.0" sourceLinked="0"/>
        <c:majorTickMark val="out"/>
        <c:minorTickMark val="none"/>
        <c:tickLblPos val="nextTo"/>
        <c:spPr>
          <a:ln>
            <a:noFill/>
          </a:ln>
        </c:spPr>
        <c:txPr>
          <a:bodyPr/>
          <a:lstStyle/>
          <a:p>
            <a:pPr>
              <a:defRPr sz="2400"/>
            </a:pPr>
          </a:p>
        </c:txPr>
        <c:crossAx val="-2068027336"/>
        <c:crosses val="autoZero"/>
        <c:majorUnit val="0.2"/>
      </c:valAx>
    </c:plotArea>
    <c:legend>
      <c:legendPos val="t"/>
      <c:overlay val="0"/>
      <c:txPr>
        <a:bodyPr/>
        <a:lstStyle/>
        <a:p>
          <a:pPr>
            <a:defRPr sz="2200"/>
          </a:pPr>
        </a:p>
      </c:txPr>
    </c:legend>
    <c:dispBlanksAs val="gap"/>
  </c:chart>
  <c:txPr>
    <a:bodyPr/>
    <a:lstStyle/>
    <a:p>
      <a:pPr>
        <a:defRPr sz="1800">
          <a:solidFill>
            <a:srgbClr val="1A1A1A"/>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600" b="0">
                <a:solidFill>
                  <a:srgbClr val="1A1A1A"/>
                </a:solidFill>
              </a:rPr>
              <a:t>Peak LTR vs LTR weight</a:t>
            </a:r>
          </a:p>
        </c:rich>
      </c:tx>
      <c:layout/>
      <c:overlay val="0"/>
    </c:title>
    <c:autoTitleDeleted val="0"/>
    <c:plotArea>
      <c:lineChart>
        <c:grouping val="standard"/>
        <c:varyColors val="0"/>
        <c:ser>
          <c:idx val="0"/>
          <c:order val="0"/>
          <c:tx>
            <c:strRef>
              <c:f>Sheet1!$B$1</c:f>
              <c:strCache>
                <c:ptCount val="1"/>
                <c:pt idx="0">
                  <c:v>B (feedback)</c:v>
                </c:pt>
              </c:strCache>
            </c:strRef>
          </c:tx>
          <c:spPr>
            <a:ln w="38100">
              <a:solidFill>
                <a:srgbClr val="404040"/>
              </a:solidFill>
              <a:prstDash val="dash"/>
            </a:ln>
          </c:spPr>
          <c:marker>
            <c:symbol val="circle"/>
            <c:size val="9"/>
            <c:spPr>
              <a:solidFill>
                <a:srgbClr val="404040"/>
              </a:solidFill>
              <a:ln>
                <a:solidFill>
                  <a:srgbClr val="404040"/>
                </a:solidFill>
              </a:ln>
            </c:spPr>
          </c:marker>
          <c:cat>
            <c:strRef>
              <c:f>Sheet1!$A$2:$A$5</c:f>
              <c:strCache>
                <c:ptCount val="4"/>
                <c:pt idx="0">
                  <c:v>4</c:v>
                </c:pt>
                <c:pt idx="1">
                  <c:v>8</c:v>
                </c:pt>
                <c:pt idx="2">
                  <c:v>16</c:v>
                </c:pt>
                <c:pt idx="3">
                  <c:v>32</c:v>
                </c:pt>
              </c:strCache>
            </c:strRef>
          </c:cat>
          <c:val>
            <c:numRef>
              <c:f>Sheet1!$B$2:$B$5</c:f>
              <c:numCache>
                <c:formatCode>General</c:formatCode>
                <c:ptCount val="4"/>
                <c:pt idx="0">
                  <c:v>0.767</c:v>
                </c:pt>
                <c:pt idx="1">
                  <c:v>0.758</c:v>
                </c:pt>
                <c:pt idx="2">
                  <c:v>0.822</c:v>
                </c:pt>
                <c:pt idx="3">
                  <c:v>1.0</c:v>
                </c:pt>
              </c:numCache>
            </c:numRef>
          </c:val>
          <c:smooth val="0"/>
        </c:ser>
        <c:ser>
          <c:idx val="1"/>
          <c:order val="1"/>
          <c:tx>
            <c:strRef>
              <c:f>Sheet1!$C$1</c:f>
              <c:strCache>
                <c:ptCount val="1"/>
                <c:pt idx="0">
                  <c:v>Pa (preview)</c:v>
                </c:pt>
              </c:strCache>
            </c:strRef>
          </c:tx>
          <c:spPr>
            <a:ln w="38100">
              <a:solidFill>
                <a:srgbClr val="840032"/>
              </a:solidFill>
            </a:ln>
          </c:spPr>
          <c:marker>
            <c:symbol val="circle"/>
            <c:size val="9"/>
            <c:spPr>
              <a:solidFill>
                <a:srgbClr val="840032"/>
              </a:solidFill>
              <a:ln>
                <a:solidFill>
                  <a:srgbClr val="840032"/>
                </a:solidFill>
              </a:ln>
            </c:spPr>
          </c:marker>
          <c:cat>
            <c:strRef>
              <c:f>Sheet1!$A$2:$A$5</c:f>
              <c:strCache>
                <c:ptCount val="4"/>
                <c:pt idx="0">
                  <c:v>4</c:v>
                </c:pt>
                <c:pt idx="1">
                  <c:v>8</c:v>
                </c:pt>
                <c:pt idx="2">
                  <c:v>16</c:v>
                </c:pt>
                <c:pt idx="3">
                  <c:v>32</c:v>
                </c:pt>
              </c:strCache>
            </c:strRef>
          </c:cat>
          <c:val>
            <c:numRef>
              <c:f>Sheet1!$C$2:$C$5</c:f>
              <c:numCache>
                <c:formatCode>General</c:formatCode>
                <c:ptCount val="4"/>
                <c:pt idx="0">
                  <c:v>0.52</c:v>
                </c:pt>
                <c:pt idx="1">
                  <c:v>0.489</c:v>
                </c:pt>
                <c:pt idx="2">
                  <c:v>0.457</c:v>
                </c:pt>
                <c:pt idx="3">
                  <c:v>0.425</c:v>
                </c:pt>
              </c:numCache>
            </c:numRef>
          </c:val>
          <c:smooth val="0"/>
        </c:ser>
        <c:marker val="1"/>
        <c:smooth val="0"/>
        <c:axId val="2118791784"/>
        <c:axId val="2140495176"/>
      </c:lineChart>
      <c:catAx>
        <c:axId val="2118791784"/>
        <c:scaling>
          <c:orientation val="minMax"/>
        </c:scaling>
        <c:delete val="0"/>
        <c:axPos val="b"/>
        <c:title>
          <c:tx>
            <c:rich>
              <a:bodyPr/>
              <a:lstStyle/>
              <a:p>
                <a:r>
                  <a:rPr sz="2200" b="0">
                    <a:solidFill>
                      <a:srgbClr val="6E6E6E"/>
                    </a:solidFill>
                  </a:rPr>
                  <a:t>LTR weight</a:t>
                </a:r>
              </a:p>
            </c:rich>
          </c:tx>
          <c:layout/>
          <c:overlay val="0"/>
        </c:title>
        <c:majorTickMark val="out"/>
        <c:minorTickMark val="none"/>
        <c:tickLblPos val="nextTo"/>
        <c:spPr>
          <a:ln>
            <a:solidFill>
              <a:srgbClr val="BFBFBF"/>
            </a:solidFill>
          </a:ln>
        </c:spPr>
        <c:txPr>
          <a:bodyPr/>
          <a:lstStyle/>
          <a:p>
            <a:pPr>
              <a:defRPr sz="2100"/>
            </a:pPr>
          </a:p>
        </c:txPr>
        <c:crossAx val="2140495176"/>
        <c:crosses val="autoZero"/>
        <c:auto val="1"/>
        <c:lblAlgn val="ctr"/>
        <c:lblOffset val="100"/>
        <c:noMultiLvlLbl val="0"/>
      </c:catAx>
      <c:valAx>
        <c:axId val="2140495176"/>
        <c:scaling>
          <c:max val="1.1"/>
          <c:min val="0.3"/>
        </c:scaling>
        <c:delete val="0"/>
        <c:axPos val="l"/>
        <c:majorGridlines>
          <c:spPr>
            <a:ln>
              <a:solidFill>
                <a:srgbClr val="E0E0E0"/>
              </a:solidFill>
            </a:ln>
          </c:spPr>
        </c:majorGridlines>
        <c:numFmt formatCode="0.0" sourceLinked="0"/>
        <c:majorTickMark val="out"/>
        <c:minorTickMark val="none"/>
        <c:tickLblPos val="nextTo"/>
        <c:spPr>
          <a:ln>
            <a:noFill/>
          </a:ln>
        </c:spPr>
        <c:txPr>
          <a:bodyPr/>
          <a:lstStyle/>
          <a:p>
            <a:pPr>
              <a:defRPr sz="2100"/>
            </a:pPr>
          </a:p>
        </c:txPr>
        <c:crossAx val="2118791784"/>
        <c:crosses val="autoZero"/>
        <c:majorUnit val="0.2"/>
      </c:valAx>
    </c:plotArea>
    <c:legend>
      <c:legendPos val="t"/>
      <c:layout/>
      <c:overlay val="0"/>
      <c:txPr>
        <a:bodyPr/>
        <a:lstStyle/>
        <a:p>
          <a:pPr>
            <a:defRPr sz="2200"/>
          </a:pPr>
        </a:p>
      </c:txPr>
    </c:legend>
    <c:plotVisOnly val="1"/>
    <c:dispBlanksAs val="gap"/>
    <c:showDLblsOverMax val="0"/>
  </c:chart>
  <c:txPr>
    <a:bodyPr/>
    <a:lstStyle/>
    <a:p>
      <a:pPr>
        <a:defRPr sz="1800">
          <a:solidFill>
            <a:srgbClr val="1A1A1A"/>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600" b="0">
                <a:solidFill>
                  <a:srgbClr val="1A1A1A"/>
                </a:solidFill>
              </a:rPr>
              <a:t>Peak LTR vs CG height</a:t>
            </a:r>
          </a:p>
        </c:rich>
      </c:tx>
      <c:layout/>
      <c:overlay val="0"/>
    </c:title>
    <c:autoTitleDeleted val="0"/>
    <c:plotArea>
      <c:lineChart>
        <c:grouping val="standard"/>
        <c:varyColors val="0"/>
        <c:ser>
          <c:idx val="0"/>
          <c:order val="0"/>
          <c:tx>
            <c:strRef>
              <c:f>Sheet1!$B$1</c:f>
              <c:strCache>
                <c:ptCount val="1"/>
                <c:pt idx="0">
                  <c:v>P (passive)</c:v>
                </c:pt>
              </c:strCache>
            </c:strRef>
          </c:tx>
          <c:spPr>
            <a:ln w="38100">
              <a:solidFill>
                <a:srgbClr val="A6A6A6"/>
              </a:solidFill>
              <a:prstDash val="dash"/>
            </a:ln>
          </c:spPr>
          <c:marker>
            <c:symbol val="circle"/>
            <c:size val="9"/>
            <c:spPr>
              <a:solidFill>
                <a:srgbClr val="A6A6A6"/>
              </a:solidFill>
              <a:ln>
                <a:solidFill>
                  <a:srgbClr val="A6A6A6"/>
                </a:solidFill>
              </a:ln>
            </c:spPr>
          </c:marker>
          <c:cat>
            <c:strRef>
              <c:f>Sheet1!$A$2:$A$6</c:f>
              <c:strCache>
                <c:ptCount val="5"/>
                <c:pt idx="0">
                  <c:v>0.30</c:v>
                </c:pt>
                <c:pt idx="1">
                  <c:v>0.40</c:v>
                </c:pt>
                <c:pt idx="2">
                  <c:v>0.508</c:v>
                </c:pt>
                <c:pt idx="3">
                  <c:v>0.55</c:v>
                </c:pt>
                <c:pt idx="4">
                  <c:v>0.60</c:v>
                </c:pt>
              </c:strCache>
            </c:strRef>
          </c:cat>
          <c:val>
            <c:numRef>
              <c:f>Sheet1!$B$2:$B$6</c:f>
              <c:numCache>
                <c:formatCode>General</c:formatCode>
                <c:ptCount val="5"/>
                <c:pt idx="0">
                  <c:v>0.641</c:v>
                </c:pt>
                <c:pt idx="1">
                  <c:v>0.691</c:v>
                </c:pt>
                <c:pt idx="2">
                  <c:v>0.742</c:v>
                </c:pt>
                <c:pt idx="3">
                  <c:v>0.766</c:v>
                </c:pt>
                <c:pt idx="4">
                  <c:v>0.788</c:v>
                </c:pt>
              </c:numCache>
            </c:numRef>
          </c:val>
          <c:smooth val="0"/>
        </c:ser>
        <c:ser>
          <c:idx val="1"/>
          <c:order val="1"/>
          <c:tx>
            <c:strRef>
              <c:f>Sheet1!$C$1</c:f>
              <c:strCache>
                <c:ptCount val="1"/>
                <c:pt idx="0">
                  <c:v>Pa (preview)</c:v>
                </c:pt>
              </c:strCache>
            </c:strRef>
          </c:tx>
          <c:spPr>
            <a:ln w="38100">
              <a:solidFill>
                <a:srgbClr val="840032"/>
              </a:solidFill>
            </a:ln>
          </c:spPr>
          <c:marker>
            <c:symbol val="circle"/>
            <c:size val="9"/>
            <c:spPr>
              <a:solidFill>
                <a:srgbClr val="840032"/>
              </a:solidFill>
              <a:ln>
                <a:solidFill>
                  <a:srgbClr val="840032"/>
                </a:solidFill>
              </a:ln>
            </c:spPr>
          </c:marker>
          <c:cat>
            <c:strRef>
              <c:f>Sheet1!$A$2:$A$6</c:f>
              <c:strCache>
                <c:ptCount val="5"/>
                <c:pt idx="0">
                  <c:v>0.30</c:v>
                </c:pt>
                <c:pt idx="1">
                  <c:v>0.40</c:v>
                </c:pt>
                <c:pt idx="2">
                  <c:v>0.508</c:v>
                </c:pt>
                <c:pt idx="3">
                  <c:v>0.55</c:v>
                </c:pt>
                <c:pt idx="4">
                  <c:v>0.60</c:v>
                </c:pt>
              </c:strCache>
            </c:strRef>
          </c:cat>
          <c:val>
            <c:numRef>
              <c:f>Sheet1!$C$2:$C$6</c:f>
              <c:numCache>
                <c:formatCode>General</c:formatCode>
                <c:ptCount val="5"/>
                <c:pt idx="0">
                  <c:v>0.313</c:v>
                </c:pt>
                <c:pt idx="1">
                  <c:v>0.382</c:v>
                </c:pt>
                <c:pt idx="2">
                  <c:v>0.457</c:v>
                </c:pt>
                <c:pt idx="3">
                  <c:v>0.487</c:v>
                </c:pt>
                <c:pt idx="4">
                  <c:v>0.522</c:v>
                </c:pt>
              </c:numCache>
            </c:numRef>
          </c:val>
          <c:smooth val="0"/>
        </c:ser>
        <c:marker val="1"/>
        <c:smooth val="0"/>
        <c:axId val="2118791784"/>
        <c:axId val="2140495176"/>
      </c:lineChart>
      <c:catAx>
        <c:axId val="2118791784"/>
        <c:scaling>
          <c:orientation val="minMax"/>
        </c:scaling>
        <c:delete val="0"/>
        <c:axPos val="b"/>
        <c:title>
          <c:tx>
            <c:rich>
              <a:bodyPr/>
              <a:lstStyle/>
              <a:p>
                <a:r>
                  <a:rPr sz="2200" b="0">
                    <a:solidFill>
                      <a:srgbClr val="6E6E6E"/>
                    </a:solidFill>
                  </a:rPr>
                  <a:t>CG height [m]</a:t>
                </a:r>
              </a:p>
            </c:rich>
          </c:tx>
          <c:layout/>
          <c:overlay val="0"/>
        </c:title>
        <c:majorTickMark val="out"/>
        <c:minorTickMark val="none"/>
        <c:tickLblPos val="nextTo"/>
        <c:spPr>
          <a:ln>
            <a:solidFill>
              <a:srgbClr val="BFBFBF"/>
            </a:solidFill>
          </a:ln>
        </c:spPr>
        <c:txPr>
          <a:bodyPr/>
          <a:lstStyle/>
          <a:p>
            <a:pPr>
              <a:defRPr sz="2100"/>
            </a:pPr>
          </a:p>
        </c:txPr>
        <c:crossAx val="2140495176"/>
        <c:crosses val="autoZero"/>
        <c:auto val="1"/>
        <c:lblAlgn val="ctr"/>
        <c:lblOffset val="100"/>
        <c:noMultiLvlLbl val="0"/>
      </c:catAx>
      <c:valAx>
        <c:axId val="2140495176"/>
        <c:scaling>
          <c:max val="0.9"/>
          <c:min val="0.2"/>
        </c:scaling>
        <c:delete val="0"/>
        <c:axPos val="l"/>
        <c:majorGridlines>
          <c:spPr>
            <a:ln>
              <a:solidFill>
                <a:srgbClr val="E0E0E0"/>
              </a:solidFill>
            </a:ln>
          </c:spPr>
        </c:majorGridlines>
        <c:numFmt formatCode="0.0" sourceLinked="0"/>
        <c:majorTickMark val="out"/>
        <c:minorTickMark val="none"/>
        <c:tickLblPos val="nextTo"/>
        <c:spPr>
          <a:ln>
            <a:noFill/>
          </a:ln>
        </c:spPr>
        <c:txPr>
          <a:bodyPr/>
          <a:lstStyle/>
          <a:p>
            <a:pPr>
              <a:defRPr sz="2100"/>
            </a:pPr>
          </a:p>
        </c:txPr>
        <c:crossAx val="2118791784"/>
        <c:crosses val="autoZero"/>
        <c:majorUnit val="0.1"/>
      </c:valAx>
    </c:plotArea>
    <c:legend>
      <c:legendPos val="t"/>
      <c:layout/>
      <c:overlay val="0"/>
      <c:txPr>
        <a:bodyPr/>
        <a:lstStyle/>
        <a:p>
          <a:pPr>
            <a:defRPr sz="2200"/>
          </a:pPr>
        </a:p>
      </c:txPr>
    </c:legend>
    <c:plotVisOnly val="1"/>
    <c:dispBlanksAs val="gap"/>
    <c:showDLblsOverMax val="0"/>
  </c:chart>
  <c:txPr>
    <a:bodyPr/>
    <a:lstStyle/>
    <a:p>
      <a:pPr>
        <a:defRPr sz="1800">
          <a:solidFill>
            <a:srgbClr val="1A1A1A"/>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600" b="0">
                <a:solidFill>
                  <a:srgbClr val="1A1A1A"/>
                </a:solidFill>
              </a:rPr>
              <a:t>Single bump: worst-road peak LTR</a:t>
            </a:r>
          </a:p>
        </c:rich>
      </c:tx>
      <c:layout/>
      <c:overlay val="0"/>
    </c:title>
    <c:autoTitleDeleted val="0"/>
    <c:plotArea>
      <c:lineChart>
        <c:grouping val="standard"/>
        <c:varyColors val="0"/>
        <c:ser>
          <c:idx val="0"/>
          <c:order val="0"/>
          <c:tx>
            <c:strRef>
              <c:f>Sheet1!$B$1</c:f>
              <c:strCache>
                <c:ptCount val="1"/>
                <c:pt idx="0">
                  <c:v>P</c:v>
                </c:pt>
              </c:strCache>
            </c:strRef>
          </c:tx>
          <c:spPr>
            <a:ln w="38100">
              <a:solidFill>
                <a:srgbClr val="A6A6A6"/>
              </a:solidFill>
              <a:prstDash val="dash"/>
            </a:ln>
          </c:spPr>
          <c:marker>
            <c:symbol val="circle"/>
            <c:size val="9"/>
            <c:spPr>
              <a:solidFill>
                <a:srgbClr val="A6A6A6"/>
              </a:solidFill>
              <a:ln>
                <a:solidFill>
                  <a:srgbClr val="A6A6A6"/>
                </a:solidFill>
              </a:ln>
            </c:spPr>
          </c:marker>
          <c:cat>
            <c:strRef>
              <c:f>Sheet1!$A$2:$A$7</c:f>
              <c:strCache>
                <c:ptCount val="6"/>
                <c:pt idx="0">
                  <c:v>44</c:v>
                </c:pt>
                <c:pt idx="1">
                  <c:v>60</c:v>
                </c:pt>
                <c:pt idx="2">
                  <c:v>80</c:v>
                </c:pt>
                <c:pt idx="3">
                  <c:v>100</c:v>
                </c:pt>
                <c:pt idx="4">
                  <c:v>120</c:v>
                </c:pt>
                <c:pt idx="5">
                  <c:v>150</c:v>
                </c:pt>
              </c:strCache>
            </c:strRef>
          </c:cat>
          <c:val>
            <c:numRef>
              <c:f>Sheet1!$B$2:$B$7</c:f>
              <c:numCache>
                <c:formatCode>General</c:formatCode>
                <c:ptCount val="6"/>
                <c:pt idx="0">
                  <c:v>0.733</c:v>
                </c:pt>
                <c:pt idx="1">
                  <c:v>0.834</c:v>
                </c:pt>
                <c:pt idx="2">
                  <c:v>0.865</c:v>
                </c:pt>
                <c:pt idx="3">
                  <c:v>0.891</c:v>
                </c:pt>
                <c:pt idx="4">
                  <c:v>0.918</c:v>
                </c:pt>
                <c:pt idx="5">
                  <c:v>0.957</c:v>
                </c:pt>
              </c:numCache>
            </c:numRef>
          </c:val>
          <c:smooth val="0"/>
        </c:ser>
        <c:ser>
          <c:idx val="1"/>
          <c:order val="1"/>
          <c:tx>
            <c:strRef>
              <c:f>Sheet1!$C$1</c:f>
              <c:strCache>
                <c:ptCount val="1"/>
                <c:pt idx="0">
                  <c:v>Pv</c:v>
                </c:pt>
              </c:strCache>
            </c:strRef>
          </c:tx>
          <c:spPr>
            <a:ln w="38100">
              <a:solidFill>
                <a:srgbClr val="C28099"/>
              </a:solidFill>
            </a:ln>
          </c:spPr>
          <c:marker>
            <c:symbol val="circle"/>
            <c:size val="9"/>
            <c:spPr>
              <a:solidFill>
                <a:srgbClr val="C28099"/>
              </a:solidFill>
              <a:ln>
                <a:solidFill>
                  <a:srgbClr val="C28099"/>
                </a:solidFill>
              </a:ln>
            </c:spPr>
          </c:marker>
          <c:cat>
            <c:strRef>
              <c:f>Sheet1!$A$2:$A$7</c:f>
              <c:strCache>
                <c:ptCount val="6"/>
                <c:pt idx="0">
                  <c:v>44</c:v>
                </c:pt>
                <c:pt idx="1">
                  <c:v>60</c:v>
                </c:pt>
                <c:pt idx="2">
                  <c:v>80</c:v>
                </c:pt>
                <c:pt idx="3">
                  <c:v>100</c:v>
                </c:pt>
                <c:pt idx="4">
                  <c:v>120</c:v>
                </c:pt>
                <c:pt idx="5">
                  <c:v>150</c:v>
                </c:pt>
              </c:strCache>
            </c:strRef>
          </c:cat>
          <c:val>
            <c:numRef>
              <c:f>Sheet1!$C$2:$C$7</c:f>
              <c:numCache>
                <c:formatCode>General</c:formatCode>
                <c:ptCount val="6"/>
                <c:pt idx="0">
                  <c:v>0.561</c:v>
                </c:pt>
                <c:pt idx="1">
                  <c:v>0.595</c:v>
                </c:pt>
                <c:pt idx="2">
                  <c:v>0.661</c:v>
                </c:pt>
                <c:pt idx="3">
                  <c:v>0.693</c:v>
                </c:pt>
                <c:pt idx="4">
                  <c:v>0.72</c:v>
                </c:pt>
                <c:pt idx="5">
                  <c:v>0.755</c:v>
                </c:pt>
              </c:numCache>
            </c:numRef>
          </c:val>
          <c:smooth val="0"/>
        </c:ser>
        <c:ser>
          <c:idx val="2"/>
          <c:order val="2"/>
          <c:tx>
            <c:strRef>
              <c:f>Sheet1!$D$1</c:f>
              <c:strCache>
                <c:ptCount val="1"/>
                <c:pt idx="0">
                  <c:v>Pa</c:v>
                </c:pt>
              </c:strCache>
            </c:strRef>
          </c:tx>
          <c:spPr>
            <a:ln w="38100">
              <a:solidFill>
                <a:srgbClr val="840032"/>
              </a:solidFill>
            </a:ln>
          </c:spPr>
          <c:marker>
            <c:symbol val="circle"/>
            <c:size val="9"/>
            <c:spPr>
              <a:solidFill>
                <a:srgbClr val="840032"/>
              </a:solidFill>
              <a:ln>
                <a:solidFill>
                  <a:srgbClr val="840032"/>
                </a:solidFill>
              </a:ln>
            </c:spPr>
          </c:marker>
          <c:cat>
            <c:strRef>
              <c:f>Sheet1!$A$2:$A$7</c:f>
              <c:strCache>
                <c:ptCount val="6"/>
                <c:pt idx="0">
                  <c:v>44</c:v>
                </c:pt>
                <c:pt idx="1">
                  <c:v>60</c:v>
                </c:pt>
                <c:pt idx="2">
                  <c:v>80</c:v>
                </c:pt>
                <c:pt idx="3">
                  <c:v>100</c:v>
                </c:pt>
                <c:pt idx="4">
                  <c:v>120</c:v>
                </c:pt>
                <c:pt idx="5">
                  <c:v>150</c:v>
                </c:pt>
              </c:strCache>
            </c:strRef>
          </c:cat>
          <c:val>
            <c:numRef>
              <c:f>Sheet1!$D$2:$D$7</c:f>
              <c:numCache>
                <c:formatCode>General</c:formatCode>
                <c:ptCount val="6"/>
                <c:pt idx="0">
                  <c:v>0.513</c:v>
                </c:pt>
                <c:pt idx="1">
                  <c:v>0.542</c:v>
                </c:pt>
                <c:pt idx="2">
                  <c:v>0.625</c:v>
                </c:pt>
                <c:pt idx="3">
                  <c:v>0.653</c:v>
                </c:pt>
                <c:pt idx="4">
                  <c:v>0.679</c:v>
                </c:pt>
                <c:pt idx="5">
                  <c:v>0.72</c:v>
                </c:pt>
              </c:numCache>
            </c:numRef>
          </c:val>
          <c:smooth val="0"/>
        </c:ser>
        <c:marker val="1"/>
        <c:smooth val="0"/>
        <c:axId val="2118791784"/>
        <c:axId val="2140495176"/>
      </c:lineChart>
      <c:catAx>
        <c:axId val="2118791784"/>
        <c:scaling>
          <c:orientation val="minMax"/>
        </c:scaling>
        <c:delete val="0"/>
        <c:axPos val="b"/>
        <c:title>
          <c:tx>
            <c:rich>
              <a:bodyPr/>
              <a:lstStyle/>
              <a:p>
                <a:r>
                  <a:rPr sz="2200" b="0">
                    <a:solidFill>
                      <a:srgbClr val="6E6E6E"/>
                    </a:solidFill>
                  </a:rPr>
                  <a:t>bump height [mm]</a:t>
                </a:r>
              </a:p>
            </c:rich>
          </c:tx>
          <c:layout/>
          <c:overlay val="0"/>
        </c:title>
        <c:majorTickMark val="out"/>
        <c:minorTickMark val="none"/>
        <c:tickLblPos val="nextTo"/>
        <c:spPr>
          <a:ln>
            <a:solidFill>
              <a:srgbClr val="BFBFBF"/>
            </a:solidFill>
          </a:ln>
        </c:spPr>
        <c:txPr>
          <a:bodyPr/>
          <a:lstStyle/>
          <a:p>
            <a:pPr>
              <a:defRPr sz="2100"/>
            </a:pPr>
          </a:p>
        </c:txPr>
        <c:crossAx val="2140495176"/>
        <c:crosses val="autoZero"/>
        <c:auto val="1"/>
        <c:lblAlgn val="ctr"/>
        <c:lblOffset val="100"/>
        <c:noMultiLvlLbl val="0"/>
      </c:catAx>
      <c:valAx>
        <c:axId val="2140495176"/>
        <c:scaling>
          <c:max val="1.0"/>
          <c:min val="0.4"/>
        </c:scaling>
        <c:delete val="0"/>
        <c:axPos val="l"/>
        <c:majorGridlines>
          <c:spPr>
            <a:ln>
              <a:solidFill>
                <a:srgbClr val="E0E0E0"/>
              </a:solidFill>
            </a:ln>
          </c:spPr>
        </c:majorGridlines>
        <c:numFmt formatCode="0.0" sourceLinked="0"/>
        <c:majorTickMark val="out"/>
        <c:minorTickMark val="none"/>
        <c:tickLblPos val="nextTo"/>
        <c:spPr>
          <a:ln>
            <a:noFill/>
          </a:ln>
        </c:spPr>
        <c:txPr>
          <a:bodyPr/>
          <a:lstStyle/>
          <a:p>
            <a:pPr>
              <a:defRPr sz="2100"/>
            </a:pPr>
          </a:p>
        </c:txPr>
        <c:crossAx val="2118791784"/>
        <c:crosses val="autoZero"/>
        <c:majorUnit val="0.1"/>
      </c:valAx>
    </c:plotArea>
    <c:legend>
      <c:legendPos val="t"/>
      <c:layout/>
      <c:overlay val="0"/>
      <c:txPr>
        <a:bodyPr/>
        <a:lstStyle/>
        <a:p>
          <a:pPr>
            <a:defRPr sz="2200"/>
          </a:pPr>
        </a:p>
      </c:txPr>
    </c:legend>
    <c:plotVisOnly val="1"/>
    <c:dispBlanksAs val="gap"/>
    <c:showDLblsOverMax val="0"/>
  </c:chart>
  <c:txPr>
    <a:bodyPr/>
    <a:lstStyle/>
    <a:p>
      <a:pPr>
        <a:defRPr sz="1800">
          <a:solidFill>
            <a:srgbClr val="1A1A1A"/>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600" b="0">
                <a:solidFill>
                  <a:srgbClr val="1A1A1A"/>
                </a:solidFill>
              </a:rPr>
              <a:t>Twin bump: time at LTR = 1 [ms]</a:t>
            </a:r>
          </a:p>
        </c:rich>
      </c:tx>
      <c:layout/>
      <c:overlay val="0"/>
    </c:title>
    <c:autoTitleDeleted val="0"/>
    <c:plotArea>
      <c:barChart>
        <c:barDir val="col"/>
        <c:grouping val="clustered"/>
        <c:ser>
          <c:idx val="0"/>
          <c:order val="0"/>
          <c:tx>
            <c:strRef>
              <c:f>Sheet1!$B$1</c:f>
              <c:strCache>
                <c:ptCount val="1"/>
                <c:pt idx="0">
                  <c:v>P</c:v>
                </c:pt>
              </c:strCache>
            </c:strRef>
          </c:tx>
          <c:spPr>
            <a:solidFill>
              <a:srgbClr val="A6A6A6"/>
            </a:solidFill>
          </c:spPr>
          <c:invertIfNegative val="0"/>
          <c:cat>
            <c:strRef>
              <c:f>Sheet1!$A$2:$A$7</c:f>
              <c:strCache>
                <c:ptCount val="6"/>
                <c:pt idx="0">
                  <c:v>44</c:v>
                </c:pt>
                <c:pt idx="1">
                  <c:v>60</c:v>
                </c:pt>
                <c:pt idx="2">
                  <c:v>80</c:v>
                </c:pt>
                <c:pt idx="3">
                  <c:v>100</c:v>
                </c:pt>
                <c:pt idx="4">
                  <c:v>120</c:v>
                </c:pt>
                <c:pt idx="5">
                  <c:v>150</c:v>
                </c:pt>
              </c:strCache>
            </c:strRef>
          </c:cat>
          <c:val>
            <c:numRef>
              <c:f>Sheet1!$B$2:$B$7</c:f>
              <c:numCache>
                <c:formatCode>General</c:formatCode>
                <c:ptCount val="6"/>
                <c:pt idx="0">
                  <c:v>34</c:v>
                </c:pt>
                <c:pt idx="1">
                  <c:v>49</c:v>
                </c:pt>
                <c:pt idx="2">
                  <c:v>65</c:v>
                </c:pt>
                <c:pt idx="3">
                  <c:v>81</c:v>
                </c:pt>
                <c:pt idx="4">
                  <c:v>100</c:v>
                </c:pt>
                <c:pt idx="5">
                  <c:v>141</c:v>
                </c:pt>
              </c:numCache>
            </c:numRef>
          </c:val>
        </c:ser>
        <c:ser>
          <c:idx val="1"/>
          <c:order val="1"/>
          <c:tx>
            <c:strRef>
              <c:f>Sheet1!$C$1</c:f>
              <c:strCache>
                <c:ptCount val="1"/>
                <c:pt idx="0">
                  <c:v>Pv</c:v>
                </c:pt>
              </c:strCache>
            </c:strRef>
          </c:tx>
          <c:spPr>
            <a:solidFill>
              <a:srgbClr val="C28099"/>
            </a:solidFill>
          </c:spPr>
          <c:invertIfNegative val="0"/>
          <c:cat>
            <c:strRef>
              <c:f>Sheet1!$A$2:$A$7</c:f>
              <c:strCache>
                <c:ptCount val="6"/>
                <c:pt idx="0">
                  <c:v>44</c:v>
                </c:pt>
                <c:pt idx="1">
                  <c:v>60</c:v>
                </c:pt>
                <c:pt idx="2">
                  <c:v>80</c:v>
                </c:pt>
                <c:pt idx="3">
                  <c:v>100</c:v>
                </c:pt>
                <c:pt idx="4">
                  <c:v>120</c:v>
                </c:pt>
                <c:pt idx="5">
                  <c:v>150</c:v>
                </c:pt>
              </c:strCache>
            </c:strRef>
          </c:cat>
          <c:val>
            <c:numRef>
              <c:f>Sheet1!$C$2:$C$7</c:f>
              <c:numCache>
                <c:formatCode>General</c:formatCode>
                <c:ptCount val="6"/>
                <c:pt idx="0">
                  <c:v>0</c:v>
                </c:pt>
                <c:pt idx="1">
                  <c:v>1</c:v>
                </c:pt>
                <c:pt idx="2">
                  <c:v>12</c:v>
                </c:pt>
                <c:pt idx="3">
                  <c:v>21</c:v>
                </c:pt>
                <c:pt idx="4">
                  <c:v>29</c:v>
                </c:pt>
                <c:pt idx="5">
                  <c:v>42</c:v>
                </c:pt>
              </c:numCache>
            </c:numRef>
          </c:val>
        </c:ser>
        <c:ser>
          <c:idx val="2"/>
          <c:order val="2"/>
          <c:tx>
            <c:strRef>
              <c:f>Sheet1!$D$1</c:f>
              <c:strCache>
                <c:ptCount val="1"/>
                <c:pt idx="0">
                  <c:v>Pa</c:v>
                </c:pt>
              </c:strCache>
            </c:strRef>
          </c:tx>
          <c:spPr>
            <a:solidFill>
              <a:srgbClr val="840032"/>
            </a:solidFill>
          </c:spPr>
          <c:invertIfNegative val="0"/>
          <c:cat>
            <c:strRef>
              <c:f>Sheet1!$A$2:$A$7</c:f>
              <c:strCache>
                <c:ptCount val="6"/>
                <c:pt idx="0">
                  <c:v>44</c:v>
                </c:pt>
                <c:pt idx="1">
                  <c:v>60</c:v>
                </c:pt>
                <c:pt idx="2">
                  <c:v>80</c:v>
                </c:pt>
                <c:pt idx="3">
                  <c:v>100</c:v>
                </c:pt>
                <c:pt idx="4">
                  <c:v>120</c:v>
                </c:pt>
                <c:pt idx="5">
                  <c:v>150</c:v>
                </c:pt>
              </c:strCache>
            </c:strRef>
          </c:cat>
          <c:val>
            <c:numRef>
              <c:f>Sheet1!$D$2:$D$7</c:f>
              <c:numCache>
                <c:formatCode>General</c:formatCode>
                <c:ptCount val="6"/>
                <c:pt idx="0">
                  <c:v>0</c:v>
                </c:pt>
                <c:pt idx="1">
                  <c:v>1</c:v>
                </c:pt>
                <c:pt idx="2">
                  <c:v>11</c:v>
                </c:pt>
                <c:pt idx="3">
                  <c:v>19</c:v>
                </c:pt>
                <c:pt idx="4">
                  <c:v>26</c:v>
                </c:pt>
                <c:pt idx="5">
                  <c:v>38</c:v>
                </c:pt>
              </c:numCache>
            </c:numRef>
          </c:val>
        </c:ser>
        <c:dLbls>
          <c:numFmt formatCode="0" sourceLinked="0"/>
          <c:txPr>
            <a:bodyPr/>
            <a:lstStyle/>
            <a:p>
              <a:pPr>
                <a:defRPr sz="17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title>
          <c:tx>
            <c:rich>
              <a:bodyPr/>
              <a:lstStyle/>
              <a:p>
                <a:r>
                  <a:rPr sz="2200" b="0">
                    <a:solidFill>
                      <a:srgbClr val="6E6E6E"/>
                    </a:solidFill>
                  </a:rPr>
                  <a:t>bump height [mm]</a:t>
                </a:r>
              </a:p>
            </c:rich>
          </c:tx>
          <c:layout/>
          <c:overlay val="0"/>
        </c:title>
        <c:majorTickMark val="out"/>
        <c:minorTickMark val="none"/>
        <c:tickLblPos val="nextTo"/>
        <c:spPr>
          <a:ln>
            <a:solidFill>
              <a:srgbClr val="BFBFBF"/>
            </a:solidFill>
          </a:ln>
        </c:spPr>
        <c:txPr>
          <a:bodyPr/>
          <a:lstStyle/>
          <a:p>
            <a:pPr>
              <a:defRPr sz="2100"/>
            </a:pPr>
          </a:p>
        </c:txPr>
        <c:crossAx val="-2113994440"/>
        <c:crosses val="autoZero"/>
        <c:auto val="1"/>
        <c:lblAlgn val="ctr"/>
        <c:lblOffset val="100"/>
        <c:noMultiLvlLbl val="0"/>
      </c:catAx>
      <c:valAx>
        <c:axId val="-2113994440"/>
        <c:scaling>
          <c:max val="160.0"/>
          <c:min val="0.0"/>
        </c:scaling>
        <c:delete val="0"/>
        <c:axPos val="l"/>
        <c:majorGridlines>
          <c:spPr>
            <a:ln>
              <a:solidFill>
                <a:srgbClr val="E0E0E0"/>
              </a:solidFill>
            </a:ln>
          </c:spPr>
        </c:majorGridlines>
        <c:numFmt formatCode="0" sourceLinked="0"/>
        <c:majorTickMark val="out"/>
        <c:minorTickMark val="none"/>
        <c:tickLblPos val="nextTo"/>
        <c:spPr>
          <a:ln>
            <a:noFill/>
          </a:ln>
        </c:spPr>
        <c:txPr>
          <a:bodyPr/>
          <a:lstStyle/>
          <a:p>
            <a:pPr>
              <a:defRPr sz="2100"/>
            </a:pPr>
          </a:p>
        </c:txPr>
        <c:crossAx val="-2068027336"/>
        <c:crosses val="autoZero"/>
        <c:majorUnit val="40.0"/>
      </c:valAx>
    </c:plotArea>
    <c:legend>
      <c:legendPos val="t"/>
      <c:overlay val="0"/>
      <c:txPr>
        <a:bodyPr/>
        <a:lstStyle/>
        <a:p>
          <a:pPr>
            <a:defRPr sz="2200"/>
          </a:pPr>
        </a:p>
      </c:txPr>
    </c:legend>
    <c:dispBlanksAs val="gap"/>
  </c:chart>
  <c:txPr>
    <a:bodyPr/>
    <a:lstStyle/>
    <a:p>
      <a:pPr>
        <a:defRPr sz="1800">
          <a:solidFill>
            <a:srgbClr val="1A1A1A"/>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600" b="0">
                <a:solidFill>
                  <a:srgbClr val="1A1A1A"/>
                </a:solidFill>
              </a:rPr>
              <a:t>Pa peak LTR by actuator (passive: 0.698)</a:t>
            </a:r>
          </a:p>
        </c:rich>
      </c:tx>
      <c:layout/>
      <c:overlay val="0"/>
    </c:title>
    <c:autoTitleDeleted val="0"/>
    <c:plotArea>
      <c:barChart>
        <c:barDir val="bar"/>
        <c:grouping val="clustered"/>
        <c:ser>
          <c:idx val="0"/>
          <c:order val="0"/>
          <c:tx>
            <c:strRef>
              <c:f>Sheet1!$B$1</c:f>
              <c:strCache>
                <c:ptCount val="1"/>
                <c:pt idx="0">
                  <c:v>Pa peak LTR</c:v>
                </c:pt>
              </c:strCache>
            </c:strRef>
          </c:tx>
          <c:spPr>
            <a:solidFill>
              <a:srgbClr val="840032"/>
            </a:solidFill>
          </c:spPr>
          <c:invertIfNegative val="0"/>
          <c:dPt>
            <c:idx val="0"/>
            <c:spPr>
              <a:solidFill>
                <a:srgbClr val="A6A6A6"/>
              </a:solidFill>
            </c:spPr>
          </c:dPt>
          <c:dPt>
            <c:idx val="1"/>
            <c:spPr>
              <a:solidFill>
                <a:srgbClr val="A6A6A6"/>
              </a:solidFill>
            </c:spPr>
          </c:dPt>
          <c:dPt>
            <c:idx val="3"/>
            <c:spPr>
              <a:solidFill>
                <a:srgbClr val="A6A6A6"/>
              </a:solidFill>
            </c:spPr>
          </c:dPt>
          <c:dPt>
            <c:idx val="4"/>
            <c:spPr>
              <a:solidFill>
                <a:srgbClr val="A6A6A6"/>
              </a:solidFill>
            </c:spPr>
          </c:dPt>
          <c:dPt>
            <c:idx val="5"/>
            <c:spPr>
              <a:solidFill>
                <a:srgbClr val="A6A6A6"/>
              </a:solidFill>
            </c:spPr>
          </c:dPt>
          <c:cat>
            <c:strRef>
              <c:f>Sheet1!$A$2:$A$10</c:f>
              <c:strCache>
                <c:ptCount val="9"/>
                <c:pt idx="0">
                  <c:v>30 Hz, 75 kN/s</c:v>
                </c:pt>
                <c:pt idx="1">
                  <c:v>30 Hz, 150 kN/s</c:v>
                </c:pt>
                <c:pt idx="2">
                  <c:v>30 Hz, 300 kN/s</c:v>
                </c:pt>
                <c:pt idx="3">
                  <c:v>3 Hz</c:v>
                </c:pt>
                <c:pt idx="4">
                  <c:v>5 Hz</c:v>
                </c:pt>
                <c:pt idx="5">
                  <c:v>10 Hz</c:v>
                </c:pt>
                <c:pt idx="6">
                  <c:v>15 Hz</c:v>
                </c:pt>
                <c:pt idx="7">
                  <c:v>30 Hz</c:v>
                </c:pt>
                <c:pt idx="8">
                  <c:v>Ideal</c:v>
                </c:pt>
              </c:strCache>
            </c:strRef>
          </c:cat>
          <c:val>
            <c:numRef>
              <c:f>Sheet1!$B$2:$B$10</c:f>
              <c:numCache>
                <c:formatCode>General</c:formatCode>
                <c:ptCount val="9"/>
                <c:pt idx="0">
                  <c:v>0.803</c:v>
                </c:pt>
                <c:pt idx="1">
                  <c:v>0.778</c:v>
                </c:pt>
                <c:pt idx="2">
                  <c:v>0.61</c:v>
                </c:pt>
                <c:pt idx="3">
                  <c:v>0.85</c:v>
                </c:pt>
                <c:pt idx="4">
                  <c:v>0.873</c:v>
                </c:pt>
                <c:pt idx="5">
                  <c:v>0.763</c:v>
                </c:pt>
                <c:pt idx="6">
                  <c:v>0.644</c:v>
                </c:pt>
                <c:pt idx="7">
                  <c:v>0.487</c:v>
                </c:pt>
                <c:pt idx="8">
                  <c:v>0.475</c:v>
                </c:pt>
              </c:numCache>
            </c:numRef>
          </c:val>
        </c:ser>
        <c:dLbls>
          <c:numFmt formatCode="0.000" sourceLinked="0"/>
          <c:txPr>
            <a:bodyPr/>
            <a:lstStyle/>
            <a:p>
              <a:pPr>
                <a:defRPr sz="2000"/>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2200"/>
            </a:pPr>
          </a:p>
        </c:txPr>
        <c:crossAx val="-2113994440"/>
        <c:crosses val="autoZero"/>
        <c:auto val="1"/>
        <c:lblAlgn val="ctr"/>
        <c:lblOffset val="100"/>
        <c:noMultiLvlLbl val="0"/>
      </c:catAx>
      <c:valAx>
        <c:axId val="-2113994440"/>
        <c:scaling>
          <c:max val="1.0"/>
          <c:min val="0.0"/>
        </c:scaling>
        <c:delete val="0"/>
        <c:axPos val="b"/>
        <c:majorGridlines>
          <c:spPr>
            <a:ln>
              <a:solidFill>
                <a:srgbClr val="E0E0E0"/>
              </a:solidFill>
            </a:ln>
          </c:spPr>
        </c:majorGridlines>
        <c:numFmt formatCode="0.0" sourceLinked="0"/>
        <c:majorTickMark val="out"/>
        <c:minorTickMark val="none"/>
        <c:tickLblPos val="nextTo"/>
        <c:spPr>
          <a:ln>
            <a:noFill/>
          </a:ln>
        </c:spPr>
        <c:txPr>
          <a:bodyPr/>
          <a:lstStyle/>
          <a:p>
            <a:pPr>
              <a:defRPr sz="2200"/>
            </a:pPr>
          </a:p>
        </c:txPr>
        <c:crossAx val="-2068027336"/>
        <c:crosses val="autoZero"/>
        <c:majorUnit val="0.2"/>
      </c:valAx>
    </c:plotArea>
    <c:dispBlanksAs val="gap"/>
  </c:chart>
  <c:txPr>
    <a:bodyPr/>
    <a:lstStyle/>
    <a:p>
      <a:pPr>
        <a:defRPr sz="1800">
          <a:solidFill>
            <a:srgbClr val="1A1A1A"/>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Final results of VIPP. Two studies: what feedback active suspension does on a straight rough road with defects, and whether preview of the road and of the planned lateral acceleration protects the rollover margin when a defect is met in a corner.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Research question and the model in one slide. Seven-degree-of-freedom full car, tyres that cannot pull, travel and force limits. Lateral acceleration is an input from the path planner: it both creates the corner and is the signal the preview controller can use. The rollover metric is the load-transfer ratio; LTR = 1 means both inner wheels are unloaded, which is necessary for untripped rollover but is not a rollover.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Class C road at 50 km/h. Nine-second left turn: straight, 1.5 s ramp in, 3 s steady hold, ramp out. Baseline 0.5 g at 39 m radius; sweeps go from 0.3 to 0.8 g. A 44 mm, 0.5 m bump sits under the inner front wheel at the start of the hold. The rear axle runs 103 mm inside the front, so the footprint is widened and the inner rear also hits it about 0.2 s later. The twin-defect case adds a second bump one wheelbase later.</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Study 1 fixes the baseline: what a feedback active suspension can and cannot do before the corner is added.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Straight line, 50 km/h, 60 s. On Class C alone the tyres stay loaded: minimum normal force 1048 N, DLC 0.181, no lift. Adding discrete defects barely moves the comfort averages but changes road holding qualitatively: nine lift events, 0.140 s off the road, travel doubles. Averaged metrics understate the defect.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First the passive design itself: 25 spring/damper tunings, 12 on the Pareto front. No tuning reaches the 'not uncomfortable' band. The balanced point is the mechanical reference, so passive and active differ only by the actuator force. Then 90 LQR candidates were screened with a strict acceptance rule; the selected gain is alpha = 0.05, rho = 300.</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Matched passive against the selected LQR on six road scenarios, ten roads each. Gains are fractions of a percent; the actuator barely works. Wheel lift at the defects is identical to the millisecond in every scenario: state feedback can only respond after the wheel is struck. That is the limitation preview removes.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conclusions. On a maintained road the passive car keeps its tyres loaded, so the safety case is at defects. Feedback cannot stop the lift at a defect, for a structural reason: that motivates preview. Straight-line roll has no safety meaning; in a corner roll and lateral load transfer are the rollover criterion: that motivates the cornering scenario of Study 2.</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Study 2 is the core of the project: the cornering scenario, preview control, and the transient rollover metric.</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limits frame the study. Cornering alone cannot reach LTR = 1 on this car: that needs 1.61 g and the tyres saturate first. And in a steady corner the actuator forces are internal to the moment balance; only the CG shift from body lean is reachable, about 6 % of the load transfer. So the target is the transient peak at the defect.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Five controllers. Passive is the ride-frequency design. A and B are output-weighted LQR on the full state with Bryson-normalised, rollover-led weights; B adds LTR as an output. Pv adds LQ preview of 1.04 m of road ahead; Pa also previews the planned lateral acceleration, which an automated vehicle has from its planner. The feedback part of the preview controllers equals the ordinary LQR gain.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Sweep of look-ahead distance at the baseline case. The LQ cost saturates early: 97 % of the reduction by 0.28 m. Peak LTR keeps improving to about 1.04 m. Since the reported metric is the transient margin, 1.04 m is used: 75 ms at 50 km/h, about one wheel-hop period. A clairvoyant controller given the whole road does no better and uses no more force: the limit is information, not actuator authority.</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road at 0.5 g. Passive peaks at 0.742. Both feedback controllers are worse, and B leans further than passive. Road preview brings the peak to 0.500; adding the planned lateral acceleration gives 0.457 and holds the body within 0.6 degrees. The largest peak comes when the inner rear wheel meets the bump, 0.2 s after the front. Preview retracts the wheel before impact, cutting the tyre impact force from 10.0 to 6.4 kN.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Twenty-five roads, differences paired by road. Road plus planned-a_y preview lowers peak LTR on every road at both levels: by 0.236 at 0.5 g and 0.194 at 0.8 g. Road preview alone helps but leaves the body leaning 5 to 8 degrees and rides the bump stops at 0.8 g. Feedback gives no significant gain at 0.5 g and at 0.8 g reaches the trip condition on 11 of 25 roads, where passive does on one.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LTR is a ratio, so a controller could lower it by unloading the whole car. It does not: preview raises the minimum total tyre load, lowers the roll rate, and the inner wheel keeps 500 N where passive reaches zero. Keeping the body level is not the same as keeping the tyres loaded: A holds 1.3 degrees yet raises the peak. A higher LTR weight helps preview and hurts feedback. The preview gain holds over CG heights 0.30 to 0.60 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same design procedure, applied without re-tuning: build the model from the vehicle parameters, same weights, 1.04 m of road plus the planned a_y. Six vehicles, speeds, radii, defect type, length, location, height and timing. 51 of 55 cells pass. Preview lowered peak LTR on 10 of 10 roads in every cell and never reached the trip condition. The four failures have clear causes, listed on the right.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Defect height from 44 to 150 mm at 0.5 g. With a single bump, preview never reaches the trip condition at any height tested; passive first reaches it at 80 mm at 0.8 g. The twin bump unloads both inner wheels together: passive trips on every road at every height, preview avoids it at 44 mm and cuts the time at LTR = 1 by four to ten times above that.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nominal controller with a first-order lag and slew limit, not redesigned. The peak-LTR gain survives to about 15 Hz and is essentially complete by 30 Hz. At 10 Hz and below the force arrives after the 11.2 Hz wheel-hop event, so it is worse than passive. 300 kN/s slew keeps most of the gain; 150 kN/s removes it. Removing the lean is a low-frequency action and survives at every bandwidth.</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Why feedback degrades the margin: it leans further than passive, a lower effective roll stiffness. Its model has no lateral-acceleration term, so it cannot tell the steady corner load from a road disturbance. This is a hypothesis; closed-loop modal analysis is future work. The two horizon criteria differ by four times, so pick the horizon against the reported metric. The vertical model cannot represent tripped rollover, such as an outer tyre striking a pothole edge.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What the results rest on, and the work that follows from each limitation. All next steps will be run in CarSim for higher-fidelity, visual simulation.</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An active suspension cannot change the load transfer of a steady corner; it can change the transient at a defect met in that corner. Feedback LQR does not: it leans further and at high lateral acceleration reaches the trip condition where passive does not. Previewing the road and the planned lateral acceleration does, on every road and in every cell tested, with an actuator of about 15 to 30 Hz and 300 kN/s.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84003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6ACCAF-C98E-67F4-6829-023556FF5E6E}"/>
              </a:ext>
            </a:extLst>
          </p:cNvPr>
          <p:cNvPicPr>
            <a:picLocks noChangeAspect="1"/>
          </p:cNvPicPr>
          <p:nvPr userDrawn="1"/>
        </p:nvPicPr>
        <p:blipFill>
          <a:blip r:embed="rId2"/>
          <a:stretch>
            <a:fillRect/>
          </a:stretch>
        </p:blipFill>
        <p:spPr>
          <a:xfrm>
            <a:off x="11554691" y="11721380"/>
            <a:ext cx="1274618" cy="1274618"/>
          </a:xfrm>
          <a:prstGeom prst="rect">
            <a:avLst/>
          </a:prstGeom>
        </p:spPr>
      </p:pic>
      <p:pic>
        <p:nvPicPr>
          <p:cNvPr id="4" name="Picture 3" descr="Text&#10;&#10;Description automatically generated with medium confidence">
            <a:extLst>
              <a:ext uri="{FF2B5EF4-FFF2-40B4-BE49-F238E27FC236}">
                <a16:creationId xmlns:a16="http://schemas.microsoft.com/office/drawing/2014/main" id="{86C46CD7-42A2-3CB1-7BD5-5F11ADB1F6A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97336" y="5597563"/>
            <a:ext cx="10789328" cy="2520871"/>
          </a:xfrm>
          <a:prstGeom prst="rect">
            <a:avLst/>
          </a:prstGeom>
        </p:spPr>
      </p:pic>
    </p:spTree>
    <p:extLst>
      <p:ext uri="{BB962C8B-B14F-4D97-AF65-F5344CB8AC3E}">
        <p14:creationId xmlns:p14="http://schemas.microsoft.com/office/powerpoint/2010/main" val="3586192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84003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199945A-F0AD-07A8-152D-2BC4156C9F10}"/>
              </a:ext>
            </a:extLst>
          </p:cNvPr>
          <p:cNvPicPr>
            <a:picLocks noChangeAspect="1"/>
          </p:cNvPicPr>
          <p:nvPr userDrawn="1"/>
        </p:nvPicPr>
        <p:blipFill>
          <a:blip r:embed="rId2"/>
          <a:stretch>
            <a:fillRect/>
          </a:stretch>
        </p:blipFill>
        <p:spPr>
          <a:xfrm>
            <a:off x="1765521" y="11721380"/>
            <a:ext cx="1274618" cy="1274618"/>
          </a:xfrm>
          <a:prstGeom prst="rect">
            <a:avLst/>
          </a:prstGeom>
        </p:spPr>
      </p:pic>
      <p:pic>
        <p:nvPicPr>
          <p:cNvPr id="4" name="Picture 3" descr="Text&#10;&#10;Description automatically generated with medium confidence">
            <a:extLst>
              <a:ext uri="{FF2B5EF4-FFF2-40B4-BE49-F238E27FC236}">
                <a16:creationId xmlns:a16="http://schemas.microsoft.com/office/drawing/2014/main" id="{F1B2BDB8-3F43-1D5F-55E5-63B3AC8026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765521" y="2674800"/>
            <a:ext cx="9025760" cy="2108822"/>
          </a:xfrm>
          <a:prstGeom prst="rect">
            <a:avLst/>
          </a:prstGeom>
        </p:spPr>
      </p:pic>
    </p:spTree>
    <p:extLst>
      <p:ext uri="{BB962C8B-B14F-4D97-AF65-F5344CB8AC3E}">
        <p14:creationId xmlns:p14="http://schemas.microsoft.com/office/powerpoint/2010/main" val="1747353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a:extLst>
              <a:ext uri="{FF2B5EF4-FFF2-40B4-BE49-F238E27FC236}">
                <a16:creationId xmlns:a16="http://schemas.microsoft.com/office/drawing/2014/main" id="{E3F6B370-E509-99B3-A9DE-B6C0FBE7F948}"/>
              </a:ext>
            </a:extLst>
          </p:cNvPr>
          <p:cNvSpPr/>
          <p:nvPr userDrawn="1"/>
        </p:nvSpPr>
        <p:spPr>
          <a:xfrm>
            <a:off x="207431" y="2276745"/>
            <a:ext cx="23969138" cy="11205691"/>
          </a:xfrm>
          <a:prstGeom prst="rect">
            <a:avLst/>
          </a:prstGeom>
          <a:solidFill>
            <a:srgbClr val="000000">
              <a:alpha val="2849"/>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9" name="The American university of beirut: Challenges and opportunities.">
            <a:extLst>
              <a:ext uri="{FF2B5EF4-FFF2-40B4-BE49-F238E27FC236}">
                <a16:creationId xmlns:a16="http://schemas.microsoft.com/office/drawing/2014/main" id="{606DF6D3-5B79-C8AD-9141-7B61139E4DE9}"/>
              </a:ext>
            </a:extLst>
          </p:cNvPr>
          <p:cNvSpPr txBox="1"/>
          <p:nvPr userDrawn="1"/>
        </p:nvSpPr>
        <p:spPr>
          <a:xfrm>
            <a:off x="18662617" y="1229325"/>
            <a:ext cx="4063613" cy="28725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spAutoFit/>
          </a:bodyPr>
          <a:lstStyle/>
          <a:p>
            <a:pPr algn="r">
              <a:defRPr sz="2300">
                <a:solidFill>
                  <a:srgbClr val="000000"/>
                </a:solidFill>
                <a:latin typeface="Proxima Nova Rg"/>
                <a:ea typeface="Proxima Nova Rg"/>
                <a:cs typeface="Proxima Nova Rg"/>
                <a:sym typeface="Proxima Nova"/>
              </a:defRPr>
            </a:pPr>
            <a:r>
              <a:rPr lang="en-LB" sz="1200" b="1" i="0">
                <a:solidFill>
                  <a:srgbClr val="929292"/>
                </a:solidFill>
                <a:effectLst/>
                <a:latin typeface="Helvetica" pitchFamily="2" charset="0"/>
              </a:rPr>
              <a:t>ⓒ</a:t>
            </a:r>
            <a:r>
              <a:rPr lang="en-LB" sz="1200" b="0" i="0">
                <a:solidFill>
                  <a:srgbClr val="929292"/>
                </a:solidFill>
                <a:effectLst/>
                <a:latin typeface="Helvetica" pitchFamily="2" charset="0"/>
              </a:rPr>
              <a:t> </a:t>
            </a:r>
            <a:r>
              <a:rPr lang="en-US" sz="1200">
                <a:solidFill>
                  <a:srgbClr val="929292"/>
                </a:solidFill>
                <a:latin typeface="Helvetica" pitchFamily="2" charset="0"/>
              </a:rPr>
              <a:t>All rights reserved. American University of Beirut 2022.</a:t>
            </a:r>
            <a:endParaRPr sz="1200">
              <a:solidFill>
                <a:srgbClr val="929292"/>
              </a:solidFill>
              <a:latin typeface="Helvetica" pitchFamily="2" charset="0"/>
              <a:ea typeface="Proxima Nova Lt"/>
              <a:cs typeface="Proxima Nova Lt"/>
              <a:sym typeface="Proxima Nova Semibold"/>
            </a:endParaRPr>
          </a:p>
        </p:txBody>
      </p:sp>
      <p:sp>
        <p:nvSpPr>
          <p:cNvPr id="10" name="Line">
            <a:extLst>
              <a:ext uri="{FF2B5EF4-FFF2-40B4-BE49-F238E27FC236}">
                <a16:creationId xmlns:a16="http://schemas.microsoft.com/office/drawing/2014/main" id="{F84AC768-427F-8E14-15D3-89F6E9B223DC}"/>
              </a:ext>
            </a:extLst>
          </p:cNvPr>
          <p:cNvSpPr/>
          <p:nvPr userDrawn="1"/>
        </p:nvSpPr>
        <p:spPr>
          <a:xfrm>
            <a:off x="15959857" y="1134058"/>
            <a:ext cx="6753311" cy="0"/>
          </a:xfrm>
          <a:prstGeom prst="line">
            <a:avLst/>
          </a:prstGeom>
          <a:ln w="25400">
            <a:solidFill>
              <a:schemeClr val="tx1">
                <a:lumMod val="60000"/>
                <a:lumOff val="40000"/>
              </a:schemeClr>
            </a:solidFill>
            <a:miter lim="400000"/>
          </a:ln>
        </p:spPr>
        <p:txBody>
          <a:bodyPr lIns="50800" tIns="50800" rIns="50800" bIns="50800" anchor="ctr"/>
          <a:lstStyle/>
          <a:p>
            <a:endParaRPr/>
          </a:p>
        </p:txBody>
      </p:sp>
      <p:pic>
        <p:nvPicPr>
          <p:cNvPr id="11" name="Picture 10">
            <a:extLst>
              <a:ext uri="{FF2B5EF4-FFF2-40B4-BE49-F238E27FC236}">
                <a16:creationId xmlns:a16="http://schemas.microsoft.com/office/drawing/2014/main" id="{B4C1D1F4-C3B9-D6B0-C2FB-C2861092CDB3}"/>
              </a:ext>
            </a:extLst>
          </p:cNvPr>
          <p:cNvPicPr>
            <a:picLocks noChangeAspect="1"/>
          </p:cNvPicPr>
          <p:nvPr userDrawn="1"/>
        </p:nvPicPr>
        <p:blipFill>
          <a:blip r:embed="rId2"/>
          <a:stretch>
            <a:fillRect/>
          </a:stretch>
        </p:blipFill>
        <p:spPr>
          <a:xfrm>
            <a:off x="22927353" y="668732"/>
            <a:ext cx="904687" cy="904687"/>
          </a:xfrm>
          <a:prstGeom prst="rect">
            <a:avLst/>
          </a:prstGeom>
        </p:spPr>
      </p:pic>
      <p:pic>
        <p:nvPicPr>
          <p:cNvPr id="5" name="Picture 4" descr="Logo&#10;&#10;Description automatically generated with medium confidence">
            <a:extLst>
              <a:ext uri="{FF2B5EF4-FFF2-40B4-BE49-F238E27FC236}">
                <a16:creationId xmlns:a16="http://schemas.microsoft.com/office/drawing/2014/main" id="{00FA1F4F-AC51-5494-1AAC-4D300293F7D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1960" y="523015"/>
            <a:ext cx="5254098" cy="1227593"/>
          </a:xfrm>
          <a:prstGeom prst="rect">
            <a:avLst/>
          </a:prstGeom>
        </p:spPr>
      </p:pic>
    </p:spTree>
    <p:extLst>
      <p:ext uri="{BB962C8B-B14F-4D97-AF65-F5344CB8AC3E}">
        <p14:creationId xmlns:p14="http://schemas.microsoft.com/office/powerpoint/2010/main" val="1793160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a:extLst>
              <a:ext uri="{FF2B5EF4-FFF2-40B4-BE49-F238E27FC236}">
                <a16:creationId xmlns:a16="http://schemas.microsoft.com/office/drawing/2014/main" id="{E3F6B370-E509-99B3-A9DE-B6C0FBE7F948}"/>
              </a:ext>
            </a:extLst>
          </p:cNvPr>
          <p:cNvSpPr/>
          <p:nvPr userDrawn="1"/>
        </p:nvSpPr>
        <p:spPr>
          <a:xfrm>
            <a:off x="207431" y="2276745"/>
            <a:ext cx="23969138" cy="11205691"/>
          </a:xfrm>
          <a:prstGeom prst="rect">
            <a:avLst/>
          </a:prstGeom>
          <a:solidFill>
            <a:srgbClr val="000000">
              <a:alpha val="2849"/>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9" name="The American university of beirut: Challenges and opportunities.">
            <a:extLst>
              <a:ext uri="{FF2B5EF4-FFF2-40B4-BE49-F238E27FC236}">
                <a16:creationId xmlns:a16="http://schemas.microsoft.com/office/drawing/2014/main" id="{606DF6D3-5B79-C8AD-9141-7B61139E4DE9}"/>
              </a:ext>
            </a:extLst>
          </p:cNvPr>
          <p:cNvSpPr txBox="1"/>
          <p:nvPr userDrawn="1"/>
        </p:nvSpPr>
        <p:spPr>
          <a:xfrm>
            <a:off x="18662617" y="1229325"/>
            <a:ext cx="4063613" cy="2872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spAutoFit/>
          </a:bodyPr>
          <a:lstStyle/>
          <a:p>
            <a:pPr algn="r">
              <a:defRPr sz="2300">
                <a:solidFill>
                  <a:srgbClr val="000000"/>
                </a:solidFill>
                <a:latin typeface="Proxima Nova Rg"/>
                <a:ea typeface="Proxima Nova Rg"/>
                <a:cs typeface="Proxima Nova Rg"/>
                <a:sym typeface="Proxima Nova"/>
              </a:defRPr>
            </a:pPr>
            <a:r>
              <a:rPr lang="en-LB" sz="1200" b="1" i="0">
                <a:solidFill>
                  <a:srgbClr val="929292"/>
                </a:solidFill>
                <a:effectLst/>
                <a:latin typeface="Helvetica" pitchFamily="2" charset="0"/>
              </a:rPr>
              <a:t>ⓒ</a:t>
            </a:r>
            <a:r>
              <a:rPr lang="en-LB" sz="1200" b="0" i="0">
                <a:solidFill>
                  <a:srgbClr val="929292"/>
                </a:solidFill>
                <a:effectLst/>
                <a:latin typeface="Helvetica" pitchFamily="2" charset="0"/>
              </a:rPr>
              <a:t> </a:t>
            </a:r>
            <a:r>
              <a:rPr lang="en-US" sz="1200">
                <a:solidFill>
                  <a:srgbClr val="929292"/>
                </a:solidFill>
                <a:latin typeface="Helvetica" pitchFamily="2" charset="0"/>
              </a:rPr>
              <a:t>All rights reserved. American University of Beirut 2022.</a:t>
            </a:r>
            <a:endParaRPr sz="1200">
              <a:solidFill>
                <a:srgbClr val="929292"/>
              </a:solidFill>
              <a:latin typeface="Helvetica" pitchFamily="2" charset="0"/>
              <a:ea typeface="Proxima Nova Lt"/>
              <a:cs typeface="Proxima Nova Lt"/>
              <a:sym typeface="Proxima Nova Semibold"/>
            </a:endParaRPr>
          </a:p>
        </p:txBody>
      </p:sp>
      <p:sp>
        <p:nvSpPr>
          <p:cNvPr id="10" name="Line">
            <a:extLst>
              <a:ext uri="{FF2B5EF4-FFF2-40B4-BE49-F238E27FC236}">
                <a16:creationId xmlns:a16="http://schemas.microsoft.com/office/drawing/2014/main" id="{F84AC768-427F-8E14-15D3-89F6E9B223DC}"/>
              </a:ext>
            </a:extLst>
          </p:cNvPr>
          <p:cNvSpPr/>
          <p:nvPr userDrawn="1"/>
        </p:nvSpPr>
        <p:spPr>
          <a:xfrm>
            <a:off x="15959857" y="1134058"/>
            <a:ext cx="6753311" cy="0"/>
          </a:xfrm>
          <a:prstGeom prst="line">
            <a:avLst/>
          </a:prstGeom>
          <a:ln w="25400">
            <a:solidFill>
              <a:schemeClr val="tx1">
                <a:lumMod val="60000"/>
                <a:lumOff val="40000"/>
              </a:schemeClr>
            </a:solidFill>
            <a:miter lim="400000"/>
          </a:ln>
        </p:spPr>
        <p:txBody>
          <a:bodyPr lIns="50800" tIns="50800" rIns="50800" bIns="50800" anchor="ctr"/>
          <a:lstStyle/>
          <a:p>
            <a:endParaRPr/>
          </a:p>
        </p:txBody>
      </p:sp>
      <p:pic>
        <p:nvPicPr>
          <p:cNvPr id="11" name="Picture 10">
            <a:extLst>
              <a:ext uri="{FF2B5EF4-FFF2-40B4-BE49-F238E27FC236}">
                <a16:creationId xmlns:a16="http://schemas.microsoft.com/office/drawing/2014/main" id="{B4C1D1F4-C3B9-D6B0-C2FB-C2861092CDB3}"/>
              </a:ext>
            </a:extLst>
          </p:cNvPr>
          <p:cNvPicPr>
            <a:picLocks noChangeAspect="1"/>
          </p:cNvPicPr>
          <p:nvPr userDrawn="1"/>
        </p:nvPicPr>
        <p:blipFill>
          <a:blip r:embed="rId2"/>
          <a:stretch>
            <a:fillRect/>
          </a:stretch>
        </p:blipFill>
        <p:spPr>
          <a:xfrm>
            <a:off x="22927353" y="668732"/>
            <a:ext cx="904687" cy="904687"/>
          </a:xfrm>
          <a:prstGeom prst="rect">
            <a:avLst/>
          </a:prstGeom>
        </p:spPr>
      </p:pic>
      <p:sp>
        <p:nvSpPr>
          <p:cNvPr id="3" name="Picture Placeholder 2">
            <a:extLst>
              <a:ext uri="{FF2B5EF4-FFF2-40B4-BE49-F238E27FC236}">
                <a16:creationId xmlns:a16="http://schemas.microsoft.com/office/drawing/2014/main" id="{DE20B93D-CB4C-CE1D-F366-E9F7F350A965}"/>
              </a:ext>
            </a:extLst>
          </p:cNvPr>
          <p:cNvSpPr>
            <a:spLocks noGrp="1"/>
          </p:cNvSpPr>
          <p:nvPr>
            <p:ph type="pic" sz="quarter" idx="10"/>
          </p:nvPr>
        </p:nvSpPr>
        <p:spPr>
          <a:xfrm>
            <a:off x="207431" y="2276115"/>
            <a:ext cx="10563410" cy="11206052"/>
          </a:xfrm>
          <a:prstGeom prst="rect">
            <a:avLst/>
          </a:prstGeom>
        </p:spPr>
        <p:txBody>
          <a:bodyPr/>
          <a:lstStyle/>
          <a:p>
            <a:endParaRPr lang="en-LB"/>
          </a:p>
        </p:txBody>
      </p:sp>
      <p:pic>
        <p:nvPicPr>
          <p:cNvPr id="4" name="Picture 3" descr="Logo&#10;&#10;Description automatically generated with medium confidence">
            <a:extLst>
              <a:ext uri="{FF2B5EF4-FFF2-40B4-BE49-F238E27FC236}">
                <a16:creationId xmlns:a16="http://schemas.microsoft.com/office/drawing/2014/main" id="{78EB062A-1B27-5E1F-5D78-62623D50463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1960" y="523015"/>
            <a:ext cx="5254098" cy="1227593"/>
          </a:xfrm>
          <a:prstGeom prst="rect">
            <a:avLst/>
          </a:prstGeom>
        </p:spPr>
      </p:pic>
    </p:spTree>
    <p:extLst>
      <p:ext uri="{BB962C8B-B14F-4D97-AF65-F5344CB8AC3E}">
        <p14:creationId xmlns:p14="http://schemas.microsoft.com/office/powerpoint/2010/main" val="2586072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a:extLst>
              <a:ext uri="{FF2B5EF4-FFF2-40B4-BE49-F238E27FC236}">
                <a16:creationId xmlns:a16="http://schemas.microsoft.com/office/drawing/2014/main" id="{E3F6B370-E509-99B3-A9DE-B6C0FBE7F948}"/>
              </a:ext>
            </a:extLst>
          </p:cNvPr>
          <p:cNvSpPr/>
          <p:nvPr userDrawn="1"/>
        </p:nvSpPr>
        <p:spPr>
          <a:xfrm>
            <a:off x="207431" y="2276745"/>
            <a:ext cx="23969138" cy="11205691"/>
          </a:xfrm>
          <a:prstGeom prst="rect">
            <a:avLst/>
          </a:prstGeom>
          <a:solidFill>
            <a:srgbClr val="000000">
              <a:alpha val="2849"/>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9" name="The American university of beirut: Challenges and opportunities.">
            <a:extLst>
              <a:ext uri="{FF2B5EF4-FFF2-40B4-BE49-F238E27FC236}">
                <a16:creationId xmlns:a16="http://schemas.microsoft.com/office/drawing/2014/main" id="{606DF6D3-5B79-C8AD-9141-7B61139E4DE9}"/>
              </a:ext>
            </a:extLst>
          </p:cNvPr>
          <p:cNvSpPr txBox="1"/>
          <p:nvPr userDrawn="1"/>
        </p:nvSpPr>
        <p:spPr>
          <a:xfrm>
            <a:off x="18662617" y="1229325"/>
            <a:ext cx="4063613" cy="28725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spAutoFit/>
          </a:bodyPr>
          <a:lstStyle/>
          <a:p>
            <a:pPr algn="r">
              <a:defRPr sz="2300">
                <a:solidFill>
                  <a:srgbClr val="000000"/>
                </a:solidFill>
                <a:latin typeface="Proxima Nova Rg"/>
                <a:ea typeface="Proxima Nova Rg"/>
                <a:cs typeface="Proxima Nova Rg"/>
                <a:sym typeface="Proxima Nova"/>
              </a:defRPr>
            </a:pPr>
            <a:r>
              <a:rPr lang="en-LB" sz="1200" b="1" i="0">
                <a:solidFill>
                  <a:srgbClr val="929292"/>
                </a:solidFill>
                <a:effectLst/>
                <a:latin typeface="Helvetica" pitchFamily="2" charset="0"/>
              </a:rPr>
              <a:t>ⓒ</a:t>
            </a:r>
            <a:r>
              <a:rPr lang="en-LB" sz="1200" b="0" i="0">
                <a:solidFill>
                  <a:srgbClr val="929292"/>
                </a:solidFill>
                <a:effectLst/>
                <a:latin typeface="Helvetica" pitchFamily="2" charset="0"/>
              </a:rPr>
              <a:t> </a:t>
            </a:r>
            <a:r>
              <a:rPr lang="en-US" sz="1200">
                <a:solidFill>
                  <a:srgbClr val="929292"/>
                </a:solidFill>
                <a:latin typeface="Helvetica" pitchFamily="2" charset="0"/>
              </a:rPr>
              <a:t>All rights reserved. American University of Beirut 2022.</a:t>
            </a:r>
            <a:endParaRPr sz="1200">
              <a:solidFill>
                <a:srgbClr val="929292"/>
              </a:solidFill>
              <a:latin typeface="Helvetica" pitchFamily="2" charset="0"/>
              <a:ea typeface="Proxima Nova Lt"/>
              <a:cs typeface="Proxima Nova Lt"/>
              <a:sym typeface="Proxima Nova Semibold"/>
            </a:endParaRPr>
          </a:p>
        </p:txBody>
      </p:sp>
      <p:sp>
        <p:nvSpPr>
          <p:cNvPr id="10" name="Line">
            <a:extLst>
              <a:ext uri="{FF2B5EF4-FFF2-40B4-BE49-F238E27FC236}">
                <a16:creationId xmlns:a16="http://schemas.microsoft.com/office/drawing/2014/main" id="{F84AC768-427F-8E14-15D3-89F6E9B223DC}"/>
              </a:ext>
            </a:extLst>
          </p:cNvPr>
          <p:cNvSpPr/>
          <p:nvPr userDrawn="1"/>
        </p:nvSpPr>
        <p:spPr>
          <a:xfrm>
            <a:off x="15959857" y="1134058"/>
            <a:ext cx="6753311" cy="0"/>
          </a:xfrm>
          <a:prstGeom prst="line">
            <a:avLst/>
          </a:prstGeom>
          <a:ln w="25400">
            <a:solidFill>
              <a:schemeClr val="tx1">
                <a:lumMod val="60000"/>
                <a:lumOff val="40000"/>
              </a:schemeClr>
            </a:solidFill>
            <a:miter lim="400000"/>
          </a:ln>
        </p:spPr>
        <p:txBody>
          <a:bodyPr lIns="50800" tIns="50800" rIns="50800" bIns="50800" anchor="ctr"/>
          <a:lstStyle/>
          <a:p>
            <a:endParaRPr/>
          </a:p>
        </p:txBody>
      </p:sp>
      <p:pic>
        <p:nvPicPr>
          <p:cNvPr id="11" name="Picture 10">
            <a:extLst>
              <a:ext uri="{FF2B5EF4-FFF2-40B4-BE49-F238E27FC236}">
                <a16:creationId xmlns:a16="http://schemas.microsoft.com/office/drawing/2014/main" id="{B4C1D1F4-C3B9-D6B0-C2FB-C2861092CDB3}"/>
              </a:ext>
            </a:extLst>
          </p:cNvPr>
          <p:cNvPicPr>
            <a:picLocks noChangeAspect="1"/>
          </p:cNvPicPr>
          <p:nvPr userDrawn="1"/>
        </p:nvPicPr>
        <p:blipFill>
          <a:blip r:embed="rId2"/>
          <a:stretch>
            <a:fillRect/>
          </a:stretch>
        </p:blipFill>
        <p:spPr>
          <a:xfrm>
            <a:off x="22927353" y="668732"/>
            <a:ext cx="904687" cy="904687"/>
          </a:xfrm>
          <a:prstGeom prst="rect">
            <a:avLst/>
          </a:prstGeom>
        </p:spPr>
      </p:pic>
      <p:sp>
        <p:nvSpPr>
          <p:cNvPr id="3" name="Picture Placeholder 2">
            <a:extLst>
              <a:ext uri="{FF2B5EF4-FFF2-40B4-BE49-F238E27FC236}">
                <a16:creationId xmlns:a16="http://schemas.microsoft.com/office/drawing/2014/main" id="{DE20B93D-CB4C-CE1D-F366-E9F7F350A965}"/>
              </a:ext>
            </a:extLst>
          </p:cNvPr>
          <p:cNvSpPr>
            <a:spLocks noGrp="1"/>
          </p:cNvSpPr>
          <p:nvPr>
            <p:ph type="pic" sz="quarter" idx="10"/>
          </p:nvPr>
        </p:nvSpPr>
        <p:spPr>
          <a:xfrm>
            <a:off x="207431" y="2276115"/>
            <a:ext cx="9375102" cy="11206052"/>
          </a:xfrm>
          <a:prstGeom prst="rect">
            <a:avLst/>
          </a:prstGeom>
        </p:spPr>
        <p:txBody>
          <a:bodyPr/>
          <a:lstStyle/>
          <a:p>
            <a:endParaRPr lang="en-LB"/>
          </a:p>
        </p:txBody>
      </p:sp>
      <p:pic>
        <p:nvPicPr>
          <p:cNvPr id="4" name="Picture 3" descr="Logo&#10;&#10;Description automatically generated with medium confidence">
            <a:extLst>
              <a:ext uri="{FF2B5EF4-FFF2-40B4-BE49-F238E27FC236}">
                <a16:creationId xmlns:a16="http://schemas.microsoft.com/office/drawing/2014/main" id="{6E011875-6518-47E1-1654-F823DF0C11A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1960" y="523015"/>
            <a:ext cx="5254098" cy="1227593"/>
          </a:xfrm>
          <a:prstGeom prst="rect">
            <a:avLst/>
          </a:prstGeom>
        </p:spPr>
      </p:pic>
    </p:spTree>
    <p:extLst>
      <p:ext uri="{BB962C8B-B14F-4D97-AF65-F5344CB8AC3E}">
        <p14:creationId xmlns:p14="http://schemas.microsoft.com/office/powerpoint/2010/main" val="3868579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a:extLst>
              <a:ext uri="{FF2B5EF4-FFF2-40B4-BE49-F238E27FC236}">
                <a16:creationId xmlns:a16="http://schemas.microsoft.com/office/drawing/2014/main" id="{E3F6B370-E509-99B3-A9DE-B6C0FBE7F948}"/>
              </a:ext>
            </a:extLst>
          </p:cNvPr>
          <p:cNvSpPr/>
          <p:nvPr userDrawn="1"/>
        </p:nvSpPr>
        <p:spPr>
          <a:xfrm>
            <a:off x="207431" y="2276745"/>
            <a:ext cx="23969138" cy="11205691"/>
          </a:xfrm>
          <a:prstGeom prst="rect">
            <a:avLst/>
          </a:prstGeom>
          <a:solidFill>
            <a:srgbClr val="000000">
              <a:alpha val="2849"/>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9" name="The American university of beirut: Challenges and opportunities.">
            <a:extLst>
              <a:ext uri="{FF2B5EF4-FFF2-40B4-BE49-F238E27FC236}">
                <a16:creationId xmlns:a16="http://schemas.microsoft.com/office/drawing/2014/main" id="{606DF6D3-5B79-C8AD-9141-7B61139E4DE9}"/>
              </a:ext>
            </a:extLst>
          </p:cNvPr>
          <p:cNvSpPr txBox="1"/>
          <p:nvPr userDrawn="1"/>
        </p:nvSpPr>
        <p:spPr>
          <a:xfrm>
            <a:off x="18662617" y="1229325"/>
            <a:ext cx="4063613" cy="2872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spAutoFit/>
          </a:bodyPr>
          <a:lstStyle/>
          <a:p>
            <a:pPr algn="r">
              <a:defRPr sz="2300">
                <a:solidFill>
                  <a:srgbClr val="000000"/>
                </a:solidFill>
                <a:latin typeface="Proxima Nova Rg"/>
                <a:ea typeface="Proxima Nova Rg"/>
                <a:cs typeface="Proxima Nova Rg"/>
                <a:sym typeface="Proxima Nova"/>
              </a:defRPr>
            </a:pPr>
            <a:r>
              <a:rPr lang="en-LB" sz="1200" b="1" i="0">
                <a:solidFill>
                  <a:srgbClr val="929292"/>
                </a:solidFill>
                <a:effectLst/>
                <a:latin typeface="Helvetica" pitchFamily="2" charset="0"/>
              </a:rPr>
              <a:t>ⓒ</a:t>
            </a:r>
            <a:r>
              <a:rPr lang="en-LB" sz="1200" b="0" i="0">
                <a:solidFill>
                  <a:srgbClr val="929292"/>
                </a:solidFill>
                <a:effectLst/>
                <a:latin typeface="Helvetica" pitchFamily="2" charset="0"/>
              </a:rPr>
              <a:t> </a:t>
            </a:r>
            <a:r>
              <a:rPr lang="en-US" sz="1200">
                <a:solidFill>
                  <a:srgbClr val="929292"/>
                </a:solidFill>
                <a:latin typeface="Helvetica" pitchFamily="2" charset="0"/>
              </a:rPr>
              <a:t>All rights reserved. American University of Beirut 2022.</a:t>
            </a:r>
            <a:endParaRPr sz="1200">
              <a:solidFill>
                <a:srgbClr val="929292"/>
              </a:solidFill>
              <a:latin typeface="Helvetica" pitchFamily="2" charset="0"/>
              <a:ea typeface="Proxima Nova Lt"/>
              <a:cs typeface="Proxima Nova Lt"/>
              <a:sym typeface="Proxima Nova Semibold"/>
            </a:endParaRPr>
          </a:p>
        </p:txBody>
      </p:sp>
      <p:sp>
        <p:nvSpPr>
          <p:cNvPr id="10" name="Line">
            <a:extLst>
              <a:ext uri="{FF2B5EF4-FFF2-40B4-BE49-F238E27FC236}">
                <a16:creationId xmlns:a16="http://schemas.microsoft.com/office/drawing/2014/main" id="{F84AC768-427F-8E14-15D3-89F6E9B223DC}"/>
              </a:ext>
            </a:extLst>
          </p:cNvPr>
          <p:cNvSpPr/>
          <p:nvPr userDrawn="1"/>
        </p:nvSpPr>
        <p:spPr>
          <a:xfrm>
            <a:off x="15959857" y="1134058"/>
            <a:ext cx="6753311" cy="0"/>
          </a:xfrm>
          <a:prstGeom prst="line">
            <a:avLst/>
          </a:prstGeom>
          <a:ln w="25400">
            <a:solidFill>
              <a:schemeClr val="tx1">
                <a:lumMod val="60000"/>
                <a:lumOff val="40000"/>
              </a:schemeClr>
            </a:solidFill>
            <a:miter lim="400000"/>
          </a:ln>
        </p:spPr>
        <p:txBody>
          <a:bodyPr lIns="50800" tIns="50800" rIns="50800" bIns="50800" anchor="ctr"/>
          <a:lstStyle/>
          <a:p>
            <a:endParaRPr/>
          </a:p>
        </p:txBody>
      </p:sp>
      <p:pic>
        <p:nvPicPr>
          <p:cNvPr id="11" name="Picture 10">
            <a:extLst>
              <a:ext uri="{FF2B5EF4-FFF2-40B4-BE49-F238E27FC236}">
                <a16:creationId xmlns:a16="http://schemas.microsoft.com/office/drawing/2014/main" id="{B4C1D1F4-C3B9-D6B0-C2FB-C2861092CDB3}"/>
              </a:ext>
            </a:extLst>
          </p:cNvPr>
          <p:cNvPicPr>
            <a:picLocks noChangeAspect="1"/>
          </p:cNvPicPr>
          <p:nvPr userDrawn="1"/>
        </p:nvPicPr>
        <p:blipFill>
          <a:blip r:embed="rId2"/>
          <a:stretch>
            <a:fillRect/>
          </a:stretch>
        </p:blipFill>
        <p:spPr>
          <a:xfrm>
            <a:off x="22927353" y="668732"/>
            <a:ext cx="904687" cy="904687"/>
          </a:xfrm>
          <a:prstGeom prst="rect">
            <a:avLst/>
          </a:prstGeom>
        </p:spPr>
      </p:pic>
      <p:sp>
        <p:nvSpPr>
          <p:cNvPr id="3" name="Picture Placeholder 2">
            <a:extLst>
              <a:ext uri="{FF2B5EF4-FFF2-40B4-BE49-F238E27FC236}">
                <a16:creationId xmlns:a16="http://schemas.microsoft.com/office/drawing/2014/main" id="{DE20B93D-CB4C-CE1D-F366-E9F7F350A965}"/>
              </a:ext>
            </a:extLst>
          </p:cNvPr>
          <p:cNvSpPr>
            <a:spLocks noGrp="1"/>
          </p:cNvSpPr>
          <p:nvPr>
            <p:ph type="pic" sz="quarter" idx="10"/>
          </p:nvPr>
        </p:nvSpPr>
        <p:spPr>
          <a:xfrm>
            <a:off x="207431" y="4892955"/>
            <a:ext cx="7805784" cy="8589212"/>
          </a:xfrm>
          <a:prstGeom prst="rect">
            <a:avLst/>
          </a:prstGeom>
        </p:spPr>
        <p:txBody>
          <a:bodyPr/>
          <a:lstStyle/>
          <a:p>
            <a:endParaRPr lang="en-LB"/>
          </a:p>
        </p:txBody>
      </p:sp>
      <p:sp>
        <p:nvSpPr>
          <p:cNvPr id="15" name="Picture Placeholder 2">
            <a:extLst>
              <a:ext uri="{FF2B5EF4-FFF2-40B4-BE49-F238E27FC236}">
                <a16:creationId xmlns:a16="http://schemas.microsoft.com/office/drawing/2014/main" id="{426B1798-01CB-081E-96A7-8B9C1E5F5906}"/>
              </a:ext>
            </a:extLst>
          </p:cNvPr>
          <p:cNvSpPr>
            <a:spLocks noGrp="1"/>
          </p:cNvSpPr>
          <p:nvPr>
            <p:ph type="pic" sz="quarter" idx="12"/>
          </p:nvPr>
        </p:nvSpPr>
        <p:spPr>
          <a:xfrm>
            <a:off x="16354050" y="4892955"/>
            <a:ext cx="7805784" cy="8589212"/>
          </a:xfrm>
          <a:prstGeom prst="rect">
            <a:avLst/>
          </a:prstGeom>
        </p:spPr>
        <p:txBody>
          <a:bodyPr/>
          <a:lstStyle/>
          <a:p>
            <a:endParaRPr lang="en-LB"/>
          </a:p>
        </p:txBody>
      </p:sp>
      <p:sp>
        <p:nvSpPr>
          <p:cNvPr id="16" name="Picture Placeholder 2">
            <a:extLst>
              <a:ext uri="{FF2B5EF4-FFF2-40B4-BE49-F238E27FC236}">
                <a16:creationId xmlns:a16="http://schemas.microsoft.com/office/drawing/2014/main" id="{09211843-4DD8-9218-E56B-E1CAE1F09754}"/>
              </a:ext>
            </a:extLst>
          </p:cNvPr>
          <p:cNvSpPr>
            <a:spLocks noGrp="1"/>
          </p:cNvSpPr>
          <p:nvPr>
            <p:ph type="pic" sz="quarter" idx="11"/>
          </p:nvPr>
        </p:nvSpPr>
        <p:spPr>
          <a:xfrm>
            <a:off x="8280740" y="4892955"/>
            <a:ext cx="7805784" cy="8589212"/>
          </a:xfrm>
          <a:prstGeom prst="rect">
            <a:avLst/>
          </a:prstGeom>
        </p:spPr>
        <p:txBody>
          <a:bodyPr/>
          <a:lstStyle/>
          <a:p>
            <a:endParaRPr lang="en-LB"/>
          </a:p>
        </p:txBody>
      </p:sp>
      <p:pic>
        <p:nvPicPr>
          <p:cNvPr id="4" name="Picture 3" descr="Logo&#10;&#10;Description automatically generated with medium confidence">
            <a:extLst>
              <a:ext uri="{FF2B5EF4-FFF2-40B4-BE49-F238E27FC236}">
                <a16:creationId xmlns:a16="http://schemas.microsoft.com/office/drawing/2014/main" id="{D88BF2DC-110B-3BE6-71EB-67453E71C4E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1960" y="523015"/>
            <a:ext cx="5254098" cy="1227593"/>
          </a:xfrm>
          <a:prstGeom prst="rect">
            <a:avLst/>
          </a:prstGeom>
        </p:spPr>
      </p:pic>
    </p:spTree>
    <p:extLst>
      <p:ext uri="{BB962C8B-B14F-4D97-AF65-F5344CB8AC3E}">
        <p14:creationId xmlns:p14="http://schemas.microsoft.com/office/powerpoint/2010/main" val="2985543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84003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605BC3-51DC-67D4-4676-85727F5BD0DB}"/>
              </a:ext>
            </a:extLst>
          </p:cNvPr>
          <p:cNvPicPr>
            <a:picLocks noChangeAspect="1"/>
          </p:cNvPicPr>
          <p:nvPr userDrawn="1"/>
        </p:nvPicPr>
        <p:blipFill>
          <a:blip r:embed="rId2"/>
          <a:stretch>
            <a:fillRect/>
          </a:stretch>
        </p:blipFill>
        <p:spPr>
          <a:xfrm>
            <a:off x="11554691" y="11721380"/>
            <a:ext cx="1274618" cy="1274618"/>
          </a:xfrm>
          <a:prstGeom prst="rect">
            <a:avLst/>
          </a:prstGeom>
        </p:spPr>
      </p:pic>
      <p:pic>
        <p:nvPicPr>
          <p:cNvPr id="3" name="Picture 2" descr="Text&#10;&#10;Description automatically generated with medium confidence">
            <a:extLst>
              <a:ext uri="{FF2B5EF4-FFF2-40B4-BE49-F238E27FC236}">
                <a16:creationId xmlns:a16="http://schemas.microsoft.com/office/drawing/2014/main" id="{FDED6135-9C74-5B1A-1F31-3F12935D5F1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89778" y="9729997"/>
            <a:ext cx="6404444" cy="1496365"/>
          </a:xfrm>
          <a:prstGeom prst="rect">
            <a:avLst/>
          </a:prstGeom>
        </p:spPr>
      </p:pic>
    </p:spTree>
    <p:extLst>
      <p:ext uri="{BB962C8B-B14F-4D97-AF65-F5344CB8AC3E}">
        <p14:creationId xmlns:p14="http://schemas.microsoft.com/office/powerpoint/2010/main" val="9201806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2681416"/>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53" r:id="rId3"/>
    <p:sldLayoutId id="2147483654" r:id="rId4"/>
    <p:sldLayoutId id="2147483655" r:id="rId5"/>
    <p:sldLayoutId id="2147483656" r:id="rId6"/>
    <p:sldLayoutId id="214748365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hart" Target="../charts/chart5.xml"/><Relationship Id="rId4" Type="http://schemas.openxmlformats.org/officeDocument/2006/relationships/chart" Target="../charts/char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chart" Target="../charts/chart7.xml"/><Relationship Id="rId4" Type="http://schemas.openxmlformats.org/officeDocument/2006/relationships/chart" Target="../charts/char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chart" Target="../charts/char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64792" y="5577840"/>
            <a:ext cx="20574000" cy="822960"/>
          </a:xfrm>
          <a:prstGeom prst="rect">
            <a:avLst/>
          </a:prstGeom>
          <a:noFill/>
        </p:spPr>
        <p:txBody>
          <a:bodyPr wrap="square" anchor="t" lIns="45720" rIns="45720" tIns="27432" bIns="27432">
            <a:noAutofit/>
          </a:bodyPr>
          <a:lstStyle/>
          <a:p>
            <a:pPr algn="l"/>
            <a:r>
              <a:rPr sz="4500" b="1" i="0">
                <a:solidFill>
                  <a:srgbClr val="FFFFFF"/>
                </a:solidFill>
                <a:latin typeface="Helvetica"/>
              </a:rPr>
              <a:t>VIPP FINAL PRESENTATION</a:t>
            </a:r>
          </a:p>
        </p:txBody>
      </p:sp>
      <p:sp>
        <p:nvSpPr>
          <p:cNvPr id="3" name="TextBox 2"/>
          <p:cNvSpPr txBox="1"/>
          <p:nvPr/>
        </p:nvSpPr>
        <p:spPr>
          <a:xfrm>
            <a:off x="1764792" y="6583680"/>
            <a:ext cx="20574000" cy="1188720"/>
          </a:xfrm>
          <a:prstGeom prst="rect">
            <a:avLst/>
          </a:prstGeom>
          <a:noFill/>
        </p:spPr>
        <p:txBody>
          <a:bodyPr wrap="square" anchor="t" lIns="45720" rIns="45720" tIns="27432" bIns="27432">
            <a:noAutofit/>
          </a:bodyPr>
          <a:lstStyle/>
          <a:p>
            <a:pPr algn="l"/>
            <a:r>
              <a:rPr sz="3400" b="0" i="0">
                <a:solidFill>
                  <a:srgbClr val="FFFFFF"/>
                </a:solidFill>
                <a:latin typeface="Helvetica"/>
              </a:rPr>
              <a:t>Preview-based active suspension for rollover margin in cornering over road defects</a:t>
            </a:r>
          </a:p>
        </p:txBody>
      </p:sp>
      <p:sp>
        <p:nvSpPr>
          <p:cNvPr id="4" name="TextBox 3"/>
          <p:cNvSpPr txBox="1"/>
          <p:nvPr/>
        </p:nvSpPr>
        <p:spPr>
          <a:xfrm>
            <a:off x="1764792" y="8275320"/>
            <a:ext cx="9144000" cy="640080"/>
          </a:xfrm>
          <a:prstGeom prst="rect">
            <a:avLst/>
          </a:prstGeom>
          <a:noFill/>
        </p:spPr>
        <p:txBody>
          <a:bodyPr wrap="square" anchor="t" lIns="45720" rIns="45720" tIns="27432" bIns="27432">
            <a:noAutofit/>
          </a:bodyPr>
          <a:lstStyle/>
          <a:p>
            <a:pPr algn="l"/>
            <a:r>
              <a:rPr sz="3000" b="0" i="0">
                <a:solidFill>
                  <a:srgbClr val="FFFFFF"/>
                </a:solidFill>
                <a:latin typeface="Helvetica"/>
              </a:rPr>
              <a:t>September 2026</a:t>
            </a:r>
          </a:p>
        </p:txBody>
      </p:sp>
      <p:cxnSp>
        <p:nvCxnSpPr>
          <p:cNvPr id="5" name="Connector 4"/>
          <p:cNvCxnSpPr/>
          <p:nvPr/>
        </p:nvCxnSpPr>
        <p:spPr>
          <a:xfrm>
            <a:off x="1783080" y="9098280"/>
            <a:ext cx="10835640"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764792" y="9281160"/>
            <a:ext cx="13716000" cy="1280160"/>
          </a:xfrm>
          <a:prstGeom prst="rect">
            <a:avLst/>
          </a:prstGeom>
          <a:noFill/>
        </p:spPr>
        <p:txBody>
          <a:bodyPr wrap="square" anchor="t" lIns="45720" rIns="45720" tIns="27432" bIns="27432">
            <a:noAutofit/>
          </a:bodyPr>
          <a:lstStyle/>
          <a:p>
            <a:pPr algn="l"/>
            <a:r>
              <a:rPr sz="2700" b="0" i="0">
                <a:solidFill>
                  <a:srgbClr val="FFFFFF"/>
                </a:solidFill>
                <a:latin typeface="Helvetica"/>
              </a:rPr>
              <a:t>American University of Beirut</a:t>
            </a:r>
          </a:p>
          <a:p>
            <a:pPr algn="l"/>
            <a:r>
              <a:rPr sz="2700" b="0" i="0">
                <a:solidFill>
                  <a:srgbClr val="FFFFFF"/>
                </a:solidFill>
                <a:latin typeface="Helvetica"/>
              </a:rPr>
              <a:t>Moataz Maarouf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OUTLINE</a:t>
            </a:r>
          </a:p>
        </p:txBody>
      </p:sp>
      <p:sp>
        <p:nvSpPr>
          <p:cNvPr id="4" name="TextBox 3"/>
          <p:cNvSpPr txBox="1"/>
          <p:nvPr/>
        </p:nvSpPr>
        <p:spPr>
          <a:xfrm>
            <a:off x="2560320" y="3931920"/>
            <a:ext cx="1645920" cy="822960"/>
          </a:xfrm>
          <a:prstGeom prst="rect">
            <a:avLst/>
          </a:prstGeom>
          <a:noFill/>
        </p:spPr>
        <p:txBody>
          <a:bodyPr wrap="square" anchor="t" lIns="45720" rIns="45720" tIns="27432" bIns="27432">
            <a:noAutofit/>
          </a:bodyPr>
          <a:lstStyle/>
          <a:p>
            <a:pPr algn="l"/>
            <a:r>
              <a:rPr sz="4400" b="1" i="0">
                <a:solidFill>
                  <a:srgbClr val="840032"/>
                </a:solidFill>
                <a:latin typeface="Helvetica"/>
              </a:rPr>
              <a:t>01.</a:t>
            </a:r>
          </a:p>
        </p:txBody>
      </p:sp>
      <p:sp>
        <p:nvSpPr>
          <p:cNvPr id="5" name="TextBox 4"/>
          <p:cNvSpPr txBox="1"/>
          <p:nvPr/>
        </p:nvSpPr>
        <p:spPr>
          <a:xfrm>
            <a:off x="2560320" y="4800600"/>
            <a:ext cx="9601200" cy="1280160"/>
          </a:xfrm>
          <a:prstGeom prst="rect">
            <a:avLst/>
          </a:prstGeom>
          <a:noFill/>
        </p:spPr>
        <p:txBody>
          <a:bodyPr wrap="square" anchor="t" lIns="45720" rIns="45720" tIns="27432" bIns="27432">
            <a:noAutofit/>
          </a:bodyPr>
          <a:lstStyle/>
          <a:p>
            <a:pPr algn="l"/>
            <a:r>
              <a:rPr sz="3600" b="0" i="0">
                <a:solidFill>
                  <a:srgbClr val="1A1A1A"/>
                </a:solidFill>
                <a:latin typeface="Helvetica"/>
              </a:rPr>
              <a:t>Setup: model, metric, scenario</a:t>
            </a:r>
          </a:p>
        </p:txBody>
      </p:sp>
      <p:sp>
        <p:nvSpPr>
          <p:cNvPr id="6" name="TextBox 5"/>
          <p:cNvSpPr txBox="1"/>
          <p:nvPr/>
        </p:nvSpPr>
        <p:spPr>
          <a:xfrm>
            <a:off x="2560320" y="6583679"/>
            <a:ext cx="1645920" cy="822960"/>
          </a:xfrm>
          <a:prstGeom prst="rect">
            <a:avLst/>
          </a:prstGeom>
          <a:noFill/>
        </p:spPr>
        <p:txBody>
          <a:bodyPr wrap="square" anchor="t" lIns="45720" rIns="45720" tIns="27432" bIns="27432">
            <a:noAutofit/>
          </a:bodyPr>
          <a:lstStyle/>
          <a:p>
            <a:pPr algn="l"/>
            <a:r>
              <a:rPr sz="4400" b="1" i="0">
                <a:solidFill>
                  <a:srgbClr val="840032"/>
                </a:solidFill>
                <a:latin typeface="Helvetica"/>
              </a:rPr>
              <a:t>02.</a:t>
            </a:r>
          </a:p>
        </p:txBody>
      </p:sp>
      <p:sp>
        <p:nvSpPr>
          <p:cNvPr id="7" name="TextBox 6"/>
          <p:cNvSpPr txBox="1"/>
          <p:nvPr/>
        </p:nvSpPr>
        <p:spPr>
          <a:xfrm>
            <a:off x="2560320" y="7452359"/>
            <a:ext cx="9601200" cy="1280160"/>
          </a:xfrm>
          <a:prstGeom prst="rect">
            <a:avLst/>
          </a:prstGeom>
          <a:noFill/>
        </p:spPr>
        <p:txBody>
          <a:bodyPr wrap="square" anchor="t" lIns="45720" rIns="45720" tIns="27432" bIns="27432">
            <a:noAutofit/>
          </a:bodyPr>
          <a:lstStyle/>
          <a:p>
            <a:pPr algn="l"/>
            <a:r>
              <a:rPr sz="3600" b="0" i="0">
                <a:solidFill>
                  <a:srgbClr val="1A1A1A"/>
                </a:solidFill>
                <a:latin typeface="Helvetica"/>
              </a:rPr>
              <a:t>Study 1: feedback in straight-line driving</a:t>
            </a:r>
          </a:p>
        </p:txBody>
      </p:sp>
      <p:sp>
        <p:nvSpPr>
          <p:cNvPr id="8" name="TextBox 7"/>
          <p:cNvSpPr txBox="1"/>
          <p:nvPr/>
        </p:nvSpPr>
        <p:spPr>
          <a:xfrm>
            <a:off x="2560320" y="9235440"/>
            <a:ext cx="1645920" cy="822960"/>
          </a:xfrm>
          <a:prstGeom prst="rect">
            <a:avLst/>
          </a:prstGeom>
          <a:noFill/>
        </p:spPr>
        <p:txBody>
          <a:bodyPr wrap="square" anchor="t" lIns="45720" rIns="45720" tIns="27432" bIns="27432">
            <a:noAutofit/>
          </a:bodyPr>
          <a:lstStyle/>
          <a:p>
            <a:pPr algn="l"/>
            <a:r>
              <a:rPr sz="4400" b="1" i="0">
                <a:solidFill>
                  <a:srgbClr val="840032"/>
                </a:solidFill>
                <a:latin typeface="Helvetica"/>
              </a:rPr>
              <a:t>03.</a:t>
            </a:r>
          </a:p>
        </p:txBody>
      </p:sp>
      <p:sp>
        <p:nvSpPr>
          <p:cNvPr id="9" name="TextBox 8"/>
          <p:cNvSpPr txBox="1"/>
          <p:nvPr/>
        </p:nvSpPr>
        <p:spPr>
          <a:xfrm>
            <a:off x="2560320" y="10104119"/>
            <a:ext cx="9601200" cy="1280160"/>
          </a:xfrm>
          <a:prstGeom prst="rect">
            <a:avLst/>
          </a:prstGeom>
          <a:noFill/>
        </p:spPr>
        <p:txBody>
          <a:bodyPr wrap="square" anchor="t" lIns="45720" rIns="45720" tIns="27432" bIns="27432">
            <a:noAutofit/>
          </a:bodyPr>
          <a:lstStyle/>
          <a:p>
            <a:pPr algn="l"/>
            <a:r>
              <a:rPr sz="3600" b="0" i="0">
                <a:solidFill>
                  <a:srgbClr val="1A1A1A"/>
                </a:solidFill>
                <a:latin typeface="Helvetica"/>
              </a:rPr>
              <a:t>Study 2: cornering limits and controllers</a:t>
            </a:r>
          </a:p>
        </p:txBody>
      </p:sp>
      <p:sp>
        <p:nvSpPr>
          <p:cNvPr id="10" name="TextBox 9"/>
          <p:cNvSpPr txBox="1"/>
          <p:nvPr/>
        </p:nvSpPr>
        <p:spPr>
          <a:xfrm>
            <a:off x="13990320" y="3931920"/>
            <a:ext cx="1645920" cy="822960"/>
          </a:xfrm>
          <a:prstGeom prst="rect">
            <a:avLst/>
          </a:prstGeom>
          <a:noFill/>
        </p:spPr>
        <p:txBody>
          <a:bodyPr wrap="square" anchor="t" lIns="45720" rIns="45720" tIns="27432" bIns="27432">
            <a:noAutofit/>
          </a:bodyPr>
          <a:lstStyle/>
          <a:p>
            <a:pPr algn="l"/>
            <a:r>
              <a:rPr sz="4400" b="1" i="0">
                <a:solidFill>
                  <a:srgbClr val="840032"/>
                </a:solidFill>
                <a:latin typeface="Helvetica"/>
              </a:rPr>
              <a:t>04.</a:t>
            </a:r>
          </a:p>
        </p:txBody>
      </p:sp>
      <p:sp>
        <p:nvSpPr>
          <p:cNvPr id="11" name="TextBox 10"/>
          <p:cNvSpPr txBox="1"/>
          <p:nvPr/>
        </p:nvSpPr>
        <p:spPr>
          <a:xfrm>
            <a:off x="13990320" y="4800600"/>
            <a:ext cx="9601200" cy="1280160"/>
          </a:xfrm>
          <a:prstGeom prst="rect">
            <a:avLst/>
          </a:prstGeom>
          <a:noFill/>
        </p:spPr>
        <p:txBody>
          <a:bodyPr wrap="square" anchor="t" lIns="45720" rIns="45720" tIns="27432" bIns="27432">
            <a:noAutofit/>
          </a:bodyPr>
          <a:lstStyle/>
          <a:p>
            <a:pPr algn="l"/>
            <a:r>
              <a:rPr sz="3600" b="0" i="0">
                <a:solidFill>
                  <a:srgbClr val="1A1A1A"/>
                </a:solidFill>
                <a:latin typeface="Helvetica"/>
              </a:rPr>
              <a:t>Study 2: baseline and statistical results</a:t>
            </a:r>
          </a:p>
        </p:txBody>
      </p:sp>
      <p:sp>
        <p:nvSpPr>
          <p:cNvPr id="12" name="TextBox 11"/>
          <p:cNvSpPr txBox="1"/>
          <p:nvPr/>
        </p:nvSpPr>
        <p:spPr>
          <a:xfrm>
            <a:off x="13990320" y="6583679"/>
            <a:ext cx="1645920" cy="822960"/>
          </a:xfrm>
          <a:prstGeom prst="rect">
            <a:avLst/>
          </a:prstGeom>
          <a:noFill/>
        </p:spPr>
        <p:txBody>
          <a:bodyPr wrap="square" anchor="t" lIns="45720" rIns="45720" tIns="27432" bIns="27432">
            <a:noAutofit/>
          </a:bodyPr>
          <a:lstStyle/>
          <a:p>
            <a:pPr algn="l"/>
            <a:r>
              <a:rPr sz="4400" b="1" i="0">
                <a:solidFill>
                  <a:srgbClr val="840032"/>
                </a:solidFill>
                <a:latin typeface="Helvetica"/>
              </a:rPr>
              <a:t>05.</a:t>
            </a:r>
          </a:p>
        </p:txBody>
      </p:sp>
      <p:sp>
        <p:nvSpPr>
          <p:cNvPr id="13" name="TextBox 12"/>
          <p:cNvSpPr txBox="1"/>
          <p:nvPr/>
        </p:nvSpPr>
        <p:spPr>
          <a:xfrm>
            <a:off x="13990320" y="7452359"/>
            <a:ext cx="9601200" cy="1280160"/>
          </a:xfrm>
          <a:prstGeom prst="rect">
            <a:avLst/>
          </a:prstGeom>
          <a:noFill/>
        </p:spPr>
        <p:txBody>
          <a:bodyPr wrap="square" anchor="t" lIns="45720" rIns="45720" tIns="27432" bIns="27432">
            <a:noAutofit/>
          </a:bodyPr>
          <a:lstStyle/>
          <a:p>
            <a:pPr algn="l"/>
            <a:r>
              <a:rPr sz="3600" b="0" i="0">
                <a:solidFill>
                  <a:srgbClr val="1A1A1A"/>
                </a:solidFill>
                <a:latin typeface="Helvetica"/>
              </a:rPr>
              <a:t>Study 2: generalisation, severity, actuator</a:t>
            </a:r>
          </a:p>
        </p:txBody>
      </p:sp>
      <p:sp>
        <p:nvSpPr>
          <p:cNvPr id="14" name="TextBox 13"/>
          <p:cNvSpPr txBox="1"/>
          <p:nvPr/>
        </p:nvSpPr>
        <p:spPr>
          <a:xfrm>
            <a:off x="13990320" y="9235440"/>
            <a:ext cx="1645920" cy="822960"/>
          </a:xfrm>
          <a:prstGeom prst="rect">
            <a:avLst/>
          </a:prstGeom>
          <a:noFill/>
        </p:spPr>
        <p:txBody>
          <a:bodyPr wrap="square" anchor="t" lIns="45720" rIns="45720" tIns="27432" bIns="27432">
            <a:noAutofit/>
          </a:bodyPr>
          <a:lstStyle/>
          <a:p>
            <a:pPr algn="l"/>
            <a:r>
              <a:rPr sz="4400" b="1" i="0">
                <a:solidFill>
                  <a:srgbClr val="840032"/>
                </a:solidFill>
                <a:latin typeface="Helvetica"/>
              </a:rPr>
              <a:t>06.</a:t>
            </a:r>
          </a:p>
        </p:txBody>
      </p:sp>
      <p:sp>
        <p:nvSpPr>
          <p:cNvPr id="15" name="TextBox 14"/>
          <p:cNvSpPr txBox="1"/>
          <p:nvPr/>
        </p:nvSpPr>
        <p:spPr>
          <a:xfrm>
            <a:off x="13990320" y="10104119"/>
            <a:ext cx="9601200" cy="1280160"/>
          </a:xfrm>
          <a:prstGeom prst="rect">
            <a:avLst/>
          </a:prstGeom>
          <a:noFill/>
        </p:spPr>
        <p:txBody>
          <a:bodyPr wrap="square" anchor="t" lIns="45720" rIns="45720" tIns="27432" bIns="27432">
            <a:noAutofit/>
          </a:bodyPr>
          <a:lstStyle/>
          <a:p>
            <a:pPr algn="l"/>
            <a:r>
              <a:rPr sz="3600" b="0" i="0">
                <a:solidFill>
                  <a:srgbClr val="1A1A1A"/>
                </a:solidFill>
                <a:latin typeface="Helvetica"/>
              </a:rPr>
              <a:t>Discussion and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1. SETUP: MODEL AND METRIC</a:t>
            </a:r>
          </a:p>
        </p:txBody>
      </p:sp>
      <p:pic>
        <p:nvPicPr>
          <p:cNvPr id="4" name="Picture 3" descr="image.png"/>
          <p:cNvPicPr>
            <a:picLocks noChangeAspect="1"/>
          </p:cNvPicPr>
          <p:nvPr/>
        </p:nvPicPr>
        <p:blipFill>
          <a:blip r:embed="rId3"/>
          <a:stretch>
            <a:fillRect/>
          </a:stretch>
        </p:blipFill>
        <p:spPr>
          <a:xfrm>
            <a:off x="777240" y="3566160"/>
            <a:ext cx="10058400" cy="8046720"/>
          </a:xfrm>
          <a:prstGeom prst="rect">
            <a:avLst/>
          </a:prstGeom>
        </p:spPr>
      </p:pic>
      <p:sp>
        <p:nvSpPr>
          <p:cNvPr id="5" name="TextBox 4"/>
          <p:cNvSpPr txBox="1"/>
          <p:nvPr/>
        </p:nvSpPr>
        <p:spPr>
          <a:xfrm>
            <a:off x="12070080" y="3566160"/>
            <a:ext cx="11521440" cy="640080"/>
          </a:xfrm>
          <a:prstGeom prst="rect">
            <a:avLst/>
          </a:prstGeom>
          <a:noFill/>
        </p:spPr>
        <p:txBody>
          <a:bodyPr wrap="square" anchor="t" lIns="45720" rIns="45720" tIns="27432" bIns="27432">
            <a:noAutofit/>
          </a:bodyPr>
          <a:lstStyle/>
          <a:p>
            <a:pPr algn="l"/>
            <a:r>
              <a:rPr sz="3200" b="1" i="0">
                <a:solidFill>
                  <a:srgbClr val="840032"/>
                </a:solidFill>
                <a:latin typeface="Helvetica"/>
              </a:rPr>
              <a:t>Research question</a:t>
            </a:r>
          </a:p>
        </p:txBody>
      </p:sp>
      <p:sp>
        <p:nvSpPr>
          <p:cNvPr id="6" name="TextBox 5"/>
          <p:cNvSpPr txBox="1"/>
          <p:nvPr/>
        </p:nvSpPr>
        <p:spPr>
          <a:xfrm>
            <a:off x="12070080" y="4206240"/>
            <a:ext cx="11521440" cy="1280160"/>
          </a:xfrm>
          <a:prstGeom prst="rect">
            <a:avLst/>
          </a:prstGeom>
          <a:noFill/>
        </p:spPr>
        <p:txBody>
          <a:bodyPr wrap="square" anchor="t" lIns="45720" rIns="45720" tIns="27432" bIns="27432">
            <a:noAutofit/>
          </a:bodyPr>
          <a:lstStyle/>
          <a:p>
            <a:pPr algn="l"/>
            <a:r>
              <a:rPr sz="3100" b="0" i="0">
                <a:solidFill>
                  <a:srgbClr val="1A1A1A"/>
                </a:solidFill>
                <a:latin typeface="Calibri"/>
              </a:rPr>
              <a:t>How much rollover margin can active suspension protect when a defect has to be ridden over in a corner?</a:t>
            </a:r>
          </a:p>
        </p:txBody>
      </p:sp>
      <p:sp>
        <p:nvSpPr>
          <p:cNvPr id="7" name="TextBox 6"/>
          <p:cNvSpPr txBox="1"/>
          <p:nvPr/>
        </p:nvSpPr>
        <p:spPr>
          <a:xfrm>
            <a:off x="12070080" y="5486400"/>
            <a:ext cx="11521440" cy="3474720"/>
          </a:xfrm>
          <a:prstGeom prst="rect">
            <a:avLst/>
          </a:prstGeom>
          <a:noFill/>
        </p:spPr>
        <p:txBody>
          <a:bodyPr wrap="square" lIns="45720" rIns="45720" tIns="27432" bIns="27432">
            <a:noAutofit/>
          </a:bodyPr>
          <a:lstStyle/>
          <a:p>
            <a:pPr algn="l" marL="411480" indent="-411480">
              <a:spcAft>
                <a:spcPts val="800"/>
              </a:spcAft>
              <a:buFont typeface="Arial"/>
              <a:buChar char="•"/>
            </a:pPr>
            <a:r>
              <a:rPr sz="2900" b="1" i="0">
                <a:solidFill>
                  <a:srgbClr val="1A1A1A"/>
                </a:solidFill>
                <a:latin typeface="Calibri"/>
              </a:rPr>
              <a:t>7-DOF full car: </a:t>
            </a:r>
            <a:r>
              <a:rPr sz="2900" b="0" i="0">
                <a:solidFill>
                  <a:srgbClr val="1A1A1A"/>
                </a:solidFill>
                <a:latin typeface="Calibri"/>
              </a:rPr>
              <a:t>heave, pitch, roll and four wheel hops; 14 states, 1500 kg sprung mass</a:t>
            </a:r>
          </a:p>
          <a:p>
            <a:pPr algn="l" marL="411480" indent="-411480">
              <a:spcAft>
                <a:spcPts val="800"/>
              </a:spcAft>
              <a:buFont typeface="Arial"/>
              <a:buChar char="•"/>
            </a:pPr>
            <a:r>
              <a:rPr sz="2900" b="1" i="0">
                <a:solidFill>
                  <a:srgbClr val="1A1A1A"/>
                </a:solidFill>
                <a:latin typeface="Calibri"/>
              </a:rPr>
              <a:t>Tyres cannot pull: </a:t>
            </a:r>
            <a:r>
              <a:rPr sz="2900" b="0" i="0">
                <a:solidFill>
                  <a:srgbClr val="1A1A1A"/>
                </a:solidFill>
                <a:latin typeface="Calibri"/>
              </a:rPr>
              <a:t>F</a:t>
            </a:r>
            <a:r>
              <a:rPr sz="2900" b="0" i="0" baseline="-25000">
                <a:solidFill>
                  <a:srgbClr val="1A1A1A"/>
                </a:solidFill>
                <a:latin typeface="Calibri"/>
              </a:rPr>
              <a:t>n</a:t>
            </a:r>
            <a:r>
              <a:rPr sz="2900" b="0" i="0">
                <a:solidFill>
                  <a:srgbClr val="1A1A1A"/>
                </a:solidFill>
                <a:latin typeface="Calibri"/>
              </a:rPr>
              <a:t> = 0 means the wheel has left the road</a:t>
            </a:r>
          </a:p>
          <a:p>
            <a:pPr algn="l" marL="411480" indent="-411480">
              <a:spcAft>
                <a:spcPts val="800"/>
              </a:spcAft>
              <a:buFont typeface="Arial"/>
              <a:buChar char="•"/>
            </a:pPr>
            <a:r>
              <a:rPr sz="2900" b="1" i="0">
                <a:solidFill>
                  <a:srgbClr val="1A1A1A"/>
                </a:solidFill>
                <a:latin typeface="Calibri"/>
              </a:rPr>
              <a:t>Limits: </a:t>
            </a:r>
            <a:r>
              <a:rPr sz="2900" b="0" i="0">
                <a:solidFill>
                  <a:srgbClr val="1A1A1A"/>
                </a:solidFill>
                <a:latin typeface="Calibri"/>
              </a:rPr>
              <a:t>±100 mm travel with bump stops, ±15 kN actuator force</a:t>
            </a:r>
          </a:p>
          <a:p>
            <a:pPr algn="l" marL="411480" indent="-411480">
              <a:spcAft>
                <a:spcPts val="800"/>
              </a:spcAft>
              <a:buFont typeface="Arial"/>
              <a:buChar char="•"/>
            </a:pPr>
            <a:r>
              <a:rPr sz="2900" b="1" i="0">
                <a:solidFill>
                  <a:srgbClr val="1A1A1A"/>
                </a:solidFill>
                <a:latin typeface="Calibri"/>
              </a:rPr>
              <a:t>Corner input: </a:t>
            </a:r>
            <a:r>
              <a:rPr sz="2900" b="0" i="0">
                <a:solidFill>
                  <a:srgbClr val="1A1A1A"/>
                </a:solidFill>
                <a:latin typeface="Calibri"/>
              </a:rPr>
              <a:t>a</a:t>
            </a:r>
            <a:r>
              <a:rPr sz="2900" b="0" i="0" baseline="-25000">
                <a:solidFill>
                  <a:srgbClr val="1A1A1A"/>
                </a:solidFill>
                <a:latin typeface="Calibri"/>
              </a:rPr>
              <a:t>y</a:t>
            </a:r>
            <a:r>
              <a:rPr sz="2900" b="0" i="0">
                <a:solidFill>
                  <a:srgbClr val="1A1A1A"/>
                </a:solidFill>
                <a:latin typeface="Calibri"/>
              </a:rPr>
              <a:t> from the path planner; no lateral or yaw dynamics</a:t>
            </a:r>
          </a:p>
        </p:txBody>
      </p:sp>
      <p:sp>
        <p:nvSpPr>
          <p:cNvPr id="8" name="TextBox 7"/>
          <p:cNvSpPr txBox="1"/>
          <p:nvPr/>
        </p:nvSpPr>
        <p:spPr>
          <a:xfrm>
            <a:off x="12070080" y="9098280"/>
            <a:ext cx="11521440" cy="640080"/>
          </a:xfrm>
          <a:prstGeom prst="rect">
            <a:avLst/>
          </a:prstGeom>
          <a:noFill/>
        </p:spPr>
        <p:txBody>
          <a:bodyPr wrap="square" anchor="t" lIns="45720" rIns="45720" tIns="27432" bIns="27432">
            <a:noAutofit/>
          </a:bodyPr>
          <a:lstStyle/>
          <a:p>
            <a:pPr algn="l"/>
            <a:r>
              <a:rPr sz="3200" b="1" i="0">
                <a:solidFill>
                  <a:srgbClr val="840032"/>
                </a:solidFill>
                <a:latin typeface="Helvetica"/>
              </a:rPr>
              <a:t>Metric: load-transfer ratio</a:t>
            </a:r>
          </a:p>
        </p:txBody>
      </p:sp>
      <p:sp>
        <p:nvSpPr>
          <p:cNvPr id="9" name="TextBox 8"/>
          <p:cNvSpPr txBox="1"/>
          <p:nvPr/>
        </p:nvSpPr>
        <p:spPr>
          <a:xfrm>
            <a:off x="12070080" y="9784080"/>
            <a:ext cx="11521440" cy="640080"/>
          </a:xfrm>
          <a:prstGeom prst="rect">
            <a:avLst/>
          </a:prstGeom>
          <a:noFill/>
        </p:spPr>
        <p:txBody>
          <a:bodyPr wrap="square" anchor="t" lIns="45720" rIns="45720" tIns="27432" bIns="27432">
            <a:noAutofit/>
          </a:bodyPr>
          <a:lstStyle/>
          <a:p>
            <a:pPr algn="l"/>
            <a:r>
              <a:rPr sz="3000" b="1" i="0">
                <a:solidFill>
                  <a:srgbClr val="1A1A1A"/>
                </a:solidFill>
                <a:latin typeface="Cambria"/>
              </a:rPr>
              <a:t>LTR  =  (ΣF</a:t>
            </a:r>
            <a:r>
              <a:rPr sz="3000" b="1" i="0" baseline="-25000">
                <a:solidFill>
                  <a:srgbClr val="1A1A1A"/>
                </a:solidFill>
                <a:latin typeface="Cambria"/>
              </a:rPr>
              <a:t>outer</a:t>
            </a:r>
            <a:r>
              <a:rPr sz="3000" b="1" i="0">
                <a:solidFill>
                  <a:srgbClr val="1A1A1A"/>
                </a:solidFill>
                <a:latin typeface="Cambria"/>
              </a:rPr>
              <a:t> − ΣF</a:t>
            </a:r>
            <a:r>
              <a:rPr sz="3000" b="1" i="0" baseline="-25000">
                <a:solidFill>
                  <a:srgbClr val="1A1A1A"/>
                </a:solidFill>
                <a:latin typeface="Cambria"/>
              </a:rPr>
              <a:t>inner</a:t>
            </a:r>
            <a:r>
              <a:rPr sz="3000" b="1" i="0">
                <a:solidFill>
                  <a:srgbClr val="1A1A1A"/>
                </a:solidFill>
                <a:latin typeface="Cambria"/>
              </a:rPr>
              <a:t>) / (ΣF</a:t>
            </a:r>
            <a:r>
              <a:rPr sz="3000" b="1" i="0" baseline="-25000">
                <a:solidFill>
                  <a:srgbClr val="1A1A1A"/>
                </a:solidFill>
                <a:latin typeface="Cambria"/>
              </a:rPr>
              <a:t>outer</a:t>
            </a:r>
            <a:r>
              <a:rPr sz="3000" b="1" i="0">
                <a:solidFill>
                  <a:srgbClr val="1A1A1A"/>
                </a:solidFill>
                <a:latin typeface="Cambria"/>
              </a:rPr>
              <a:t> + ΣF</a:t>
            </a:r>
            <a:r>
              <a:rPr sz="3000" b="1" i="0" baseline="-25000">
                <a:solidFill>
                  <a:srgbClr val="1A1A1A"/>
                </a:solidFill>
                <a:latin typeface="Cambria"/>
              </a:rPr>
              <a:t>inner</a:t>
            </a:r>
            <a:r>
              <a:rPr sz="3000" b="1" i="0">
                <a:solidFill>
                  <a:srgbClr val="1A1A1A"/>
                </a:solidFill>
                <a:latin typeface="Cambria"/>
              </a:rPr>
              <a:t>)</a:t>
            </a:r>
          </a:p>
        </p:txBody>
      </p:sp>
      <p:sp>
        <p:nvSpPr>
          <p:cNvPr id="10" name="Rectangle 9"/>
          <p:cNvSpPr/>
          <p:nvPr/>
        </p:nvSpPr>
        <p:spPr>
          <a:xfrm>
            <a:off x="12435840" y="10744200"/>
            <a:ext cx="5852160" cy="411480"/>
          </a:xfrm>
          <a:prstGeom prst="rect">
            <a:avLst/>
          </a:prstGeom>
          <a:solidFill>
            <a:srgbClr val="E6C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00" y="10744200"/>
            <a:ext cx="4389120" cy="411480"/>
          </a:xfrm>
          <a:prstGeom prst="rect">
            <a:avLst/>
          </a:prstGeom>
          <a:solidFill>
            <a:srgbClr val="C28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2435840" y="10561320"/>
            <a:ext cx="0" cy="777240"/>
          </a:xfrm>
          <a:prstGeom prst="line">
            <a:avLst/>
          </a:prstGeom>
          <a:ln w="25400">
            <a:solidFill>
              <a:srgbClr val="8400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972800" y="11384280"/>
            <a:ext cx="2926080" cy="1097280"/>
          </a:xfrm>
          <a:prstGeom prst="rect">
            <a:avLst/>
          </a:prstGeom>
          <a:noFill/>
        </p:spPr>
        <p:txBody>
          <a:bodyPr wrap="square" anchor="t" lIns="45720" rIns="45720" tIns="27432" bIns="27432">
            <a:noAutofit/>
          </a:bodyPr>
          <a:lstStyle/>
          <a:p>
            <a:pPr algn="ctr"/>
            <a:r>
              <a:rPr sz="2400" b="1" i="0">
                <a:solidFill>
                  <a:srgbClr val="840032"/>
                </a:solidFill>
                <a:latin typeface="Calibri"/>
              </a:rPr>
              <a:t>0</a:t>
            </a:r>
          </a:p>
          <a:p>
            <a:pPr algn="ctr"/>
            <a:r>
              <a:rPr sz="2400" b="1" i="0">
                <a:solidFill>
                  <a:srgbClr val="840032"/>
                </a:solidFill>
                <a:latin typeface="Calibri"/>
              </a:rPr>
              <a:t>level</a:t>
            </a:r>
          </a:p>
        </p:txBody>
      </p:sp>
      <p:cxnSp>
        <p:nvCxnSpPr>
          <p:cNvPr id="14" name="Connector 13"/>
          <p:cNvCxnSpPr/>
          <p:nvPr/>
        </p:nvCxnSpPr>
        <p:spPr>
          <a:xfrm>
            <a:off x="18288000" y="10561320"/>
            <a:ext cx="0" cy="777240"/>
          </a:xfrm>
          <a:prstGeom prst="line">
            <a:avLst/>
          </a:prstGeom>
          <a:ln w="25400">
            <a:solidFill>
              <a:srgbClr val="84003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6824960" y="11384280"/>
            <a:ext cx="2926080" cy="1097280"/>
          </a:xfrm>
          <a:prstGeom prst="rect">
            <a:avLst/>
          </a:prstGeom>
          <a:noFill/>
        </p:spPr>
        <p:txBody>
          <a:bodyPr wrap="square" anchor="t" lIns="45720" rIns="45720" tIns="27432" bIns="27432">
            <a:noAutofit/>
          </a:bodyPr>
          <a:lstStyle/>
          <a:p>
            <a:pPr algn="ctr"/>
            <a:r>
              <a:rPr sz="2400" b="1" i="0">
                <a:solidFill>
                  <a:srgbClr val="840032"/>
                </a:solidFill>
                <a:latin typeface="Calibri"/>
              </a:rPr>
              <a:t>0.6</a:t>
            </a:r>
          </a:p>
          <a:p>
            <a:pPr algn="ctr"/>
            <a:r>
              <a:rPr sz="2400" b="1" i="0">
                <a:solidFill>
                  <a:srgbClr val="840032"/>
                </a:solidFill>
                <a:latin typeface="Calibri"/>
              </a:rPr>
              <a:t>incipient</a:t>
            </a:r>
          </a:p>
        </p:txBody>
      </p:sp>
      <p:cxnSp>
        <p:nvCxnSpPr>
          <p:cNvPr id="16" name="Connector 15"/>
          <p:cNvCxnSpPr/>
          <p:nvPr/>
        </p:nvCxnSpPr>
        <p:spPr>
          <a:xfrm>
            <a:off x="22677120" y="10561320"/>
            <a:ext cx="0" cy="777240"/>
          </a:xfrm>
          <a:prstGeom prst="line">
            <a:avLst/>
          </a:prstGeom>
          <a:ln w="25400">
            <a:solidFill>
              <a:srgbClr val="84003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1214080" y="11384280"/>
            <a:ext cx="2926080" cy="1097280"/>
          </a:xfrm>
          <a:prstGeom prst="rect">
            <a:avLst/>
          </a:prstGeom>
          <a:noFill/>
        </p:spPr>
        <p:txBody>
          <a:bodyPr wrap="square" anchor="t" lIns="45720" rIns="45720" tIns="27432" bIns="27432">
            <a:noAutofit/>
          </a:bodyPr>
          <a:lstStyle/>
          <a:p>
            <a:pPr algn="ctr"/>
            <a:r>
              <a:rPr sz="2400" b="1" i="0">
                <a:solidFill>
                  <a:srgbClr val="840032"/>
                </a:solidFill>
                <a:latin typeface="Calibri"/>
              </a:rPr>
              <a:t>1.0</a:t>
            </a:r>
          </a:p>
          <a:p>
            <a:pPr algn="ctr"/>
            <a:r>
              <a:rPr sz="2400" b="1" i="0">
                <a:solidFill>
                  <a:srgbClr val="840032"/>
                </a:solidFill>
                <a:latin typeface="Calibri"/>
              </a:rPr>
              <a:t>trip condition</a:t>
            </a:r>
          </a:p>
        </p:txBody>
      </p:sp>
      <p:sp>
        <p:nvSpPr>
          <p:cNvPr id="18" name="TextBox 17"/>
          <p:cNvSpPr txBox="1"/>
          <p:nvPr/>
        </p:nvSpPr>
        <p:spPr>
          <a:xfrm>
            <a:off x="777240" y="12755880"/>
            <a:ext cx="22768560" cy="548640"/>
          </a:xfrm>
          <a:prstGeom prst="rect">
            <a:avLst/>
          </a:prstGeom>
          <a:noFill/>
        </p:spPr>
        <p:txBody>
          <a:bodyPr wrap="square" anchor="t" lIns="45720" rIns="45720" tIns="27432" bIns="27432">
            <a:noAutofit/>
          </a:bodyPr>
          <a:lstStyle/>
          <a:p>
            <a:pPr algn="l"/>
            <a:r>
              <a:rPr sz="2000" b="0" i="1">
                <a:solidFill>
                  <a:srgbClr val="6E6E6E"/>
                </a:solidFill>
                <a:latin typeface="Calibri"/>
              </a:rPr>
              <a:t>Trip condition = both inner wheels unloaded: necessary for untripped rollover, not a rollover event.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1. SETUP: ROAD, CORNER, DEFECT</a:t>
            </a:r>
          </a:p>
        </p:txBody>
      </p:sp>
      <p:pic>
        <p:nvPicPr>
          <p:cNvPr id="4" name="Picture 3" descr="image.png"/>
          <p:cNvPicPr>
            <a:picLocks noChangeAspect="1"/>
          </p:cNvPicPr>
          <p:nvPr/>
        </p:nvPicPr>
        <p:blipFill>
          <a:blip r:embed="rId3"/>
          <a:stretch>
            <a:fillRect/>
          </a:stretch>
        </p:blipFill>
        <p:spPr>
          <a:xfrm>
            <a:off x="777240" y="3566160"/>
            <a:ext cx="11155680" cy="5020056"/>
          </a:xfrm>
          <a:prstGeom prst="rect">
            <a:avLst/>
          </a:prstGeom>
        </p:spPr>
      </p:pic>
      <p:pic>
        <p:nvPicPr>
          <p:cNvPr id="5" name="Picture 4" descr="image.png"/>
          <p:cNvPicPr>
            <a:picLocks noChangeAspect="1"/>
          </p:cNvPicPr>
          <p:nvPr/>
        </p:nvPicPr>
        <p:blipFill>
          <a:blip r:embed="rId4"/>
          <a:stretch>
            <a:fillRect/>
          </a:stretch>
        </p:blipFill>
        <p:spPr>
          <a:xfrm>
            <a:off x="12344400" y="3566160"/>
            <a:ext cx="11155680" cy="5039438"/>
          </a:xfrm>
          <a:prstGeom prst="rect">
            <a:avLst/>
          </a:prstGeom>
        </p:spPr>
      </p:pic>
      <p:pic>
        <p:nvPicPr>
          <p:cNvPr id="6" name="Picture 5" descr="image.png"/>
          <p:cNvPicPr>
            <a:picLocks noChangeAspect="1"/>
          </p:cNvPicPr>
          <p:nvPr/>
        </p:nvPicPr>
        <p:blipFill>
          <a:blip r:embed="rId5"/>
          <a:stretch>
            <a:fillRect/>
          </a:stretch>
        </p:blipFill>
        <p:spPr>
          <a:xfrm>
            <a:off x="777240" y="8869680"/>
            <a:ext cx="5760720" cy="3456432"/>
          </a:xfrm>
          <a:prstGeom prst="rect">
            <a:avLst/>
          </a:prstGeom>
        </p:spPr>
      </p:pic>
      <p:sp>
        <p:nvSpPr>
          <p:cNvPr id="7" name="TextBox 6"/>
          <p:cNvSpPr txBox="1"/>
          <p:nvPr/>
        </p:nvSpPr>
        <p:spPr>
          <a:xfrm>
            <a:off x="6949440" y="8961120"/>
            <a:ext cx="16642080" cy="3657600"/>
          </a:xfrm>
          <a:prstGeom prst="rect">
            <a:avLst/>
          </a:prstGeom>
          <a:noFill/>
        </p:spPr>
        <p:txBody>
          <a:bodyPr wrap="square" lIns="45720" rIns="45720" tIns="27432" bIns="27432">
            <a:noAutofit/>
          </a:bodyPr>
          <a:lstStyle/>
          <a:p>
            <a:pPr algn="l" marL="411480" indent="-411480">
              <a:spcAft>
                <a:spcPts val="800"/>
              </a:spcAft>
              <a:buFont typeface="Arial"/>
              <a:buChar char="•"/>
            </a:pPr>
            <a:r>
              <a:rPr sz="2900" b="1" i="0">
                <a:solidFill>
                  <a:srgbClr val="1A1A1A"/>
                </a:solidFill>
                <a:latin typeface="Calibri"/>
              </a:rPr>
              <a:t>Road: </a:t>
            </a:r>
            <a:r>
              <a:rPr sz="2900" b="0" i="0">
                <a:solidFill>
                  <a:srgbClr val="1A1A1A"/>
                </a:solidFill>
                <a:latin typeface="Calibri"/>
              </a:rPr>
              <a:t>ISO 8608 Class C, partially correlated left/right tracks, averaged over a 0.18 m tyre patch</a:t>
            </a:r>
          </a:p>
          <a:p>
            <a:pPr algn="l" marL="411480" indent="-411480">
              <a:spcAft>
                <a:spcPts val="800"/>
              </a:spcAft>
              <a:buFont typeface="Arial"/>
              <a:buChar char="•"/>
            </a:pPr>
            <a:r>
              <a:rPr sz="2900" b="1" i="0">
                <a:solidFill>
                  <a:srgbClr val="1A1A1A"/>
                </a:solidFill>
                <a:latin typeface="Calibri"/>
              </a:rPr>
              <a:t>Corner: </a:t>
            </a:r>
            <a:r>
              <a:rPr sz="2900" b="0" i="0">
                <a:solidFill>
                  <a:srgbClr val="1A1A1A"/>
                </a:solidFill>
                <a:latin typeface="Calibri"/>
              </a:rPr>
              <a:t>9 s manoeuvre with a 3 s steady hold; baseline 0.5 g, R = 39 m, 50 km/h</a:t>
            </a:r>
          </a:p>
          <a:p>
            <a:pPr algn="l" marL="411480" indent="-411480">
              <a:spcAft>
                <a:spcPts val="800"/>
              </a:spcAft>
              <a:buFont typeface="Arial"/>
              <a:buChar char="•"/>
            </a:pPr>
            <a:r>
              <a:rPr sz="2900" b="1" i="0">
                <a:solidFill>
                  <a:srgbClr val="1A1A1A"/>
                </a:solidFill>
                <a:latin typeface="Calibri"/>
              </a:rPr>
              <a:t>Defect: </a:t>
            </a:r>
            <a:r>
              <a:rPr sz="2900" b="0" i="0">
                <a:solidFill>
                  <a:srgbClr val="1A1A1A"/>
                </a:solidFill>
                <a:latin typeface="Calibri"/>
              </a:rPr>
              <a:t>44 mm × 0.5 m bump under the inner front wheel at the start of the hold; the inner rear meets it 0.2 s later</a:t>
            </a:r>
          </a:p>
          <a:p>
            <a:pPr algn="l" marL="411480" indent="-411480">
              <a:spcAft>
                <a:spcPts val="800"/>
              </a:spcAft>
              <a:buFont typeface="Arial"/>
              <a:buChar char="•"/>
            </a:pPr>
            <a:r>
              <a:rPr sz="2900" b="1" i="0">
                <a:solidFill>
                  <a:srgbClr val="1A1A1A"/>
                </a:solidFill>
                <a:latin typeface="Calibri"/>
              </a:rPr>
              <a:t>Twin defect: </a:t>
            </a:r>
            <a:r>
              <a:rPr sz="2900" b="0" i="0">
                <a:solidFill>
                  <a:srgbClr val="1A1A1A"/>
                </a:solidFill>
                <a:latin typeface="Calibri"/>
              </a:rPr>
              <a:t>a second bump one wheelbase later unloads both inner wheels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834640"/>
            <a:ext cx="20729448" cy="822960"/>
          </a:xfrm>
          <a:prstGeom prst="rect">
            <a:avLst/>
          </a:prstGeom>
          <a:noFill/>
        </p:spPr>
        <p:txBody>
          <a:bodyPr wrap="square" anchor="t" lIns="45720" rIns="45720" tIns="27432" bIns="27432">
            <a:noAutofit/>
          </a:bodyPr>
          <a:lstStyle/>
          <a:p>
            <a:pPr algn="ctr"/>
            <a:r>
              <a:rPr sz="3600" b="1" i="0">
                <a:solidFill>
                  <a:srgbClr val="E6CCD6"/>
                </a:solidFill>
                <a:latin typeface="Helvetica"/>
              </a:rPr>
              <a:t>STUDY 1</a:t>
            </a:r>
          </a:p>
        </p:txBody>
      </p:sp>
      <p:sp>
        <p:nvSpPr>
          <p:cNvPr id="3" name="TextBox 2"/>
          <p:cNvSpPr txBox="1"/>
          <p:nvPr/>
        </p:nvSpPr>
        <p:spPr>
          <a:xfrm>
            <a:off x="1828800" y="3840480"/>
            <a:ext cx="20729448" cy="1280160"/>
          </a:xfrm>
          <a:prstGeom prst="rect">
            <a:avLst/>
          </a:prstGeom>
          <a:noFill/>
        </p:spPr>
        <p:txBody>
          <a:bodyPr wrap="square" anchor="t" lIns="45720" rIns="45720" tIns="27432" bIns="27432">
            <a:noAutofit/>
          </a:bodyPr>
          <a:lstStyle/>
          <a:p>
            <a:pPr algn="ctr"/>
            <a:r>
              <a:rPr sz="6400" b="1" i="0">
                <a:solidFill>
                  <a:srgbClr val="FFFFFF"/>
                </a:solidFill>
                <a:latin typeface="Helvetica"/>
              </a:rPr>
              <a:t>Feedback control in straight-line driving</a:t>
            </a:r>
          </a:p>
        </p:txBody>
      </p:sp>
      <p:sp>
        <p:nvSpPr>
          <p:cNvPr id="4" name="TextBox 3"/>
          <p:cNvSpPr txBox="1"/>
          <p:nvPr/>
        </p:nvSpPr>
        <p:spPr>
          <a:xfrm>
            <a:off x="3657600" y="5669280"/>
            <a:ext cx="17071848" cy="2194560"/>
          </a:xfrm>
          <a:prstGeom prst="rect">
            <a:avLst/>
          </a:prstGeom>
          <a:noFill/>
        </p:spPr>
        <p:txBody>
          <a:bodyPr wrap="square" anchor="t" lIns="45720" rIns="45720" tIns="27432" bIns="27432">
            <a:noAutofit/>
          </a:bodyPr>
          <a:lstStyle/>
          <a:p>
            <a:pPr algn="ctr"/>
            <a:r>
              <a:rPr sz="3200" b="0" i="0">
                <a:solidFill>
                  <a:srgbClr val="FFFFFF"/>
                </a:solidFill>
                <a:latin typeface="Calibri"/>
              </a:rPr>
              <a:t>What output-weighted LQR achieves on a rough road and at a discrete defect: the baseline Study 2 departs from.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2. STUDY 1: PASSIVE CAR ON A DEFECT ROAD</a:t>
            </a:r>
          </a:p>
        </p:txBody>
      </p:sp>
      <p:graphicFrame>
        <p:nvGraphicFramePr>
          <p:cNvPr id="4" name="Table 3"/>
          <p:cNvGraphicFramePr>
            <a:graphicFrameLocks noGrp="1"/>
          </p:cNvGraphicFramePr>
          <p:nvPr/>
        </p:nvGraphicFramePr>
        <p:xfrm>
          <a:off x="777240" y="3566160"/>
          <a:ext cx="12984480" cy="7498080"/>
        </p:xfrm>
        <a:graphic>
          <a:graphicData uri="http://schemas.openxmlformats.org/drawingml/2006/table">
            <a:tbl>
              <a:tblPr firstRow="1" bandRow="1">
                <a:tableStyleId>{5C22544A-7EE6-4342-B048-85BDC9FD1C3A}</a:tableStyleId>
              </a:tblPr>
              <a:tblGrid>
                <a:gridCol w="6035040"/>
                <a:gridCol w="2194560"/>
                <a:gridCol w="2377440"/>
                <a:gridCol w="2377440"/>
              </a:tblGrid>
              <a:tr h="749808">
                <a:tc>
                  <a:txBody>
                    <a:bodyPr wrap="square"/>
                    <a:lstStyle/>
                    <a:p>
                      <a:pPr algn="l"/>
                      <a:r>
                        <a:rPr sz="2600" b="1" i="0">
                          <a:solidFill>
                            <a:srgbClr val="FFFFFF"/>
                          </a:solidFill>
                          <a:latin typeface="Calibri"/>
                        </a:rPr>
                        <a:t>Passive, 50 km/h, 60 s</a:t>
                      </a:r>
                    </a:p>
                  </a:txBody>
                  <a:tcPr anchor="ctr" marL="109728" marR="109728" marT="27432" marB="27432">
                    <a:solidFill>
                      <a:srgbClr val="840032"/>
                    </a:solidFill>
                  </a:tcPr>
                </a:tc>
                <a:tc>
                  <a:txBody>
                    <a:bodyPr wrap="square"/>
                    <a:lstStyle/>
                    <a:p>
                      <a:pPr algn="ctr"/>
                      <a:r>
                        <a:rPr sz="2600" b="1" i="0">
                          <a:solidFill>
                            <a:srgbClr val="FFFFFF"/>
                          </a:solidFill>
                          <a:latin typeface="Calibri"/>
                        </a:rPr>
                        <a:t>Class C</a:t>
                      </a:r>
                    </a:p>
                  </a:txBody>
                  <a:tcPr anchor="ctr" marL="109728" marR="109728" marT="27432" marB="27432">
                    <a:solidFill>
                      <a:srgbClr val="840032"/>
                    </a:solidFill>
                  </a:tcPr>
                </a:tc>
                <a:tc>
                  <a:txBody>
                    <a:bodyPr wrap="square"/>
                    <a:lstStyle/>
                    <a:p>
                      <a:pPr algn="ctr"/>
                      <a:r>
                        <a:rPr sz="2600" b="1" i="0">
                          <a:solidFill>
                            <a:srgbClr val="FFFFFF"/>
                          </a:solidFill>
                          <a:latin typeface="Calibri"/>
                        </a:rPr>
                        <a:t>+ defects</a:t>
                      </a:r>
                    </a:p>
                  </a:txBody>
                  <a:tcPr anchor="ctr" marL="109728" marR="109728" marT="27432" marB="27432">
                    <a:solidFill>
                      <a:srgbClr val="840032"/>
                    </a:solidFill>
                  </a:tcPr>
                </a:tc>
                <a:tc>
                  <a:txBody>
                    <a:bodyPr wrap="square"/>
                    <a:lstStyle/>
                    <a:p>
                      <a:pPr algn="ctr"/>
                      <a:r>
                        <a:rPr sz="2600" b="1" i="0">
                          <a:solidFill>
                            <a:srgbClr val="FFFFFF"/>
                          </a:solidFill>
                          <a:latin typeface="Calibri"/>
                        </a:rPr>
                        <a:t>change</a:t>
                      </a:r>
                    </a:p>
                  </a:txBody>
                  <a:tcPr anchor="ctr" marL="109728" marR="109728" marT="27432" marB="27432">
                    <a:solidFill>
                      <a:srgbClr val="840032"/>
                    </a:solidFill>
                  </a:tcPr>
                </a:tc>
              </a:tr>
              <a:tr h="749808">
                <a:tc>
                  <a:txBody>
                    <a:bodyPr wrap="square"/>
                    <a:lstStyle/>
                    <a:p>
                      <a:pPr algn="l"/>
                      <a:r>
                        <a:rPr sz="2600" b="0" i="0">
                          <a:solidFill>
                            <a:srgbClr val="1A1A1A"/>
                          </a:solidFill>
                          <a:latin typeface="Calibri"/>
                        </a:rPr>
                        <a:t>W</a:t>
                      </a:r>
                      <a:r>
                        <a:rPr sz="2600" b="0" i="0" baseline="-25000">
                          <a:solidFill>
                            <a:srgbClr val="1A1A1A"/>
                          </a:solidFill>
                          <a:latin typeface="Calibri"/>
                        </a:rPr>
                        <a:t>k</a:t>
                      </a:r>
                      <a:r>
                        <a:rPr sz="2600" b="0" i="0">
                          <a:solidFill>
                            <a:srgbClr val="1A1A1A"/>
                          </a:solidFill>
                          <a:latin typeface="Calibri"/>
                        </a:rPr>
                        <a:t> heave RMS [m/s²]</a:t>
                      </a:r>
                    </a:p>
                  </a:txBody>
                  <a:tcPr anchor="ctr" marL="109728" marR="109728" marT="27432" marB="27432">
                    <a:solidFill>
                      <a:srgbClr val="F4E9EE"/>
                    </a:solidFill>
                  </a:tcPr>
                </a:tc>
                <a:tc>
                  <a:txBody>
                    <a:bodyPr wrap="square"/>
                    <a:lstStyle/>
                    <a:p>
                      <a:pPr algn="ctr"/>
                      <a:r>
                        <a:rPr sz="2600" b="0" i="0">
                          <a:solidFill>
                            <a:srgbClr val="1A1A1A"/>
                          </a:solidFill>
                          <a:latin typeface="Calibri"/>
                        </a:rPr>
                        <a:t>0.679</a:t>
                      </a:r>
                    </a:p>
                  </a:txBody>
                  <a:tcPr anchor="ctr" marL="109728" marR="109728" marT="27432" marB="27432">
                    <a:solidFill>
                      <a:srgbClr val="F4E9EE"/>
                    </a:solidFill>
                  </a:tcPr>
                </a:tc>
                <a:tc>
                  <a:txBody>
                    <a:bodyPr wrap="square"/>
                    <a:lstStyle/>
                    <a:p>
                      <a:pPr algn="ctr"/>
                      <a:r>
                        <a:rPr sz="2600" b="0" i="0">
                          <a:solidFill>
                            <a:srgbClr val="1A1A1A"/>
                          </a:solidFill>
                          <a:latin typeface="Calibri"/>
                        </a:rPr>
                        <a:t>0.723</a:t>
                      </a:r>
                    </a:p>
                  </a:txBody>
                  <a:tcPr anchor="ctr" marL="109728" marR="109728" marT="27432" marB="27432">
                    <a:solidFill>
                      <a:srgbClr val="F4E9EE"/>
                    </a:solidFill>
                  </a:tcPr>
                </a:tc>
                <a:tc>
                  <a:txBody>
                    <a:bodyPr wrap="square"/>
                    <a:lstStyle/>
                    <a:p>
                      <a:pPr algn="ctr"/>
                      <a:r>
                        <a:rPr sz="2600" b="0" i="0">
                          <a:solidFill>
                            <a:srgbClr val="1A1A1A"/>
                          </a:solidFill>
                          <a:latin typeface="Calibri"/>
                        </a:rPr>
                        <a:t>+6.5 %</a:t>
                      </a:r>
                    </a:p>
                  </a:txBody>
                  <a:tcPr anchor="ctr" marL="109728" marR="109728" marT="27432" marB="27432">
                    <a:solidFill>
                      <a:srgbClr val="F4E9EE"/>
                    </a:solidFill>
                  </a:tcPr>
                </a:tc>
              </a:tr>
              <a:tr h="749808">
                <a:tc>
                  <a:txBody>
                    <a:bodyPr wrap="square"/>
                    <a:lstStyle/>
                    <a:p>
                      <a:pPr algn="l"/>
                      <a:r>
                        <a:rPr sz="2600" b="0" i="0">
                          <a:solidFill>
                            <a:srgbClr val="1A1A1A"/>
                          </a:solidFill>
                          <a:latin typeface="Calibri"/>
                        </a:rPr>
                        <a:t>VDV ratio</a:t>
                      </a:r>
                    </a:p>
                  </a:txBody>
                  <a:tcPr anchor="ctr" marL="109728" marR="109728" marT="27432" marB="27432">
                    <a:solidFill>
                      <a:srgbClr val="FFFFFF"/>
                    </a:solidFill>
                  </a:tcPr>
                </a:tc>
                <a:tc>
                  <a:txBody>
                    <a:bodyPr wrap="square"/>
                    <a:lstStyle/>
                    <a:p>
                      <a:pPr algn="ctr"/>
                      <a:r>
                        <a:rPr sz="2600" b="0" i="0">
                          <a:solidFill>
                            <a:srgbClr val="1A1A1A"/>
                          </a:solidFill>
                          <a:latin typeface="Calibri"/>
                        </a:rPr>
                        <a:t>1.31</a:t>
                      </a:r>
                    </a:p>
                  </a:txBody>
                  <a:tcPr anchor="ctr" marL="109728" marR="109728" marT="27432" marB="27432">
                    <a:solidFill>
                      <a:srgbClr val="FFFFFF"/>
                    </a:solidFill>
                  </a:tcPr>
                </a:tc>
                <a:tc>
                  <a:txBody>
                    <a:bodyPr wrap="square"/>
                    <a:lstStyle/>
                    <a:p>
                      <a:pPr algn="ctr"/>
                      <a:r>
                        <a:rPr sz="2600" b="0" i="0">
                          <a:solidFill>
                            <a:srgbClr val="1A1A1A"/>
                          </a:solidFill>
                          <a:latin typeface="Calibri"/>
                        </a:rPr>
                        <a:t>1.40</a:t>
                      </a:r>
                    </a:p>
                  </a:txBody>
                  <a:tcPr anchor="ctr" marL="109728" marR="109728" marT="27432" marB="27432">
                    <a:solidFill>
                      <a:srgbClr val="FFFFFF"/>
                    </a:solidFill>
                  </a:tcPr>
                </a:tc>
                <a:tc>
                  <a:txBody>
                    <a:bodyPr wrap="square"/>
                    <a:lstStyle/>
                    <a:p>
                      <a:pPr algn="ctr"/>
                      <a:r>
                        <a:rPr sz="2600" b="0" i="0">
                          <a:solidFill>
                            <a:srgbClr val="1A1A1A"/>
                          </a:solidFill>
                          <a:latin typeface="Calibri"/>
                        </a:rPr>
                        <a:t>+7.4 %</a:t>
                      </a:r>
                    </a:p>
                  </a:txBody>
                  <a:tcPr anchor="ctr" marL="109728" marR="109728" marT="27432" marB="27432">
                    <a:solidFill>
                      <a:srgbClr val="FFFFFF"/>
                    </a:solidFill>
                  </a:tcPr>
                </a:tc>
              </a:tr>
              <a:tr h="749808">
                <a:tc>
                  <a:txBody>
                    <a:bodyPr wrap="square"/>
                    <a:lstStyle/>
                    <a:p>
                      <a:pPr algn="l"/>
                      <a:r>
                        <a:rPr sz="2600" b="0" i="0">
                          <a:solidFill>
                            <a:srgbClr val="1A1A1A"/>
                          </a:solidFill>
                          <a:latin typeface="Calibri"/>
                        </a:rPr>
                        <a:t>Dynamic load coefficient</a:t>
                      </a:r>
                    </a:p>
                  </a:txBody>
                  <a:tcPr anchor="ctr" marL="109728" marR="109728" marT="27432" marB="27432">
                    <a:solidFill>
                      <a:srgbClr val="F4E9EE"/>
                    </a:solidFill>
                  </a:tcPr>
                </a:tc>
                <a:tc>
                  <a:txBody>
                    <a:bodyPr wrap="square"/>
                    <a:lstStyle/>
                    <a:p>
                      <a:pPr algn="ctr"/>
                      <a:r>
                        <a:rPr sz="2600" b="0" i="0">
                          <a:solidFill>
                            <a:srgbClr val="1A1A1A"/>
                          </a:solidFill>
                          <a:latin typeface="Calibri"/>
                        </a:rPr>
                        <a:t>0.181</a:t>
                      </a:r>
                    </a:p>
                  </a:txBody>
                  <a:tcPr anchor="ctr" marL="109728" marR="109728" marT="27432" marB="27432">
                    <a:solidFill>
                      <a:srgbClr val="F4E9EE"/>
                    </a:solidFill>
                  </a:tcPr>
                </a:tc>
                <a:tc>
                  <a:txBody>
                    <a:bodyPr wrap="square"/>
                    <a:lstStyle/>
                    <a:p>
                      <a:pPr algn="ctr"/>
                      <a:r>
                        <a:rPr sz="2600" b="0" i="0">
                          <a:solidFill>
                            <a:srgbClr val="1A1A1A"/>
                          </a:solidFill>
                          <a:latin typeface="Calibri"/>
                        </a:rPr>
                        <a:t>0.193</a:t>
                      </a:r>
                    </a:p>
                  </a:txBody>
                  <a:tcPr anchor="ctr" marL="109728" marR="109728" marT="27432" marB="27432">
                    <a:solidFill>
                      <a:srgbClr val="F4E9EE"/>
                    </a:solidFill>
                  </a:tcPr>
                </a:tc>
                <a:tc>
                  <a:txBody>
                    <a:bodyPr wrap="square"/>
                    <a:lstStyle/>
                    <a:p>
                      <a:pPr algn="ctr"/>
                      <a:r>
                        <a:rPr sz="2600" b="0" i="0">
                          <a:solidFill>
                            <a:srgbClr val="1A1A1A"/>
                          </a:solidFill>
                          <a:latin typeface="Calibri"/>
                        </a:rPr>
                        <a:t>+6.4 %</a:t>
                      </a:r>
                    </a:p>
                  </a:txBody>
                  <a:tcPr anchor="ctr" marL="109728" marR="109728" marT="27432" marB="27432">
                    <a:solidFill>
                      <a:srgbClr val="F4E9EE"/>
                    </a:solidFill>
                  </a:tcPr>
                </a:tc>
              </a:tr>
              <a:tr h="749808">
                <a:tc>
                  <a:txBody>
                    <a:bodyPr wrap="square"/>
                    <a:lstStyle/>
                    <a:p>
                      <a:pPr algn="l"/>
                      <a:r>
                        <a:rPr sz="2600" b="0" i="0">
                          <a:solidFill>
                            <a:srgbClr val="1A1A1A"/>
                          </a:solidFill>
                          <a:latin typeface="Calibri"/>
                        </a:rPr>
                        <a:t>Crest factor</a:t>
                      </a:r>
                    </a:p>
                  </a:txBody>
                  <a:tcPr anchor="ctr" marL="109728" marR="109728" marT="27432" marB="27432">
                    <a:solidFill>
                      <a:srgbClr val="FFFFFF"/>
                    </a:solidFill>
                  </a:tcPr>
                </a:tc>
                <a:tc>
                  <a:txBody>
                    <a:bodyPr wrap="square"/>
                    <a:lstStyle/>
                    <a:p>
                      <a:pPr algn="ctr"/>
                      <a:r>
                        <a:rPr sz="2600" b="0" i="0">
                          <a:solidFill>
                            <a:srgbClr val="1A1A1A"/>
                          </a:solidFill>
                          <a:latin typeface="Calibri"/>
                        </a:rPr>
                        <a:t>3.86</a:t>
                      </a:r>
                    </a:p>
                  </a:txBody>
                  <a:tcPr anchor="ctr" marL="109728" marR="109728" marT="27432" marB="27432">
                    <a:solidFill>
                      <a:srgbClr val="FFFFFF"/>
                    </a:solidFill>
                  </a:tcPr>
                </a:tc>
                <a:tc>
                  <a:txBody>
                    <a:bodyPr wrap="square"/>
                    <a:lstStyle/>
                    <a:p>
                      <a:pPr algn="ctr"/>
                      <a:r>
                        <a:rPr sz="2600" b="1" i="0">
                          <a:solidFill>
                            <a:srgbClr val="840032"/>
                          </a:solidFill>
                          <a:latin typeface="Calibri"/>
                        </a:rPr>
                        <a:t>5.70</a:t>
                      </a:r>
                    </a:p>
                  </a:txBody>
                  <a:tcPr anchor="ctr" marL="109728" marR="109728" marT="27432" marB="27432">
                    <a:solidFill>
                      <a:srgbClr val="FFFFFF"/>
                    </a:solidFill>
                  </a:tcPr>
                </a:tc>
                <a:tc>
                  <a:txBody>
                    <a:bodyPr wrap="square"/>
                    <a:lstStyle/>
                    <a:p>
                      <a:pPr algn="ctr"/>
                      <a:r>
                        <a:rPr sz="2600" b="1" i="0">
                          <a:solidFill>
                            <a:srgbClr val="840032"/>
                          </a:solidFill>
                          <a:latin typeface="Calibri"/>
                        </a:rPr>
                        <a:t>+47.6 %</a:t>
                      </a:r>
                    </a:p>
                  </a:txBody>
                  <a:tcPr anchor="ctr" marL="109728" marR="109728" marT="27432" marB="27432">
                    <a:solidFill>
                      <a:srgbClr val="FFFFFF"/>
                    </a:solidFill>
                  </a:tcPr>
                </a:tc>
              </a:tr>
              <a:tr h="749808">
                <a:tc>
                  <a:txBody>
                    <a:bodyPr wrap="square"/>
                    <a:lstStyle/>
                    <a:p>
                      <a:pPr algn="l"/>
                      <a:r>
                        <a:rPr sz="2600" b="0" i="0">
                          <a:solidFill>
                            <a:srgbClr val="1A1A1A"/>
                          </a:solidFill>
                          <a:latin typeface="Calibri"/>
                        </a:rPr>
                        <a:t>Suspension travel, max [mm]</a:t>
                      </a:r>
                    </a:p>
                  </a:txBody>
                  <a:tcPr anchor="ctr" marL="109728" marR="109728" marT="27432" marB="27432">
                    <a:solidFill>
                      <a:srgbClr val="F4E9EE"/>
                    </a:solidFill>
                  </a:tcPr>
                </a:tc>
                <a:tc>
                  <a:txBody>
                    <a:bodyPr wrap="square"/>
                    <a:lstStyle/>
                    <a:p>
                      <a:pPr algn="ctr"/>
                      <a:r>
                        <a:rPr sz="2600" b="0" i="0">
                          <a:solidFill>
                            <a:srgbClr val="1A1A1A"/>
                          </a:solidFill>
                          <a:latin typeface="Calibri"/>
                        </a:rPr>
                        <a:t>32.4</a:t>
                      </a:r>
                    </a:p>
                  </a:txBody>
                  <a:tcPr anchor="ctr" marL="109728" marR="109728" marT="27432" marB="27432">
                    <a:solidFill>
                      <a:srgbClr val="F4E9EE"/>
                    </a:solidFill>
                  </a:tcPr>
                </a:tc>
                <a:tc>
                  <a:txBody>
                    <a:bodyPr wrap="square"/>
                    <a:lstStyle/>
                    <a:p>
                      <a:pPr algn="ctr"/>
                      <a:r>
                        <a:rPr sz="2600" b="1" i="0">
                          <a:solidFill>
                            <a:srgbClr val="840032"/>
                          </a:solidFill>
                          <a:latin typeface="Calibri"/>
                        </a:rPr>
                        <a:t>70.1</a:t>
                      </a:r>
                    </a:p>
                  </a:txBody>
                  <a:tcPr anchor="ctr" marL="109728" marR="109728" marT="27432" marB="27432">
                    <a:solidFill>
                      <a:srgbClr val="F4E9EE"/>
                    </a:solidFill>
                  </a:tcPr>
                </a:tc>
                <a:tc>
                  <a:txBody>
                    <a:bodyPr wrap="square"/>
                    <a:lstStyle/>
                    <a:p>
                      <a:pPr algn="ctr"/>
                      <a:r>
                        <a:rPr sz="2600" b="1" i="0">
                          <a:solidFill>
                            <a:srgbClr val="840032"/>
                          </a:solidFill>
                          <a:latin typeface="Calibri"/>
                        </a:rPr>
                        <a:t>+116 %</a:t>
                      </a:r>
                    </a:p>
                  </a:txBody>
                  <a:tcPr anchor="ctr" marL="109728" marR="109728" marT="27432" marB="27432">
                    <a:solidFill>
                      <a:srgbClr val="F4E9EE"/>
                    </a:solidFill>
                  </a:tcPr>
                </a:tc>
              </a:tr>
              <a:tr h="749808">
                <a:tc>
                  <a:txBody>
                    <a:bodyPr wrap="square"/>
                    <a:lstStyle/>
                    <a:p>
                      <a:pPr algn="l"/>
                      <a:r>
                        <a:rPr sz="2600" b="0" i="0">
                          <a:solidFill>
                            <a:srgbClr val="1A1A1A"/>
                          </a:solidFill>
                          <a:latin typeface="Calibri"/>
                        </a:rPr>
                        <a:t>Minimum normal force [N]</a:t>
                      </a:r>
                    </a:p>
                  </a:txBody>
                  <a:tcPr anchor="ctr" marL="109728" marR="109728" marT="27432" marB="27432">
                    <a:solidFill>
                      <a:srgbClr val="FFFFFF"/>
                    </a:solidFill>
                  </a:tcPr>
                </a:tc>
                <a:tc>
                  <a:txBody>
                    <a:bodyPr wrap="square"/>
                    <a:lstStyle/>
                    <a:p>
                      <a:pPr algn="ctr"/>
                      <a:r>
                        <a:rPr sz="2600" b="0" i="0">
                          <a:solidFill>
                            <a:srgbClr val="1A1A1A"/>
                          </a:solidFill>
                          <a:latin typeface="Calibri"/>
                        </a:rPr>
                        <a:t>1048</a:t>
                      </a:r>
                    </a:p>
                  </a:txBody>
                  <a:tcPr anchor="ctr" marL="109728" marR="109728" marT="27432" marB="27432">
                    <a:solidFill>
                      <a:srgbClr val="FFFFFF"/>
                    </a:solidFill>
                  </a:tcPr>
                </a:tc>
                <a:tc>
                  <a:txBody>
                    <a:bodyPr wrap="square"/>
                    <a:lstStyle/>
                    <a:p>
                      <a:pPr algn="ctr"/>
                      <a:r>
                        <a:rPr sz="2600" b="1" i="0">
                          <a:solidFill>
                            <a:srgbClr val="840032"/>
                          </a:solidFill>
                          <a:latin typeface="Calibri"/>
                        </a:rPr>
                        <a:t>0</a:t>
                      </a:r>
                    </a:p>
                  </a:txBody>
                  <a:tcPr anchor="ctr" marL="109728" marR="109728" marT="27432" marB="27432">
                    <a:solidFill>
                      <a:srgbClr val="FFFFFF"/>
                    </a:solidFill>
                  </a:tcPr>
                </a:tc>
                <a:tc>
                  <a:txBody>
                    <a:bodyPr wrap="square"/>
                    <a:lstStyle/>
                    <a:p>
                      <a:pPr algn="ctr"/>
                      <a:r>
                        <a:rPr sz="2600" b="1" i="0">
                          <a:solidFill>
                            <a:srgbClr val="840032"/>
                          </a:solidFill>
                          <a:latin typeface="Calibri"/>
                        </a:rPr>
                        <a:t>−100 %</a:t>
                      </a:r>
                    </a:p>
                  </a:txBody>
                  <a:tcPr anchor="ctr" marL="109728" marR="109728" marT="27432" marB="27432">
                    <a:solidFill>
                      <a:srgbClr val="FFFFFF"/>
                    </a:solidFill>
                  </a:tcPr>
                </a:tc>
              </a:tr>
              <a:tr h="749808">
                <a:tc>
                  <a:txBody>
                    <a:bodyPr wrap="square"/>
                    <a:lstStyle/>
                    <a:p>
                      <a:pPr algn="l"/>
                      <a:r>
                        <a:rPr sz="2600" b="0" i="0">
                          <a:solidFill>
                            <a:srgbClr val="1A1A1A"/>
                          </a:solidFill>
                          <a:latin typeface="Calibri"/>
                        </a:rPr>
                        <a:t>Time off the road [s]</a:t>
                      </a:r>
                    </a:p>
                  </a:txBody>
                  <a:tcPr anchor="ctr" marL="109728" marR="109728" marT="27432" marB="27432">
                    <a:solidFill>
                      <a:srgbClr val="F4E9EE"/>
                    </a:solidFill>
                  </a:tcPr>
                </a:tc>
                <a:tc>
                  <a:txBody>
                    <a:bodyPr wrap="square"/>
                    <a:lstStyle/>
                    <a:p>
                      <a:pPr algn="ctr"/>
                      <a:r>
                        <a:rPr sz="2600" b="0" i="0">
                          <a:solidFill>
                            <a:srgbClr val="1A1A1A"/>
                          </a:solidFill>
                          <a:latin typeface="Calibri"/>
                        </a:rPr>
                        <a:t>0.000</a:t>
                      </a:r>
                    </a:p>
                  </a:txBody>
                  <a:tcPr anchor="ctr" marL="109728" marR="109728" marT="27432" marB="27432">
                    <a:solidFill>
                      <a:srgbClr val="F4E9EE"/>
                    </a:solidFill>
                  </a:tcPr>
                </a:tc>
                <a:tc>
                  <a:txBody>
                    <a:bodyPr wrap="square"/>
                    <a:lstStyle/>
                    <a:p>
                      <a:pPr algn="ctr"/>
                      <a:r>
                        <a:rPr sz="2600" b="1" i="0">
                          <a:solidFill>
                            <a:srgbClr val="840032"/>
                          </a:solidFill>
                          <a:latin typeface="Calibri"/>
                        </a:rPr>
                        <a:t>0.140</a:t>
                      </a:r>
                    </a:p>
                  </a:txBody>
                  <a:tcPr anchor="ctr" marL="109728" marR="109728" marT="27432" marB="27432">
                    <a:solidFill>
                      <a:srgbClr val="F4E9EE"/>
                    </a:solidFill>
                  </a:tcPr>
                </a:tc>
                <a:tc>
                  <a:txBody>
                    <a:bodyPr wrap="square"/>
                    <a:lstStyle/>
                    <a:p>
                      <a:pPr algn="ctr"/>
                      <a:r>
                        <a:rPr sz="2600" b="1" i="0">
                          <a:solidFill>
                            <a:srgbClr val="840032"/>
                          </a:solidFill>
                          <a:latin typeface="Calibri"/>
                        </a:rPr>
                        <a:t>—</a:t>
                      </a:r>
                    </a:p>
                  </a:txBody>
                  <a:tcPr anchor="ctr" marL="109728" marR="109728" marT="27432" marB="27432">
                    <a:solidFill>
                      <a:srgbClr val="F4E9EE"/>
                    </a:solidFill>
                  </a:tcPr>
                </a:tc>
              </a:tr>
              <a:tr h="749808">
                <a:tc>
                  <a:txBody>
                    <a:bodyPr wrap="square"/>
                    <a:lstStyle/>
                    <a:p>
                      <a:pPr algn="l"/>
                      <a:r>
                        <a:rPr sz="2600" b="0" i="0">
                          <a:solidFill>
                            <a:srgbClr val="1A1A1A"/>
                          </a:solidFill>
                          <a:latin typeface="Calibri"/>
                        </a:rPr>
                        <a:t>Lift events</a:t>
                      </a:r>
                    </a:p>
                  </a:txBody>
                  <a:tcPr anchor="ctr" marL="109728" marR="109728" marT="27432" marB="27432">
                    <a:solidFill>
                      <a:srgbClr val="FFFFFF"/>
                    </a:solidFill>
                  </a:tcPr>
                </a:tc>
                <a:tc>
                  <a:txBody>
                    <a:bodyPr wrap="square"/>
                    <a:lstStyle/>
                    <a:p>
                      <a:pPr algn="ctr"/>
                      <a:r>
                        <a:rPr sz="2600" b="0" i="0">
                          <a:solidFill>
                            <a:srgbClr val="1A1A1A"/>
                          </a:solidFill>
                          <a:latin typeface="Calibri"/>
                        </a:rPr>
                        <a:t>0</a:t>
                      </a:r>
                    </a:p>
                  </a:txBody>
                  <a:tcPr anchor="ctr" marL="109728" marR="109728" marT="27432" marB="27432">
                    <a:solidFill>
                      <a:srgbClr val="FFFFFF"/>
                    </a:solidFill>
                  </a:tcPr>
                </a:tc>
                <a:tc>
                  <a:txBody>
                    <a:bodyPr wrap="square"/>
                    <a:lstStyle/>
                    <a:p>
                      <a:pPr algn="ctr"/>
                      <a:r>
                        <a:rPr sz="2600" b="1" i="0">
                          <a:solidFill>
                            <a:srgbClr val="840032"/>
                          </a:solidFill>
                          <a:latin typeface="Calibri"/>
                        </a:rPr>
                        <a:t>9</a:t>
                      </a:r>
                    </a:p>
                  </a:txBody>
                  <a:tcPr anchor="ctr" marL="109728" marR="109728" marT="27432" marB="27432">
                    <a:solidFill>
                      <a:srgbClr val="FFFFFF"/>
                    </a:solidFill>
                  </a:tcPr>
                </a:tc>
                <a:tc>
                  <a:txBody>
                    <a:bodyPr wrap="square"/>
                    <a:lstStyle/>
                    <a:p>
                      <a:pPr algn="ctr"/>
                      <a:r>
                        <a:rPr sz="2600" b="1" i="0">
                          <a:solidFill>
                            <a:srgbClr val="840032"/>
                          </a:solidFill>
                          <a:latin typeface="Calibri"/>
                        </a:rPr>
                        <a:t>—</a:t>
                      </a:r>
                    </a:p>
                  </a:txBody>
                  <a:tcPr anchor="ctr" marL="109728" marR="109728" marT="27432" marB="27432">
                    <a:solidFill>
                      <a:srgbClr val="FFFFFF"/>
                    </a:solidFill>
                  </a:tcPr>
                </a:tc>
              </a:tr>
              <a:tr h="749808">
                <a:tc>
                  <a:txBody>
                    <a:bodyPr wrap="square"/>
                    <a:lstStyle/>
                    <a:p>
                      <a:pPr algn="l"/>
                      <a:r>
                        <a:rPr sz="2600" b="0" i="0">
                          <a:solidFill>
                            <a:srgbClr val="1A1A1A"/>
                          </a:solidFill>
                          <a:latin typeface="Calibri"/>
                        </a:rPr>
                        <a:t>LTR, max</a:t>
                      </a:r>
                    </a:p>
                  </a:txBody>
                  <a:tcPr anchor="ctr" marL="109728" marR="109728" marT="27432" marB="27432">
                    <a:solidFill>
                      <a:srgbClr val="F4E9EE"/>
                    </a:solidFill>
                  </a:tcPr>
                </a:tc>
                <a:tc>
                  <a:txBody>
                    <a:bodyPr wrap="square"/>
                    <a:lstStyle/>
                    <a:p>
                      <a:pPr algn="ctr"/>
                      <a:r>
                        <a:rPr sz="2600" b="0" i="0">
                          <a:solidFill>
                            <a:srgbClr val="1A1A1A"/>
                          </a:solidFill>
                          <a:latin typeface="Calibri"/>
                        </a:rPr>
                        <a:t>0.232</a:t>
                      </a:r>
                    </a:p>
                  </a:txBody>
                  <a:tcPr anchor="ctr" marL="109728" marR="109728" marT="27432" marB="27432">
                    <a:solidFill>
                      <a:srgbClr val="F4E9EE"/>
                    </a:solidFill>
                  </a:tcPr>
                </a:tc>
                <a:tc>
                  <a:txBody>
                    <a:bodyPr wrap="square"/>
                    <a:lstStyle/>
                    <a:p>
                      <a:pPr algn="ctr"/>
                      <a:r>
                        <a:rPr sz="2600" b="1" i="0">
                          <a:solidFill>
                            <a:srgbClr val="840032"/>
                          </a:solidFill>
                          <a:latin typeface="Calibri"/>
                        </a:rPr>
                        <a:t>0.537</a:t>
                      </a:r>
                    </a:p>
                  </a:txBody>
                  <a:tcPr anchor="ctr" marL="109728" marR="109728" marT="27432" marB="27432">
                    <a:solidFill>
                      <a:srgbClr val="F4E9EE"/>
                    </a:solidFill>
                  </a:tcPr>
                </a:tc>
                <a:tc>
                  <a:txBody>
                    <a:bodyPr wrap="square"/>
                    <a:lstStyle/>
                    <a:p>
                      <a:pPr algn="ctr"/>
                      <a:r>
                        <a:rPr sz="2600" b="1" i="0">
                          <a:solidFill>
                            <a:srgbClr val="840032"/>
                          </a:solidFill>
                          <a:latin typeface="Calibri"/>
                        </a:rPr>
                        <a:t>—</a:t>
                      </a:r>
                    </a:p>
                  </a:txBody>
                  <a:tcPr anchor="ctr" marL="109728" marR="109728" marT="27432" marB="27432">
                    <a:solidFill>
                      <a:srgbClr val="F4E9EE"/>
                    </a:solidFill>
                  </a:tcPr>
                </a:tc>
              </a:tr>
            </a:tbl>
          </a:graphicData>
        </a:graphic>
      </p:graphicFrame>
      <p:sp>
        <p:nvSpPr>
          <p:cNvPr id="5" name="Rounded Rectangle 4"/>
          <p:cNvSpPr/>
          <p:nvPr/>
        </p:nvSpPr>
        <p:spPr>
          <a:xfrm>
            <a:off x="14447520" y="3566160"/>
            <a:ext cx="9144000" cy="329184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59000" y="3840480"/>
            <a:ext cx="8321040" cy="1131570"/>
          </a:xfrm>
          <a:prstGeom prst="rect">
            <a:avLst/>
          </a:prstGeom>
          <a:noFill/>
        </p:spPr>
        <p:txBody>
          <a:bodyPr wrap="square" anchor="t" lIns="45720" rIns="45720" tIns="27432" bIns="27432">
            <a:noAutofit/>
          </a:bodyPr>
          <a:lstStyle/>
          <a:p>
            <a:pPr algn="l"/>
            <a:r>
              <a:rPr sz="6600" b="1" i="0">
                <a:solidFill>
                  <a:srgbClr val="840032"/>
                </a:solidFill>
                <a:latin typeface="Helvetica"/>
              </a:rPr>
              <a:t>+6.5 %</a:t>
            </a:r>
          </a:p>
        </p:txBody>
      </p:sp>
      <p:sp>
        <p:nvSpPr>
          <p:cNvPr id="7" name="TextBox 6"/>
          <p:cNvSpPr txBox="1"/>
          <p:nvPr/>
        </p:nvSpPr>
        <p:spPr>
          <a:xfrm>
            <a:off x="14859000" y="5017770"/>
            <a:ext cx="8321040" cy="1611629"/>
          </a:xfrm>
          <a:prstGeom prst="rect">
            <a:avLst/>
          </a:prstGeom>
          <a:noFill/>
        </p:spPr>
        <p:txBody>
          <a:bodyPr wrap="square" anchor="t" lIns="45720" rIns="45720" tIns="27432" bIns="27432">
            <a:noAutofit/>
          </a:bodyPr>
          <a:lstStyle/>
          <a:p>
            <a:pPr algn="l"/>
            <a:r>
              <a:rPr sz="2900" b="0" i="0">
                <a:solidFill>
                  <a:srgbClr val="1A1A1A"/>
                </a:solidFill>
                <a:latin typeface="Calibri"/>
              </a:rPr>
              <a:t>weighted heave acceleration with defects: comfort stays in the same ISO 2631-1 band</a:t>
            </a:r>
          </a:p>
        </p:txBody>
      </p:sp>
      <p:sp>
        <p:nvSpPr>
          <p:cNvPr id="8" name="Rounded Rectangle 7"/>
          <p:cNvSpPr/>
          <p:nvPr/>
        </p:nvSpPr>
        <p:spPr>
          <a:xfrm>
            <a:off x="14447520" y="7223760"/>
            <a:ext cx="9144000" cy="329184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859000" y="7498080"/>
            <a:ext cx="8321040" cy="1131570"/>
          </a:xfrm>
          <a:prstGeom prst="rect">
            <a:avLst/>
          </a:prstGeom>
          <a:noFill/>
        </p:spPr>
        <p:txBody>
          <a:bodyPr wrap="square" anchor="t" lIns="45720" rIns="45720" tIns="27432" bIns="27432">
            <a:noAutofit/>
          </a:bodyPr>
          <a:lstStyle/>
          <a:p>
            <a:pPr algn="l"/>
            <a:r>
              <a:rPr sz="6600" b="1" i="0">
                <a:solidFill>
                  <a:srgbClr val="840032"/>
                </a:solidFill>
                <a:latin typeface="Helvetica"/>
              </a:rPr>
              <a:t>9 lifts</a:t>
            </a:r>
          </a:p>
        </p:txBody>
      </p:sp>
      <p:sp>
        <p:nvSpPr>
          <p:cNvPr id="10" name="TextBox 9"/>
          <p:cNvSpPr txBox="1"/>
          <p:nvPr/>
        </p:nvSpPr>
        <p:spPr>
          <a:xfrm>
            <a:off x="14859000" y="8675370"/>
            <a:ext cx="8321040" cy="1611629"/>
          </a:xfrm>
          <a:prstGeom prst="rect">
            <a:avLst/>
          </a:prstGeom>
          <a:noFill/>
        </p:spPr>
        <p:txBody>
          <a:bodyPr wrap="square" anchor="t" lIns="45720" rIns="45720" tIns="27432" bIns="27432">
            <a:noAutofit/>
          </a:bodyPr>
          <a:lstStyle/>
          <a:p>
            <a:pPr algn="l"/>
            <a:r>
              <a:rPr sz="2900" b="0" i="0">
                <a:solidFill>
                  <a:srgbClr val="1A1A1A"/>
                </a:solidFill>
                <a:latin typeface="Calibri"/>
              </a:rPr>
              <a:t>0.140 s off the road, longest 20 ms; minimum tyre load falls from 1048 N to 0</a:t>
            </a:r>
          </a:p>
        </p:txBody>
      </p:sp>
      <p:sp>
        <p:nvSpPr>
          <p:cNvPr id="11" name="TextBox 10"/>
          <p:cNvSpPr txBox="1"/>
          <p:nvPr/>
        </p:nvSpPr>
        <p:spPr>
          <a:xfrm>
            <a:off x="14447520" y="10881360"/>
            <a:ext cx="9144000" cy="1645920"/>
          </a:xfrm>
          <a:prstGeom prst="rect">
            <a:avLst/>
          </a:prstGeom>
          <a:noFill/>
        </p:spPr>
        <p:txBody>
          <a:bodyPr wrap="square" anchor="t" lIns="45720" rIns="45720" tIns="27432" bIns="27432">
            <a:noAutofit/>
          </a:bodyPr>
          <a:lstStyle/>
          <a:p>
            <a:pPr algn="l"/>
            <a:r>
              <a:rPr sz="3000" b="1" i="0">
                <a:solidFill>
                  <a:srgbClr val="840032"/>
                </a:solidFill>
                <a:latin typeface="Calibri"/>
              </a:rPr>
              <a:t>Averages barely move; road holding fails. The safety case sits at the discrete defect.</a:t>
            </a:r>
          </a:p>
        </p:txBody>
      </p:sp>
      <p:sp>
        <p:nvSpPr>
          <p:cNvPr id="12" name="TextBox 11"/>
          <p:cNvSpPr txBox="1"/>
          <p:nvPr/>
        </p:nvSpPr>
        <p:spPr>
          <a:xfrm>
            <a:off x="777240" y="12755880"/>
            <a:ext cx="22768560" cy="548640"/>
          </a:xfrm>
          <a:prstGeom prst="rect">
            <a:avLst/>
          </a:prstGeom>
          <a:noFill/>
        </p:spPr>
        <p:txBody>
          <a:bodyPr wrap="square" anchor="t" lIns="45720" rIns="45720" tIns="27432" bIns="27432">
            <a:noAutofit/>
          </a:bodyPr>
          <a:lstStyle/>
          <a:p>
            <a:pPr algn="l"/>
            <a:r>
              <a:rPr sz="2000" b="0" i="1">
                <a:solidFill>
                  <a:srgbClr val="6E6E6E"/>
                </a:solidFill>
                <a:latin typeface="Calibri"/>
              </a:rPr>
              <a:t>Baseline vehicle of Table I, ISO 8608 Class C. Static load 3973 N per corner.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2. STUDY 1: PASSIVE TRADE-OFF AND LQR TUNING</a:t>
            </a:r>
          </a:p>
        </p:txBody>
      </p:sp>
      <p:sp>
        <p:nvSpPr>
          <p:cNvPr id="4" name="Rounded Rectangle 3"/>
          <p:cNvSpPr/>
          <p:nvPr/>
        </p:nvSpPr>
        <p:spPr>
          <a:xfrm>
            <a:off x="777240" y="3566160"/>
            <a:ext cx="11155680" cy="886968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3886200"/>
            <a:ext cx="10241280" cy="731520"/>
          </a:xfrm>
          <a:prstGeom prst="rect">
            <a:avLst/>
          </a:prstGeom>
          <a:noFill/>
        </p:spPr>
        <p:txBody>
          <a:bodyPr wrap="square" anchor="t" lIns="45720" rIns="45720" tIns="27432" bIns="27432">
            <a:noAutofit/>
          </a:bodyPr>
          <a:lstStyle/>
          <a:p>
            <a:pPr algn="l"/>
            <a:r>
              <a:rPr sz="3400" b="1" i="0">
                <a:solidFill>
                  <a:srgbClr val="840032"/>
                </a:solidFill>
                <a:latin typeface="Helvetica"/>
              </a:rPr>
              <a:t>Passive design sweep</a:t>
            </a:r>
          </a:p>
        </p:txBody>
      </p:sp>
      <p:sp>
        <p:nvSpPr>
          <p:cNvPr id="6" name="TextBox 5"/>
          <p:cNvSpPr txBox="1"/>
          <p:nvPr/>
        </p:nvSpPr>
        <p:spPr>
          <a:xfrm>
            <a:off x="1234440" y="4663440"/>
            <a:ext cx="10241280" cy="1645920"/>
          </a:xfrm>
          <a:prstGeom prst="rect">
            <a:avLst/>
          </a:prstGeom>
          <a:noFill/>
        </p:spPr>
        <p:txBody>
          <a:bodyPr wrap="square" anchor="t" lIns="45720" rIns="45720" tIns="27432" bIns="27432">
            <a:noAutofit/>
          </a:bodyPr>
          <a:lstStyle/>
          <a:p>
            <a:pPr algn="l"/>
            <a:r>
              <a:rPr sz="2900" b="0" i="0">
                <a:solidFill>
                  <a:srgbClr val="1A1A1A"/>
                </a:solidFill>
                <a:latin typeface="Calibri"/>
              </a:rPr>
              <a:t>25 designs: ride frequency 1.00–1.60 Hz × damping ratio 0.15–0.45. 12 lie on the comfort / road-holding Pareto front.</a:t>
            </a:r>
          </a:p>
        </p:txBody>
      </p:sp>
      <p:graphicFrame>
        <p:nvGraphicFramePr>
          <p:cNvPr id="7" name="Table 6"/>
          <p:cNvGraphicFramePr>
            <a:graphicFrameLocks noGrp="1"/>
          </p:cNvGraphicFramePr>
          <p:nvPr/>
        </p:nvGraphicFramePr>
        <p:xfrm>
          <a:off x="1234440" y="6492240"/>
          <a:ext cx="10241280" cy="2194560"/>
        </p:xfrm>
        <a:graphic>
          <a:graphicData uri="http://schemas.openxmlformats.org/drawingml/2006/table">
            <a:tbl>
              <a:tblPr firstRow="1" bandRow="1">
                <a:tableStyleId>{5C22544A-7EE6-4342-B048-85BDC9FD1C3A}</a:tableStyleId>
              </a:tblPr>
              <a:tblGrid>
                <a:gridCol w="5120640"/>
                <a:gridCol w="2560320"/>
                <a:gridCol w="2560320"/>
              </a:tblGrid>
              <a:tr h="731520">
                <a:tc>
                  <a:txBody>
                    <a:bodyPr wrap="square"/>
                    <a:lstStyle/>
                    <a:p>
                      <a:pPr algn="l"/>
                      <a:r>
                        <a:rPr sz="2700" b="1" i="0">
                          <a:solidFill>
                            <a:srgbClr val="FFFFFF"/>
                          </a:solidFill>
                          <a:latin typeface="Calibri"/>
                        </a:rPr>
                        <a:t>Pareto endpoint</a:t>
                      </a:r>
                    </a:p>
                  </a:txBody>
                  <a:tcPr anchor="ctr" marL="109728" marR="109728" marT="27432" marB="27432">
                    <a:solidFill>
                      <a:srgbClr val="840032"/>
                    </a:solidFill>
                  </a:tcPr>
                </a:tc>
                <a:tc>
                  <a:txBody>
                    <a:bodyPr wrap="square"/>
                    <a:lstStyle/>
                    <a:p>
                      <a:pPr algn="ctr"/>
                      <a:r>
                        <a:rPr sz="2700" b="1" i="0">
                          <a:solidFill>
                            <a:srgbClr val="FFFFFF"/>
                          </a:solidFill>
                          <a:latin typeface="Calibri"/>
                        </a:rPr>
                        <a:t>W</a:t>
                      </a:r>
                      <a:r>
                        <a:rPr sz="2700" b="1" i="0" baseline="-25000">
                          <a:solidFill>
                            <a:srgbClr val="FFFFFF"/>
                          </a:solidFill>
                          <a:latin typeface="Calibri"/>
                        </a:rPr>
                        <a:t>k</a:t>
                      </a:r>
                      <a:r>
                        <a:rPr sz="2700" b="1" i="0">
                          <a:solidFill>
                            <a:srgbClr val="FFFFFF"/>
                          </a:solidFill>
                          <a:latin typeface="Calibri"/>
                        </a:rPr>
                        <a:t> [m/s²]</a:t>
                      </a:r>
                    </a:p>
                  </a:txBody>
                  <a:tcPr anchor="ctr" marL="109728" marR="109728" marT="27432" marB="27432">
                    <a:solidFill>
                      <a:srgbClr val="840032"/>
                    </a:solidFill>
                  </a:tcPr>
                </a:tc>
                <a:tc>
                  <a:txBody>
                    <a:bodyPr wrap="square"/>
                    <a:lstStyle/>
                    <a:p>
                      <a:pPr algn="ctr"/>
                      <a:r>
                        <a:rPr sz="2700" b="1" i="0">
                          <a:solidFill>
                            <a:srgbClr val="FFFFFF"/>
                          </a:solidFill>
                          <a:latin typeface="Calibri"/>
                        </a:rPr>
                        <a:t>DLC</a:t>
                      </a:r>
                    </a:p>
                  </a:txBody>
                  <a:tcPr anchor="ctr" marL="109728" marR="109728" marT="27432" marB="27432">
                    <a:solidFill>
                      <a:srgbClr val="840032"/>
                    </a:solidFill>
                  </a:tcPr>
                </a:tc>
              </a:tr>
              <a:tr h="731520">
                <a:tc>
                  <a:txBody>
                    <a:bodyPr wrap="square"/>
                    <a:lstStyle/>
                    <a:p>
                      <a:pPr algn="l"/>
                      <a:r>
                        <a:rPr sz="2700" b="0" i="0">
                          <a:solidFill>
                            <a:srgbClr val="1A1A1A"/>
                          </a:solidFill>
                          <a:latin typeface="Calibri"/>
                        </a:rPr>
                        <a:t>Best comfort</a:t>
                      </a:r>
                    </a:p>
                  </a:txBody>
                  <a:tcPr anchor="ctr" marL="109728" marR="109728" marT="27432" marB="27432">
                    <a:solidFill>
                      <a:srgbClr val="FFFFFF"/>
                    </a:solidFill>
                  </a:tcPr>
                </a:tc>
                <a:tc>
                  <a:txBody>
                    <a:bodyPr wrap="square"/>
                    <a:lstStyle/>
                    <a:p>
                      <a:pPr algn="ctr"/>
                      <a:r>
                        <a:rPr sz="2700" b="0" i="0">
                          <a:solidFill>
                            <a:srgbClr val="1A1A1A"/>
                          </a:solidFill>
                          <a:latin typeface="Calibri"/>
                        </a:rPr>
                        <a:t>0.512</a:t>
                      </a:r>
                    </a:p>
                  </a:txBody>
                  <a:tcPr anchor="ctr" marL="109728" marR="109728" marT="27432" marB="27432">
                    <a:solidFill>
                      <a:srgbClr val="FFFFFF"/>
                    </a:solidFill>
                  </a:tcPr>
                </a:tc>
                <a:tc>
                  <a:txBody>
                    <a:bodyPr wrap="square"/>
                    <a:lstStyle/>
                    <a:p>
                      <a:pPr algn="ctr"/>
                      <a:r>
                        <a:rPr sz="2700" b="0" i="0">
                          <a:solidFill>
                            <a:srgbClr val="1A1A1A"/>
                          </a:solidFill>
                          <a:latin typeface="Calibri"/>
                        </a:rPr>
                        <a:t>0.249</a:t>
                      </a:r>
                    </a:p>
                  </a:txBody>
                  <a:tcPr anchor="ctr" marL="109728" marR="109728" marT="27432" marB="27432">
                    <a:solidFill>
                      <a:srgbClr val="FFFFFF"/>
                    </a:solidFill>
                  </a:tcPr>
                </a:tc>
              </a:tr>
              <a:tr h="731520">
                <a:tc>
                  <a:txBody>
                    <a:bodyPr wrap="square"/>
                    <a:lstStyle/>
                    <a:p>
                      <a:pPr algn="l"/>
                      <a:r>
                        <a:rPr sz="2700" b="0" i="0">
                          <a:solidFill>
                            <a:srgbClr val="1A1A1A"/>
                          </a:solidFill>
                          <a:latin typeface="Calibri"/>
                        </a:rPr>
                        <a:t>Best road holding</a:t>
                      </a:r>
                    </a:p>
                  </a:txBody>
                  <a:tcPr anchor="ctr" marL="109728" marR="109728" marT="27432" marB="27432">
                    <a:solidFill>
                      <a:srgbClr val="FFFFFF"/>
                    </a:solidFill>
                  </a:tcPr>
                </a:tc>
                <a:tc>
                  <a:txBody>
                    <a:bodyPr wrap="square"/>
                    <a:lstStyle/>
                    <a:p>
                      <a:pPr algn="ctr"/>
                      <a:r>
                        <a:rPr sz="2700" b="0" i="0">
                          <a:solidFill>
                            <a:srgbClr val="1A1A1A"/>
                          </a:solidFill>
                          <a:latin typeface="Calibri"/>
                        </a:rPr>
                        <a:t>0.760</a:t>
                      </a:r>
                    </a:p>
                  </a:txBody>
                  <a:tcPr anchor="ctr" marL="109728" marR="109728" marT="27432" marB="27432">
                    <a:solidFill>
                      <a:srgbClr val="FFFFFF"/>
                    </a:solidFill>
                  </a:tcPr>
                </a:tc>
                <a:tc>
                  <a:txBody>
                    <a:bodyPr wrap="square"/>
                    <a:lstStyle/>
                    <a:p>
                      <a:pPr algn="ctr"/>
                      <a:r>
                        <a:rPr sz="2700" b="0" i="0">
                          <a:solidFill>
                            <a:srgbClr val="1A1A1A"/>
                          </a:solidFill>
                          <a:latin typeface="Calibri"/>
                        </a:rPr>
                        <a:t>0.177</a:t>
                      </a:r>
                    </a:p>
                  </a:txBody>
                  <a:tcPr anchor="ctr" marL="109728" marR="109728" marT="27432" marB="27432">
                    <a:solidFill>
                      <a:srgbClr val="FFFFFF"/>
                    </a:solidFill>
                  </a:tcPr>
                </a:tc>
              </a:tr>
            </a:tbl>
          </a:graphicData>
        </a:graphic>
      </p:graphicFrame>
      <p:sp>
        <p:nvSpPr>
          <p:cNvPr id="8" name="TextBox 7"/>
          <p:cNvSpPr txBox="1"/>
          <p:nvPr/>
        </p:nvSpPr>
        <p:spPr>
          <a:xfrm>
            <a:off x="1234440" y="8961120"/>
            <a:ext cx="10241280" cy="3383280"/>
          </a:xfrm>
          <a:prstGeom prst="rect">
            <a:avLst/>
          </a:prstGeom>
          <a:noFill/>
        </p:spPr>
        <p:txBody>
          <a:bodyPr wrap="square" lIns="45720" rIns="45720" tIns="27432" bIns="27432">
            <a:noAutofit/>
          </a:bodyPr>
          <a:lstStyle/>
          <a:p>
            <a:pPr algn="l" marL="411480" indent="-411480">
              <a:spcAft>
                <a:spcPts val="1000"/>
              </a:spcAft>
              <a:buFont typeface="Arial"/>
              <a:buChar char="•"/>
            </a:pPr>
            <a:r>
              <a:rPr sz="2800" b="0" i="0">
                <a:solidFill>
                  <a:srgbClr val="1A1A1A"/>
                </a:solidFill>
                <a:latin typeface="Calibri"/>
              </a:rPr>
              <a:t>Endpoint to endpoint: DLC changes 40 %, working space 106 %</a:t>
            </a:r>
          </a:p>
          <a:p>
            <a:pPr algn="l" marL="411480" indent="-411480">
              <a:spcAft>
                <a:spcPts val="1000"/>
              </a:spcAft>
              <a:buFont typeface="Arial"/>
              <a:buChar char="•"/>
            </a:pPr>
            <a:r>
              <a:rPr sz="2800" b="0" i="0">
                <a:solidFill>
                  <a:srgbClr val="1A1A1A"/>
                </a:solidFill>
                <a:latin typeface="Calibri"/>
              </a:rPr>
              <a:t>No tuning reaches the ISO 2631-1 “not uncomfortable” band</a:t>
            </a:r>
          </a:p>
          <a:p>
            <a:pPr algn="l" marL="411480" indent="-411480">
              <a:spcAft>
                <a:spcPts val="1000"/>
              </a:spcAft>
              <a:buFont typeface="Arial"/>
              <a:buChar char="•"/>
            </a:pPr>
            <a:r>
              <a:rPr sz="2800" b="0" i="0">
                <a:solidFill>
                  <a:srgbClr val="1A1A1A"/>
                </a:solidFill>
                <a:latin typeface="Calibri"/>
              </a:rPr>
              <a:t>Reference for the active car: balanced point, 1.00 Hz, ζ = 0.30</a:t>
            </a:r>
          </a:p>
        </p:txBody>
      </p:sp>
      <p:sp>
        <p:nvSpPr>
          <p:cNvPr id="9" name="Rounded Rectangle 8"/>
          <p:cNvSpPr/>
          <p:nvPr/>
        </p:nvSpPr>
        <p:spPr>
          <a:xfrm>
            <a:off x="12435840" y="3566160"/>
            <a:ext cx="11155680" cy="8869680"/>
          </a:xfrm>
          <a:prstGeom prst="roundRect">
            <a:avLst>
              <a:gd name="adj" fmla="val 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93040" y="3886200"/>
            <a:ext cx="10241280" cy="731520"/>
          </a:xfrm>
          <a:prstGeom prst="rect">
            <a:avLst/>
          </a:prstGeom>
          <a:noFill/>
        </p:spPr>
        <p:txBody>
          <a:bodyPr wrap="square" anchor="t" lIns="45720" rIns="45720" tIns="27432" bIns="27432">
            <a:noAutofit/>
          </a:bodyPr>
          <a:lstStyle/>
          <a:p>
            <a:pPr algn="l"/>
            <a:r>
              <a:rPr sz="3400" b="1" i="0">
                <a:solidFill>
                  <a:srgbClr val="840032"/>
                </a:solidFill>
                <a:latin typeface="Helvetica"/>
              </a:rPr>
              <a:t>Active LQR: selection rule</a:t>
            </a:r>
          </a:p>
        </p:txBody>
      </p:sp>
      <p:sp>
        <p:nvSpPr>
          <p:cNvPr id="11" name="Oval 10"/>
          <p:cNvSpPr/>
          <p:nvPr/>
        </p:nvSpPr>
        <p:spPr>
          <a:xfrm>
            <a:off x="12893040" y="4800600"/>
            <a:ext cx="731520" cy="731520"/>
          </a:xfrm>
          <a:prstGeom prst="ellipse">
            <a:avLst/>
          </a:prstGeom>
          <a:solidFill>
            <a:srgbClr val="8400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i="0">
                <a:solidFill>
                  <a:srgbClr val="FFFFFF"/>
                </a:solidFill>
                <a:latin typeface="Helvetica"/>
              </a:rPr>
              <a:t>1</a:t>
            </a:r>
          </a:p>
        </p:txBody>
      </p:sp>
      <p:sp>
        <p:nvSpPr>
          <p:cNvPr id="12" name="TextBox 11"/>
          <p:cNvSpPr txBox="1"/>
          <p:nvPr/>
        </p:nvSpPr>
        <p:spPr>
          <a:xfrm>
            <a:off x="13898880" y="4818888"/>
            <a:ext cx="9235440" cy="1280160"/>
          </a:xfrm>
          <a:prstGeom prst="rect">
            <a:avLst/>
          </a:prstGeom>
          <a:noFill/>
        </p:spPr>
        <p:txBody>
          <a:bodyPr wrap="square" anchor="t" lIns="45720" rIns="45720" tIns="27432" bIns="27432">
            <a:noAutofit/>
          </a:bodyPr>
          <a:lstStyle/>
          <a:p>
            <a:pPr algn="l"/>
            <a:r>
              <a:rPr sz="2800" b="0" i="0">
                <a:solidFill>
                  <a:srgbClr val="1A1A1A"/>
                </a:solidFill>
                <a:latin typeface="Calibri"/>
              </a:rPr>
              <a:t>90 candidate gains: comfort vs road-holding priority α × actuator-effort penalty ρ</a:t>
            </a:r>
          </a:p>
        </p:txBody>
      </p:sp>
      <p:sp>
        <p:nvSpPr>
          <p:cNvPr id="13" name="Oval 12"/>
          <p:cNvSpPr/>
          <p:nvPr/>
        </p:nvSpPr>
        <p:spPr>
          <a:xfrm>
            <a:off x="12893040" y="6263640"/>
            <a:ext cx="731520" cy="731520"/>
          </a:xfrm>
          <a:prstGeom prst="ellipse">
            <a:avLst/>
          </a:prstGeom>
          <a:solidFill>
            <a:srgbClr val="8400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i="0">
                <a:solidFill>
                  <a:srgbClr val="FFFFFF"/>
                </a:solidFill>
                <a:latin typeface="Helvetica"/>
              </a:rPr>
              <a:t>2</a:t>
            </a:r>
          </a:p>
        </p:txBody>
      </p:sp>
      <p:sp>
        <p:nvSpPr>
          <p:cNvPr id="14" name="TextBox 13"/>
          <p:cNvSpPr txBox="1"/>
          <p:nvPr/>
        </p:nvSpPr>
        <p:spPr>
          <a:xfrm>
            <a:off x="13898880" y="6281927"/>
            <a:ext cx="9235440" cy="1280160"/>
          </a:xfrm>
          <a:prstGeom prst="rect">
            <a:avLst/>
          </a:prstGeom>
          <a:noFill/>
        </p:spPr>
        <p:txBody>
          <a:bodyPr wrap="square" anchor="t" lIns="45720" rIns="45720" tIns="27432" bIns="27432">
            <a:noAutofit/>
          </a:bodyPr>
          <a:lstStyle/>
          <a:p>
            <a:pPr algn="l"/>
            <a:r>
              <a:rPr sz="2800" b="0" i="0">
                <a:solidFill>
                  <a:srgbClr val="1A1A1A"/>
                </a:solidFill>
                <a:latin typeface="Calibri"/>
              </a:rPr>
              <a:t>Each simulated on 9 nonlinear tuning cases, actuator saturated at ±15 kN</a:t>
            </a:r>
          </a:p>
        </p:txBody>
      </p:sp>
      <p:sp>
        <p:nvSpPr>
          <p:cNvPr id="15" name="Oval 14"/>
          <p:cNvSpPr/>
          <p:nvPr/>
        </p:nvSpPr>
        <p:spPr>
          <a:xfrm>
            <a:off x="12893040" y="7726679"/>
            <a:ext cx="731520" cy="731520"/>
          </a:xfrm>
          <a:prstGeom prst="ellipse">
            <a:avLst/>
          </a:prstGeom>
          <a:solidFill>
            <a:srgbClr val="8400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i="0">
                <a:solidFill>
                  <a:srgbClr val="FFFFFF"/>
                </a:solidFill>
                <a:latin typeface="Helvetica"/>
              </a:rPr>
              <a:t>3</a:t>
            </a:r>
          </a:p>
        </p:txBody>
      </p:sp>
      <p:sp>
        <p:nvSpPr>
          <p:cNvPr id="16" name="TextBox 15"/>
          <p:cNvSpPr txBox="1"/>
          <p:nvPr/>
        </p:nvSpPr>
        <p:spPr>
          <a:xfrm>
            <a:off x="13898880" y="7744967"/>
            <a:ext cx="9235440" cy="2468880"/>
          </a:xfrm>
          <a:prstGeom prst="rect">
            <a:avLst/>
          </a:prstGeom>
          <a:noFill/>
        </p:spPr>
        <p:txBody>
          <a:bodyPr wrap="square" anchor="t" lIns="45720" rIns="45720" tIns="27432" bIns="27432">
            <a:noAutofit/>
          </a:bodyPr>
          <a:lstStyle/>
          <a:p>
            <a:pPr algn="l"/>
            <a:r>
              <a:rPr sz="2800" b="0" i="0">
                <a:solidFill>
                  <a:srgbClr val="1A1A1A"/>
                </a:solidFill>
                <a:latin typeface="Calibri"/>
              </a:rPr>
              <a:t>Admitted only if: travel limit held, no lift on Class C, ≤ 20 ms extra lift on defect roads, ≤ 1 % saturation, comfort and road holding within 5 % of passive</a:t>
            </a:r>
          </a:p>
        </p:txBody>
      </p:sp>
      <p:sp>
        <p:nvSpPr>
          <p:cNvPr id="17" name="Rounded Rectangle 16"/>
          <p:cNvSpPr/>
          <p:nvPr/>
        </p:nvSpPr>
        <p:spPr>
          <a:xfrm>
            <a:off x="12893040" y="10561320"/>
            <a:ext cx="10241280" cy="1417320"/>
          </a:xfrm>
          <a:prstGeom prst="roundRect">
            <a:avLst>
              <a:gd name="adj" fmla="val 5000"/>
            </a:avLst>
          </a:prstGeom>
          <a:solidFill>
            <a:srgbClr val="8400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93040" y="10561320"/>
            <a:ext cx="10241280" cy="1417320"/>
          </a:xfrm>
          <a:prstGeom prst="rect">
            <a:avLst/>
          </a:prstGeom>
          <a:noFill/>
        </p:spPr>
        <p:txBody>
          <a:bodyPr wrap="square" anchor="ctr" lIns="45720" rIns="45720" tIns="27432" bIns="27432">
            <a:noAutofit/>
          </a:bodyPr>
          <a:lstStyle/>
          <a:p>
            <a:pPr algn="ctr"/>
            <a:r>
              <a:rPr sz="3200" b="1" i="0">
                <a:solidFill>
                  <a:srgbClr val="FFFFFF"/>
                </a:solidFill>
                <a:latin typeface="Helvetica"/>
              </a:rPr>
              <a:t>Selected gain:  α = 0.05,  ρ = 300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2. STUDY 1: WHAT FEEDBACK ACHIEVES</a:t>
            </a:r>
          </a:p>
        </p:txBody>
      </p:sp>
      <p:graphicFrame>
        <p:nvGraphicFramePr>
          <p:cNvPr id="4" name="Chart 3"/>
          <p:cNvGraphicFramePr>
            <a:graphicFrameLocks noGrp="1"/>
          </p:cNvGraphicFramePr>
          <p:nvPr/>
        </p:nvGraphicFramePr>
        <p:xfrm>
          <a:off x="777240" y="3566160"/>
          <a:ext cx="13075920" cy="8869680"/>
        </p:xfrm>
        <a:graphic>
          <a:graphicData uri="http://schemas.openxmlformats.org/drawingml/2006/chart">
            <c:chart xmlns:c="http://schemas.openxmlformats.org/drawingml/2006/chart" r:id="rId3"/>
          </a:graphicData>
        </a:graphic>
      </p:graphicFrame>
      <p:sp>
        <p:nvSpPr>
          <p:cNvPr id="5" name="Rounded Rectangle 4"/>
          <p:cNvSpPr/>
          <p:nvPr/>
        </p:nvSpPr>
        <p:spPr>
          <a:xfrm>
            <a:off x="14356080" y="3566160"/>
            <a:ext cx="4480560" cy="274320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767559" y="3840480"/>
            <a:ext cx="3657600" cy="891540"/>
          </a:xfrm>
          <a:prstGeom prst="rect">
            <a:avLst/>
          </a:prstGeom>
          <a:noFill/>
        </p:spPr>
        <p:txBody>
          <a:bodyPr wrap="square" anchor="t" lIns="45720" rIns="45720" tIns="27432" bIns="27432">
            <a:noAutofit/>
          </a:bodyPr>
          <a:lstStyle/>
          <a:p>
            <a:pPr algn="l"/>
            <a:r>
              <a:rPr sz="5200" b="1" i="0">
                <a:solidFill>
                  <a:srgbClr val="840032"/>
                </a:solidFill>
                <a:latin typeface="Helvetica"/>
              </a:rPr>
              <a:t>−0.4 %</a:t>
            </a:r>
          </a:p>
        </p:txBody>
      </p:sp>
      <p:sp>
        <p:nvSpPr>
          <p:cNvPr id="7" name="TextBox 6"/>
          <p:cNvSpPr txBox="1"/>
          <p:nvPr/>
        </p:nvSpPr>
        <p:spPr>
          <a:xfrm>
            <a:off x="14767559" y="4777740"/>
            <a:ext cx="3657600" cy="1303019"/>
          </a:xfrm>
          <a:prstGeom prst="rect">
            <a:avLst/>
          </a:prstGeom>
          <a:noFill/>
        </p:spPr>
        <p:txBody>
          <a:bodyPr wrap="square" anchor="t" lIns="45720" rIns="45720" tIns="27432" bIns="27432">
            <a:noAutofit/>
          </a:bodyPr>
          <a:lstStyle/>
          <a:p>
            <a:pPr algn="l"/>
            <a:r>
              <a:rPr sz="2600" b="0" i="0">
                <a:solidFill>
                  <a:srgbClr val="1A1A1A"/>
                </a:solidFill>
                <a:latin typeface="Calibri"/>
              </a:rPr>
              <a:t>W</a:t>
            </a:r>
            <a:r>
              <a:rPr sz="2600" b="0" i="0" baseline="-25000">
                <a:solidFill>
                  <a:srgbClr val="1A1A1A"/>
                </a:solidFill>
                <a:latin typeface="Calibri"/>
              </a:rPr>
              <a:t>k</a:t>
            </a:r>
            <a:r>
              <a:rPr sz="2600" b="0" i="0">
                <a:solidFill>
                  <a:srgbClr val="1A1A1A"/>
                </a:solidFill>
                <a:latin typeface="Calibri"/>
              </a:rPr>
              <a:t> heave RMS</a:t>
            </a:r>
          </a:p>
        </p:txBody>
      </p:sp>
      <p:sp>
        <p:nvSpPr>
          <p:cNvPr id="8" name="Rounded Rectangle 7"/>
          <p:cNvSpPr/>
          <p:nvPr/>
        </p:nvSpPr>
        <p:spPr>
          <a:xfrm>
            <a:off x="19202400" y="3566160"/>
            <a:ext cx="4480560" cy="274320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613880" y="3840480"/>
            <a:ext cx="3657600" cy="891540"/>
          </a:xfrm>
          <a:prstGeom prst="rect">
            <a:avLst/>
          </a:prstGeom>
          <a:noFill/>
        </p:spPr>
        <p:txBody>
          <a:bodyPr wrap="square" anchor="t" lIns="45720" rIns="45720" tIns="27432" bIns="27432">
            <a:noAutofit/>
          </a:bodyPr>
          <a:lstStyle/>
          <a:p>
            <a:pPr algn="l"/>
            <a:r>
              <a:rPr sz="5200" b="1" i="0">
                <a:solidFill>
                  <a:srgbClr val="840032"/>
                </a:solidFill>
                <a:latin typeface="Helvetica"/>
              </a:rPr>
              <a:t>−0.3 %</a:t>
            </a:r>
          </a:p>
        </p:txBody>
      </p:sp>
      <p:sp>
        <p:nvSpPr>
          <p:cNvPr id="10" name="TextBox 9"/>
          <p:cNvSpPr txBox="1"/>
          <p:nvPr/>
        </p:nvSpPr>
        <p:spPr>
          <a:xfrm>
            <a:off x="19613880" y="4777740"/>
            <a:ext cx="3657600" cy="1303019"/>
          </a:xfrm>
          <a:prstGeom prst="rect">
            <a:avLst/>
          </a:prstGeom>
          <a:noFill/>
        </p:spPr>
        <p:txBody>
          <a:bodyPr wrap="square" anchor="t" lIns="45720" rIns="45720" tIns="27432" bIns="27432">
            <a:noAutofit/>
          </a:bodyPr>
          <a:lstStyle/>
          <a:p>
            <a:pPr algn="l"/>
            <a:r>
              <a:rPr sz="2600" b="0" i="0">
                <a:solidFill>
                  <a:srgbClr val="1A1A1A"/>
                </a:solidFill>
                <a:latin typeface="Calibri"/>
              </a:rPr>
              <a:t>dynamic load coefficient</a:t>
            </a:r>
          </a:p>
        </p:txBody>
      </p:sp>
      <p:sp>
        <p:nvSpPr>
          <p:cNvPr id="11" name="Rounded Rectangle 10"/>
          <p:cNvSpPr/>
          <p:nvPr/>
        </p:nvSpPr>
        <p:spPr>
          <a:xfrm>
            <a:off x="14356080" y="6583680"/>
            <a:ext cx="4480560" cy="274320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767559" y="6858000"/>
            <a:ext cx="3657600" cy="891540"/>
          </a:xfrm>
          <a:prstGeom prst="rect">
            <a:avLst/>
          </a:prstGeom>
          <a:noFill/>
        </p:spPr>
        <p:txBody>
          <a:bodyPr wrap="square" anchor="t" lIns="45720" rIns="45720" tIns="27432" bIns="27432">
            <a:noAutofit/>
          </a:bodyPr>
          <a:lstStyle/>
          <a:p>
            <a:pPr algn="l"/>
            <a:r>
              <a:rPr sz="5200" b="1" i="0">
                <a:solidFill>
                  <a:srgbClr val="840032"/>
                </a:solidFill>
                <a:latin typeface="Helvetica"/>
              </a:rPr>
              <a:t>+4 %</a:t>
            </a:r>
          </a:p>
        </p:txBody>
      </p:sp>
      <p:sp>
        <p:nvSpPr>
          <p:cNvPr id="13" name="TextBox 12"/>
          <p:cNvSpPr txBox="1"/>
          <p:nvPr/>
        </p:nvSpPr>
        <p:spPr>
          <a:xfrm>
            <a:off x="14767559" y="7795260"/>
            <a:ext cx="3657600" cy="1303019"/>
          </a:xfrm>
          <a:prstGeom prst="rect">
            <a:avLst/>
          </a:prstGeom>
          <a:noFill/>
        </p:spPr>
        <p:txBody>
          <a:bodyPr wrap="square" anchor="t" lIns="45720" rIns="45720" tIns="27432" bIns="27432">
            <a:noAutofit/>
          </a:bodyPr>
          <a:lstStyle/>
          <a:p>
            <a:pPr algn="l"/>
            <a:r>
              <a:rPr sz="2600" b="0" i="0">
                <a:solidFill>
                  <a:srgbClr val="1A1A1A"/>
                </a:solidFill>
                <a:latin typeface="Calibri"/>
              </a:rPr>
              <a:t>pitch and roll RMS</a:t>
            </a:r>
          </a:p>
        </p:txBody>
      </p:sp>
      <p:sp>
        <p:nvSpPr>
          <p:cNvPr id="14" name="Rounded Rectangle 13"/>
          <p:cNvSpPr/>
          <p:nvPr/>
        </p:nvSpPr>
        <p:spPr>
          <a:xfrm>
            <a:off x="19202400" y="6583680"/>
            <a:ext cx="4480560" cy="274320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613880" y="6858000"/>
            <a:ext cx="3657600" cy="891540"/>
          </a:xfrm>
          <a:prstGeom prst="rect">
            <a:avLst/>
          </a:prstGeom>
          <a:noFill/>
        </p:spPr>
        <p:txBody>
          <a:bodyPr wrap="square" anchor="t" lIns="45720" rIns="45720" tIns="27432" bIns="27432">
            <a:noAutofit/>
          </a:bodyPr>
          <a:lstStyle/>
          <a:p>
            <a:pPr algn="l"/>
            <a:r>
              <a:rPr sz="5200" b="1" i="0">
                <a:solidFill>
                  <a:srgbClr val="840032"/>
                </a:solidFill>
                <a:latin typeface="Helvetica"/>
              </a:rPr>
              <a:t>0.02 kN</a:t>
            </a:r>
          </a:p>
        </p:txBody>
      </p:sp>
      <p:sp>
        <p:nvSpPr>
          <p:cNvPr id="16" name="TextBox 15"/>
          <p:cNvSpPr txBox="1"/>
          <p:nvPr/>
        </p:nvSpPr>
        <p:spPr>
          <a:xfrm>
            <a:off x="19613880" y="7795260"/>
            <a:ext cx="3657600" cy="1303019"/>
          </a:xfrm>
          <a:prstGeom prst="rect">
            <a:avLst/>
          </a:prstGeom>
          <a:noFill/>
        </p:spPr>
        <p:txBody>
          <a:bodyPr wrap="square" anchor="t" lIns="45720" rIns="45720" tIns="27432" bIns="27432">
            <a:noAutofit/>
          </a:bodyPr>
          <a:lstStyle/>
          <a:p>
            <a:pPr algn="l"/>
            <a:r>
              <a:rPr sz="2600" b="0" i="0">
                <a:solidFill>
                  <a:srgbClr val="1A1A1A"/>
                </a:solidFill>
                <a:latin typeface="Calibri"/>
              </a:rPr>
              <a:t>actuator RMS (limit 15 kN)</a:t>
            </a:r>
          </a:p>
        </p:txBody>
      </p:sp>
      <p:sp>
        <p:nvSpPr>
          <p:cNvPr id="17" name="TextBox 16"/>
          <p:cNvSpPr txBox="1"/>
          <p:nvPr/>
        </p:nvSpPr>
        <p:spPr>
          <a:xfrm>
            <a:off x="14356080" y="9692640"/>
            <a:ext cx="9326880" cy="2743200"/>
          </a:xfrm>
          <a:prstGeom prst="rect">
            <a:avLst/>
          </a:prstGeom>
          <a:noFill/>
        </p:spPr>
        <p:txBody>
          <a:bodyPr wrap="square" anchor="t" lIns="45720" rIns="45720" tIns="27432" bIns="27432">
            <a:noAutofit/>
          </a:bodyPr>
          <a:lstStyle/>
          <a:p>
            <a:pPr algn="l"/>
            <a:r>
              <a:rPr sz="3000" b="1" i="0">
                <a:solidFill>
                  <a:srgbClr val="840032"/>
                </a:solidFill>
                <a:latin typeface="Calibri"/>
              </a:rPr>
              <a:t>No candidate prevents wheel lift at a defect. State feedback acts on the car’s own motion, so it responds only after the wheel is struck.</a:t>
            </a:r>
          </a:p>
        </p:txBody>
      </p:sp>
      <p:sp>
        <p:nvSpPr>
          <p:cNvPr id="18" name="TextBox 17"/>
          <p:cNvSpPr txBox="1"/>
          <p:nvPr/>
        </p:nvSpPr>
        <p:spPr>
          <a:xfrm>
            <a:off x="777240" y="12755880"/>
            <a:ext cx="22768560" cy="548640"/>
          </a:xfrm>
          <a:prstGeom prst="rect">
            <a:avLst/>
          </a:prstGeom>
          <a:noFill/>
        </p:spPr>
        <p:txBody>
          <a:bodyPr wrap="square" anchor="t" lIns="45720" rIns="45720" tIns="27432" bIns="27432">
            <a:noAutofit/>
          </a:bodyPr>
          <a:lstStyle/>
          <a:p>
            <a:pPr algn="l"/>
            <a:r>
              <a:rPr sz="2000" b="0" i="1">
                <a:solidFill>
                  <a:srgbClr val="6E6E6E"/>
                </a:solidFill>
                <a:latin typeface="Calibri"/>
              </a:rPr>
              <a:t>Same mechanics, roads and defect placements; only the actuator force differs. Gains up to ≈ 11 % on W</a:t>
            </a:r>
            <a:r>
              <a:rPr sz="2000" b="0" i="1" baseline="-25000">
                <a:solidFill>
                  <a:srgbClr val="6E6E6E"/>
                </a:solidFill>
                <a:latin typeface="Calibri"/>
              </a:rPr>
              <a:t>k</a:t>
            </a:r>
            <a:r>
              <a:rPr sz="2000" b="0" i="1">
                <a:solidFill>
                  <a:srgbClr val="6E6E6E"/>
                </a:solidFill>
                <a:latin typeface="Calibri"/>
              </a:rPr>
              <a:t> exist but raise DLC or attitude above passive.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2. STUDY 1: WHAT CARRIES FORWARD</a:t>
            </a:r>
          </a:p>
        </p:txBody>
      </p:sp>
      <p:sp>
        <p:nvSpPr>
          <p:cNvPr id="4" name="Rounded Rectangle 3"/>
          <p:cNvSpPr/>
          <p:nvPr/>
        </p:nvSpPr>
        <p:spPr>
          <a:xfrm>
            <a:off x="777240" y="3566160"/>
            <a:ext cx="7315200" cy="722376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840480"/>
            <a:ext cx="6492240" cy="1097280"/>
          </a:xfrm>
          <a:prstGeom prst="rect">
            <a:avLst/>
          </a:prstGeom>
          <a:noFill/>
        </p:spPr>
        <p:txBody>
          <a:bodyPr wrap="square" anchor="t" lIns="45720" rIns="45720" tIns="27432" bIns="27432">
            <a:noAutofit/>
          </a:bodyPr>
          <a:lstStyle/>
          <a:p>
            <a:pPr algn="l"/>
            <a:r>
              <a:rPr sz="6000" b="1" i="0">
                <a:solidFill>
                  <a:srgbClr val="840032"/>
                </a:solidFill>
                <a:latin typeface="Helvetica"/>
              </a:rPr>
              <a:t>01</a:t>
            </a:r>
          </a:p>
        </p:txBody>
      </p:sp>
      <p:sp>
        <p:nvSpPr>
          <p:cNvPr id="6" name="TextBox 5"/>
          <p:cNvSpPr txBox="1"/>
          <p:nvPr/>
        </p:nvSpPr>
        <p:spPr>
          <a:xfrm>
            <a:off x="1188720" y="5029200"/>
            <a:ext cx="6492240" cy="1188720"/>
          </a:xfrm>
          <a:prstGeom prst="rect">
            <a:avLst/>
          </a:prstGeom>
          <a:noFill/>
        </p:spPr>
        <p:txBody>
          <a:bodyPr wrap="square" anchor="t" lIns="45720" rIns="45720" tIns="27432" bIns="27432">
            <a:noAutofit/>
          </a:bodyPr>
          <a:lstStyle/>
          <a:p>
            <a:pPr algn="l"/>
            <a:r>
              <a:rPr sz="3300" b="1" i="0">
                <a:solidFill>
                  <a:srgbClr val="1A1A1A"/>
                </a:solidFill>
                <a:latin typeface="Calibri"/>
              </a:rPr>
              <a:t>Class C: tyres stay loaded</a:t>
            </a:r>
          </a:p>
        </p:txBody>
      </p:sp>
      <p:sp>
        <p:nvSpPr>
          <p:cNvPr id="7" name="TextBox 6"/>
          <p:cNvSpPr txBox="1"/>
          <p:nvPr/>
        </p:nvSpPr>
        <p:spPr>
          <a:xfrm>
            <a:off x="1188720" y="6172200"/>
            <a:ext cx="6492240" cy="3566160"/>
          </a:xfrm>
          <a:prstGeom prst="rect">
            <a:avLst/>
          </a:prstGeom>
          <a:noFill/>
        </p:spPr>
        <p:txBody>
          <a:bodyPr wrap="square" anchor="t" lIns="45720" rIns="45720" tIns="27432" bIns="27432">
            <a:noAutofit/>
          </a:bodyPr>
          <a:lstStyle/>
          <a:p>
            <a:pPr algn="l"/>
            <a:r>
              <a:rPr sz="3000" b="0" i="0">
                <a:solidFill>
                  <a:srgbClr val="1A1A1A"/>
                </a:solidFill>
                <a:latin typeface="Calibri"/>
              </a:rPr>
              <a:t>On a maintained road, active control is a comfort and attitude tool. The safety case has to be made at discrete defects.</a:t>
            </a:r>
          </a:p>
        </p:txBody>
      </p:sp>
      <p:sp>
        <p:nvSpPr>
          <p:cNvPr id="8" name="TextBox 7"/>
          <p:cNvSpPr txBox="1"/>
          <p:nvPr/>
        </p:nvSpPr>
        <p:spPr>
          <a:xfrm>
            <a:off x="1188720" y="9829800"/>
            <a:ext cx="6492240" cy="640080"/>
          </a:xfrm>
          <a:prstGeom prst="rect">
            <a:avLst/>
          </a:prstGeom>
          <a:noFill/>
        </p:spPr>
        <p:txBody>
          <a:bodyPr wrap="square" anchor="t" lIns="45720" rIns="45720" tIns="27432" bIns="27432">
            <a:noAutofit/>
          </a:bodyPr>
          <a:lstStyle/>
          <a:p>
            <a:pPr algn="l"/>
            <a:r>
              <a:rPr sz="2900" b="1" i="0">
                <a:solidFill>
                  <a:srgbClr val="840032"/>
                </a:solidFill>
                <a:latin typeface="Calibri"/>
              </a:rPr>
              <a:t>→ focus on the defect</a:t>
            </a:r>
          </a:p>
        </p:txBody>
      </p:sp>
      <p:sp>
        <p:nvSpPr>
          <p:cNvPr id="9" name="Rounded Rectangle 8"/>
          <p:cNvSpPr/>
          <p:nvPr/>
        </p:nvSpPr>
        <p:spPr>
          <a:xfrm>
            <a:off x="8458200" y="3566160"/>
            <a:ext cx="7315200" cy="7223760"/>
          </a:xfrm>
          <a:prstGeom prst="roundRect">
            <a:avLst>
              <a:gd name="adj" fmla="val 5000"/>
            </a:avLst>
          </a:prstGeom>
          <a:solidFill>
            <a:srgbClr val="E6C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0" y="3840480"/>
            <a:ext cx="6492240" cy="1097280"/>
          </a:xfrm>
          <a:prstGeom prst="rect">
            <a:avLst/>
          </a:prstGeom>
          <a:noFill/>
        </p:spPr>
        <p:txBody>
          <a:bodyPr wrap="square" anchor="t" lIns="45720" rIns="45720" tIns="27432" bIns="27432">
            <a:noAutofit/>
          </a:bodyPr>
          <a:lstStyle/>
          <a:p>
            <a:pPr algn="l"/>
            <a:r>
              <a:rPr sz="6000" b="1" i="0">
                <a:solidFill>
                  <a:srgbClr val="840032"/>
                </a:solidFill>
                <a:latin typeface="Helvetica"/>
              </a:rPr>
              <a:t>02</a:t>
            </a:r>
          </a:p>
        </p:txBody>
      </p:sp>
      <p:sp>
        <p:nvSpPr>
          <p:cNvPr id="11" name="TextBox 10"/>
          <p:cNvSpPr txBox="1"/>
          <p:nvPr/>
        </p:nvSpPr>
        <p:spPr>
          <a:xfrm>
            <a:off x="8869680" y="5029200"/>
            <a:ext cx="6492240" cy="1188720"/>
          </a:xfrm>
          <a:prstGeom prst="rect">
            <a:avLst/>
          </a:prstGeom>
          <a:noFill/>
        </p:spPr>
        <p:txBody>
          <a:bodyPr wrap="square" anchor="t" lIns="45720" rIns="45720" tIns="27432" bIns="27432">
            <a:noAutofit/>
          </a:bodyPr>
          <a:lstStyle/>
          <a:p>
            <a:pPr algn="l"/>
            <a:r>
              <a:rPr sz="3300" b="1" i="0">
                <a:solidFill>
                  <a:srgbClr val="1A1A1A"/>
                </a:solidFill>
                <a:latin typeface="Calibri"/>
              </a:rPr>
              <a:t>Feedback cannot stop the lift</a:t>
            </a:r>
          </a:p>
        </p:txBody>
      </p:sp>
      <p:sp>
        <p:nvSpPr>
          <p:cNvPr id="12" name="TextBox 11"/>
          <p:cNvSpPr txBox="1"/>
          <p:nvPr/>
        </p:nvSpPr>
        <p:spPr>
          <a:xfrm>
            <a:off x="8869680" y="6172200"/>
            <a:ext cx="6492240" cy="3566160"/>
          </a:xfrm>
          <a:prstGeom prst="rect">
            <a:avLst/>
          </a:prstGeom>
          <a:noFill/>
        </p:spPr>
        <p:txBody>
          <a:bodyPr wrap="square" anchor="t" lIns="45720" rIns="45720" tIns="27432" bIns="27432">
            <a:noAutofit/>
          </a:bodyPr>
          <a:lstStyle/>
          <a:p>
            <a:pPr algn="l"/>
            <a:r>
              <a:rPr sz="3000" b="0" i="0">
                <a:solidFill>
                  <a:srgbClr val="1A1A1A"/>
                </a:solidFill>
                <a:latin typeface="Calibri"/>
              </a:rPr>
              <a:t>Lift time is unchanged to the millisecond at every weighting tested: a structural limit, not a tuning one.</a:t>
            </a:r>
          </a:p>
        </p:txBody>
      </p:sp>
      <p:sp>
        <p:nvSpPr>
          <p:cNvPr id="13" name="TextBox 12"/>
          <p:cNvSpPr txBox="1"/>
          <p:nvPr/>
        </p:nvSpPr>
        <p:spPr>
          <a:xfrm>
            <a:off x="8869680" y="9829800"/>
            <a:ext cx="6492240" cy="640080"/>
          </a:xfrm>
          <a:prstGeom prst="rect">
            <a:avLst/>
          </a:prstGeom>
          <a:noFill/>
        </p:spPr>
        <p:txBody>
          <a:bodyPr wrap="square" anchor="t" lIns="45720" rIns="45720" tIns="27432" bIns="27432">
            <a:noAutofit/>
          </a:bodyPr>
          <a:lstStyle/>
          <a:p>
            <a:pPr algn="l"/>
            <a:r>
              <a:rPr sz="2900" b="1" i="0">
                <a:solidFill>
                  <a:srgbClr val="840032"/>
                </a:solidFill>
                <a:latin typeface="Calibri"/>
              </a:rPr>
              <a:t>→ motivates preview</a:t>
            </a:r>
          </a:p>
        </p:txBody>
      </p:sp>
      <p:sp>
        <p:nvSpPr>
          <p:cNvPr id="14" name="Rounded Rectangle 13"/>
          <p:cNvSpPr/>
          <p:nvPr/>
        </p:nvSpPr>
        <p:spPr>
          <a:xfrm>
            <a:off x="16139160" y="3566160"/>
            <a:ext cx="7315200" cy="722376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550640" y="3840480"/>
            <a:ext cx="6492240" cy="1097280"/>
          </a:xfrm>
          <a:prstGeom prst="rect">
            <a:avLst/>
          </a:prstGeom>
          <a:noFill/>
        </p:spPr>
        <p:txBody>
          <a:bodyPr wrap="square" anchor="t" lIns="45720" rIns="45720" tIns="27432" bIns="27432">
            <a:noAutofit/>
          </a:bodyPr>
          <a:lstStyle/>
          <a:p>
            <a:pPr algn="l"/>
            <a:r>
              <a:rPr sz="6000" b="1" i="0">
                <a:solidFill>
                  <a:srgbClr val="840032"/>
                </a:solidFill>
                <a:latin typeface="Helvetica"/>
              </a:rPr>
              <a:t>03</a:t>
            </a:r>
          </a:p>
        </p:txBody>
      </p:sp>
      <p:sp>
        <p:nvSpPr>
          <p:cNvPr id="16" name="TextBox 15"/>
          <p:cNvSpPr txBox="1"/>
          <p:nvPr/>
        </p:nvSpPr>
        <p:spPr>
          <a:xfrm>
            <a:off x="16550640" y="5029200"/>
            <a:ext cx="6492240" cy="1188720"/>
          </a:xfrm>
          <a:prstGeom prst="rect">
            <a:avLst/>
          </a:prstGeom>
          <a:noFill/>
        </p:spPr>
        <p:txBody>
          <a:bodyPr wrap="square" anchor="t" lIns="45720" rIns="45720" tIns="27432" bIns="27432">
            <a:noAutofit/>
          </a:bodyPr>
          <a:lstStyle/>
          <a:p>
            <a:pPr algn="l"/>
            <a:r>
              <a:rPr sz="3300" b="1" i="0">
                <a:solidFill>
                  <a:srgbClr val="1A1A1A"/>
                </a:solidFill>
                <a:latin typeface="Calibri"/>
              </a:rPr>
              <a:t>Roll matters only in a corner</a:t>
            </a:r>
          </a:p>
        </p:txBody>
      </p:sp>
      <p:sp>
        <p:nvSpPr>
          <p:cNvPr id="17" name="TextBox 16"/>
          <p:cNvSpPr txBox="1"/>
          <p:nvPr/>
        </p:nvSpPr>
        <p:spPr>
          <a:xfrm>
            <a:off x="16550640" y="6172200"/>
            <a:ext cx="6492240" cy="3566160"/>
          </a:xfrm>
          <a:prstGeom prst="rect">
            <a:avLst/>
          </a:prstGeom>
          <a:noFill/>
        </p:spPr>
        <p:txBody>
          <a:bodyPr wrap="square" anchor="t" lIns="45720" rIns="45720" tIns="27432" bIns="27432">
            <a:noAutofit/>
          </a:bodyPr>
          <a:lstStyle/>
          <a:p>
            <a:pPr algn="l"/>
            <a:r>
              <a:rPr sz="3000" b="0" i="0">
                <a:solidFill>
                  <a:srgbClr val="1A1A1A"/>
                </a:solidFill>
                <a:latin typeface="Calibri"/>
              </a:rPr>
              <a:t>Straight-line roll is small and road-induced. In a corner, roll and lateral load transfer set the rollover criterion.</a:t>
            </a:r>
          </a:p>
        </p:txBody>
      </p:sp>
      <p:sp>
        <p:nvSpPr>
          <p:cNvPr id="18" name="TextBox 17"/>
          <p:cNvSpPr txBox="1"/>
          <p:nvPr/>
        </p:nvSpPr>
        <p:spPr>
          <a:xfrm>
            <a:off x="16550640" y="9829800"/>
            <a:ext cx="6492240" cy="640080"/>
          </a:xfrm>
          <a:prstGeom prst="rect">
            <a:avLst/>
          </a:prstGeom>
          <a:noFill/>
        </p:spPr>
        <p:txBody>
          <a:bodyPr wrap="square" anchor="t" lIns="45720" rIns="45720" tIns="27432" bIns="27432">
            <a:noAutofit/>
          </a:bodyPr>
          <a:lstStyle/>
          <a:p>
            <a:pPr algn="l"/>
            <a:r>
              <a:rPr sz="2900" b="1" i="0">
                <a:solidFill>
                  <a:srgbClr val="840032"/>
                </a:solidFill>
                <a:latin typeface="Calibri"/>
              </a:rPr>
              <a:t>→ motivates cornering</a:t>
            </a:r>
          </a:p>
        </p:txBody>
      </p:sp>
      <p:sp>
        <p:nvSpPr>
          <p:cNvPr id="19" name="TextBox 18"/>
          <p:cNvSpPr txBox="1"/>
          <p:nvPr/>
        </p:nvSpPr>
        <p:spPr>
          <a:xfrm>
            <a:off x="777240" y="11338560"/>
            <a:ext cx="22768560" cy="822960"/>
          </a:xfrm>
          <a:prstGeom prst="rect">
            <a:avLst/>
          </a:prstGeom>
          <a:noFill/>
        </p:spPr>
        <p:txBody>
          <a:bodyPr wrap="square" anchor="t" lIns="45720" rIns="45720" tIns="27432" bIns="27432">
            <a:noAutofit/>
          </a:bodyPr>
          <a:lstStyle/>
          <a:p>
            <a:pPr algn="l"/>
            <a:r>
              <a:rPr sz="3400" b="1" i="0">
                <a:solidFill>
                  <a:srgbClr val="840032"/>
                </a:solidFill>
                <a:latin typeface="Helvetica"/>
              </a:rPr>
              <a:t>Study 2 asks the cornering question with preview control.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834640"/>
            <a:ext cx="20729448" cy="822960"/>
          </a:xfrm>
          <a:prstGeom prst="rect">
            <a:avLst/>
          </a:prstGeom>
          <a:noFill/>
        </p:spPr>
        <p:txBody>
          <a:bodyPr wrap="square" anchor="t" lIns="45720" rIns="45720" tIns="27432" bIns="27432">
            <a:noAutofit/>
          </a:bodyPr>
          <a:lstStyle/>
          <a:p>
            <a:pPr algn="ctr"/>
            <a:r>
              <a:rPr sz="3600" b="1" i="0">
                <a:solidFill>
                  <a:srgbClr val="E6CCD6"/>
                </a:solidFill>
                <a:latin typeface="Helvetica"/>
              </a:rPr>
              <a:t>STUDY 2</a:t>
            </a:r>
          </a:p>
        </p:txBody>
      </p:sp>
      <p:sp>
        <p:nvSpPr>
          <p:cNvPr id="3" name="TextBox 2"/>
          <p:cNvSpPr txBox="1"/>
          <p:nvPr/>
        </p:nvSpPr>
        <p:spPr>
          <a:xfrm>
            <a:off x="1828800" y="3840480"/>
            <a:ext cx="20729448" cy="1280160"/>
          </a:xfrm>
          <a:prstGeom prst="rect">
            <a:avLst/>
          </a:prstGeom>
          <a:noFill/>
        </p:spPr>
        <p:txBody>
          <a:bodyPr wrap="square" anchor="t" lIns="45720" rIns="45720" tIns="27432" bIns="27432">
            <a:noAutofit/>
          </a:bodyPr>
          <a:lstStyle/>
          <a:p>
            <a:pPr algn="ctr"/>
            <a:r>
              <a:rPr sz="6400" b="1" i="0">
                <a:solidFill>
                  <a:srgbClr val="FFFFFF"/>
                </a:solidFill>
                <a:latin typeface="Helvetica"/>
              </a:rPr>
              <a:t>Preview control for rollover margin in cornering</a:t>
            </a:r>
          </a:p>
        </p:txBody>
      </p:sp>
      <p:sp>
        <p:nvSpPr>
          <p:cNvPr id="4" name="TextBox 3"/>
          <p:cNvSpPr txBox="1"/>
          <p:nvPr/>
        </p:nvSpPr>
        <p:spPr>
          <a:xfrm>
            <a:off x="3657600" y="5669280"/>
            <a:ext cx="17071848" cy="2194560"/>
          </a:xfrm>
          <a:prstGeom prst="rect">
            <a:avLst/>
          </a:prstGeom>
          <a:noFill/>
        </p:spPr>
        <p:txBody>
          <a:bodyPr wrap="square" anchor="t" lIns="45720" rIns="45720" tIns="27432" bIns="27432">
            <a:noAutofit/>
          </a:bodyPr>
          <a:lstStyle/>
          <a:p>
            <a:pPr algn="ctr"/>
            <a:r>
              <a:rPr sz="3200" b="0" i="0">
                <a:solidFill>
                  <a:srgbClr val="FFFFFF"/>
                </a:solidFill>
                <a:latin typeface="Calibri"/>
              </a:rPr>
              <a:t>Can the road ahead and the planned lateral acceleration protect the margin when a defect is met mid-corner?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3. STUDY 2: WHAT CORNERING ALONE CAN DO</a:t>
            </a:r>
          </a:p>
        </p:txBody>
      </p:sp>
      <p:sp>
        <p:nvSpPr>
          <p:cNvPr id="4" name="TextBox 3"/>
          <p:cNvSpPr txBox="1"/>
          <p:nvPr/>
        </p:nvSpPr>
        <p:spPr>
          <a:xfrm>
            <a:off x="777240" y="3566160"/>
            <a:ext cx="11521440" cy="731520"/>
          </a:xfrm>
          <a:prstGeom prst="rect">
            <a:avLst/>
          </a:prstGeom>
          <a:noFill/>
        </p:spPr>
        <p:txBody>
          <a:bodyPr wrap="square" anchor="t" lIns="45720" rIns="45720" tIns="27432" bIns="27432">
            <a:noAutofit/>
          </a:bodyPr>
          <a:lstStyle/>
          <a:p>
            <a:pPr algn="l"/>
            <a:r>
              <a:rPr sz="3400" b="1" i="0">
                <a:solidFill>
                  <a:srgbClr val="840032"/>
                </a:solidFill>
                <a:latin typeface="Helvetica"/>
              </a:rPr>
              <a:t>Steady corner: the car slides first</a:t>
            </a:r>
          </a:p>
        </p:txBody>
      </p:sp>
      <p:sp>
        <p:nvSpPr>
          <p:cNvPr id="5" name="TextBox 4"/>
          <p:cNvSpPr txBox="1"/>
          <p:nvPr/>
        </p:nvSpPr>
        <p:spPr>
          <a:xfrm>
            <a:off x="777240" y="4343400"/>
            <a:ext cx="11338560" cy="2377440"/>
          </a:xfrm>
          <a:prstGeom prst="rect">
            <a:avLst/>
          </a:prstGeom>
          <a:noFill/>
        </p:spPr>
        <p:txBody>
          <a:bodyPr wrap="square" anchor="t" lIns="45720" rIns="45720" tIns="27432" bIns="27432">
            <a:noAutofit/>
          </a:bodyPr>
          <a:lstStyle/>
          <a:p>
            <a:pPr algn="l"/>
            <a:r>
              <a:rPr sz="3100" b="0" i="0">
                <a:solidFill>
                  <a:srgbClr val="1A1A1A"/>
                </a:solidFill>
                <a:latin typeface="Calibri"/>
              </a:rPr>
              <a:t>Linear statics: LTR = 0.6 at 0.97 g and LTR = 1 at 1.61 g, both above the tyre grip limit. In simulation the passive car crosses 0.6 only at 0.8 g and never trips.</a:t>
            </a:r>
          </a:p>
        </p:txBody>
      </p:sp>
      <p:sp>
        <p:nvSpPr>
          <p:cNvPr id="6" name="TextBox 5"/>
          <p:cNvSpPr txBox="1"/>
          <p:nvPr/>
        </p:nvSpPr>
        <p:spPr>
          <a:xfrm>
            <a:off x="777240" y="6903720"/>
            <a:ext cx="11521440" cy="731520"/>
          </a:xfrm>
          <a:prstGeom prst="rect">
            <a:avLst/>
          </a:prstGeom>
          <a:noFill/>
        </p:spPr>
        <p:txBody>
          <a:bodyPr wrap="square" anchor="t" lIns="45720" rIns="45720" tIns="27432" bIns="27432">
            <a:noAutofit/>
          </a:bodyPr>
          <a:lstStyle/>
          <a:p>
            <a:pPr algn="l"/>
            <a:r>
              <a:rPr sz="3400" b="1" i="0">
                <a:solidFill>
                  <a:srgbClr val="840032"/>
                </a:solidFill>
                <a:latin typeface="Helvetica"/>
              </a:rPr>
              <a:t>What any suspension can change</a:t>
            </a:r>
          </a:p>
        </p:txBody>
      </p:sp>
      <p:sp>
        <p:nvSpPr>
          <p:cNvPr id="7" name="TextBox 6"/>
          <p:cNvSpPr txBox="1"/>
          <p:nvPr/>
        </p:nvSpPr>
        <p:spPr>
          <a:xfrm>
            <a:off x="777240" y="7726679"/>
            <a:ext cx="11521440" cy="822960"/>
          </a:xfrm>
          <a:prstGeom prst="rect">
            <a:avLst/>
          </a:prstGeom>
          <a:noFill/>
        </p:spPr>
        <p:txBody>
          <a:bodyPr wrap="square" anchor="t" lIns="45720" rIns="45720" tIns="27432" bIns="27432">
            <a:noAutofit/>
          </a:bodyPr>
          <a:lstStyle/>
          <a:p>
            <a:pPr algn="l"/>
            <a:r>
              <a:rPr sz="3000" b="1" i="0">
                <a:solidFill>
                  <a:srgbClr val="1A1A1A"/>
                </a:solidFill>
                <a:latin typeface="Cambria"/>
              </a:rPr>
              <a:t>(F</a:t>
            </a:r>
            <a:r>
              <a:rPr sz="3000" b="1" i="0" baseline="-25000">
                <a:solidFill>
                  <a:srgbClr val="1A1A1A"/>
                </a:solidFill>
                <a:latin typeface="Cambria"/>
              </a:rPr>
              <a:t>out</a:t>
            </a:r>
            <a:r>
              <a:rPr sz="3000" b="1" i="0">
                <a:solidFill>
                  <a:srgbClr val="1A1A1A"/>
                </a:solidFill>
                <a:latin typeface="Cambria"/>
              </a:rPr>
              <a:t> − F</a:t>
            </a:r>
            <a:r>
              <a:rPr sz="3000" b="1" i="0" baseline="-25000">
                <a:solidFill>
                  <a:srgbClr val="1A1A1A"/>
                </a:solidFill>
                <a:latin typeface="Cambria"/>
              </a:rPr>
              <a:t>in</a:t>
            </a:r>
            <a:r>
              <a:rPr sz="3000" b="1" i="0">
                <a:solidFill>
                  <a:srgbClr val="1A1A1A"/>
                </a:solidFill>
                <a:latin typeface="Cambria"/>
              </a:rPr>
              <a:t>) T/2 = m</a:t>
            </a:r>
            <a:r>
              <a:rPr sz="3000" b="1" i="0" baseline="-25000">
                <a:solidFill>
                  <a:srgbClr val="1A1A1A"/>
                </a:solidFill>
                <a:latin typeface="Cambria"/>
              </a:rPr>
              <a:t>s</a:t>
            </a:r>
            <a:r>
              <a:rPr sz="3000" b="1" i="0">
                <a:solidFill>
                  <a:srgbClr val="1A1A1A"/>
                </a:solidFill>
                <a:latin typeface="Cambria"/>
              </a:rPr>
              <a:t> a</a:t>
            </a:r>
            <a:r>
              <a:rPr sz="3000" b="1" i="0" baseline="-25000">
                <a:solidFill>
                  <a:srgbClr val="1A1A1A"/>
                </a:solidFill>
                <a:latin typeface="Cambria"/>
              </a:rPr>
              <a:t>y</a:t>
            </a:r>
            <a:r>
              <a:rPr sz="3000" b="1" i="0">
                <a:solidFill>
                  <a:srgbClr val="1A1A1A"/>
                </a:solidFill>
                <a:latin typeface="Cambria"/>
              </a:rPr>
              <a:t> h</a:t>
            </a:r>
            <a:r>
              <a:rPr sz="3000" b="1" i="0" baseline="-25000">
                <a:solidFill>
                  <a:srgbClr val="1A1A1A"/>
                </a:solidFill>
                <a:latin typeface="Cambria"/>
              </a:rPr>
              <a:t>cg</a:t>
            </a:r>
            <a:r>
              <a:rPr sz="3000" b="1" i="0">
                <a:solidFill>
                  <a:srgbClr val="1A1A1A"/>
                </a:solidFill>
                <a:latin typeface="Cambria"/>
              </a:rPr>
              <a:t> + m</a:t>
            </a:r>
            <a:r>
              <a:rPr sz="3000" b="1" i="0" baseline="-25000">
                <a:solidFill>
                  <a:srgbClr val="1A1A1A"/>
                </a:solidFill>
                <a:latin typeface="Cambria"/>
              </a:rPr>
              <a:t>u</a:t>
            </a:r>
            <a:r>
              <a:rPr sz="3000" b="1" i="0">
                <a:solidFill>
                  <a:srgbClr val="1A1A1A"/>
                </a:solidFill>
                <a:latin typeface="Cambria"/>
              </a:rPr>
              <a:t> a</a:t>
            </a:r>
            <a:r>
              <a:rPr sz="3000" b="1" i="0" baseline="-25000">
                <a:solidFill>
                  <a:srgbClr val="1A1A1A"/>
                </a:solidFill>
                <a:latin typeface="Cambria"/>
              </a:rPr>
              <a:t>y</a:t>
            </a:r>
            <a:r>
              <a:rPr sz="3000" b="1" i="0">
                <a:solidFill>
                  <a:srgbClr val="1A1A1A"/>
                </a:solidFill>
                <a:latin typeface="Cambria"/>
              </a:rPr>
              <a:t> h</a:t>
            </a:r>
            <a:r>
              <a:rPr sz="3000" b="1" i="0" baseline="-25000">
                <a:solidFill>
                  <a:srgbClr val="1A1A1A"/>
                </a:solidFill>
                <a:latin typeface="Cambria"/>
              </a:rPr>
              <a:t>u</a:t>
            </a:r>
            <a:r>
              <a:rPr sz="3000" b="1" i="0">
                <a:solidFill>
                  <a:srgbClr val="1A1A1A"/>
                </a:solidFill>
                <a:latin typeface="Cambria"/>
              </a:rPr>
              <a:t> + m</a:t>
            </a:r>
            <a:r>
              <a:rPr sz="3000" b="1" i="0" baseline="-25000">
                <a:solidFill>
                  <a:srgbClr val="1A1A1A"/>
                </a:solidFill>
                <a:latin typeface="Cambria"/>
              </a:rPr>
              <a:t>s</a:t>
            </a:r>
            <a:r>
              <a:rPr sz="3000" b="1" i="0">
                <a:solidFill>
                  <a:srgbClr val="1A1A1A"/>
                </a:solidFill>
                <a:latin typeface="Cambria"/>
              </a:rPr>
              <a:t> g h</a:t>
            </a:r>
            <a:r>
              <a:rPr sz="3000" b="1" i="0" baseline="-25000">
                <a:solidFill>
                  <a:srgbClr val="1A1A1A"/>
                </a:solidFill>
                <a:latin typeface="Cambria"/>
              </a:rPr>
              <a:t>R</a:t>
            </a:r>
            <a:r>
              <a:rPr sz="3000" b="1" i="0">
                <a:solidFill>
                  <a:srgbClr val="1A1A1A"/>
                </a:solidFill>
                <a:latin typeface="Cambria"/>
              </a:rPr>
              <a:t> sin φ</a:t>
            </a:r>
          </a:p>
        </p:txBody>
      </p:sp>
      <p:sp>
        <p:nvSpPr>
          <p:cNvPr id="8" name="TextBox 7"/>
          <p:cNvSpPr txBox="1"/>
          <p:nvPr/>
        </p:nvSpPr>
        <p:spPr>
          <a:xfrm>
            <a:off x="777240" y="8778240"/>
            <a:ext cx="11338560" cy="2743200"/>
          </a:xfrm>
          <a:prstGeom prst="rect">
            <a:avLst/>
          </a:prstGeom>
          <a:noFill/>
        </p:spPr>
        <p:txBody>
          <a:bodyPr wrap="square" anchor="t" lIns="45720" rIns="45720" tIns="27432" bIns="27432">
            <a:noAutofit/>
          </a:bodyPr>
          <a:lstStyle/>
          <a:p>
            <a:pPr algn="l"/>
            <a:r>
              <a:rPr sz="3100" b="0" i="0">
                <a:solidFill>
                  <a:srgbClr val="1A1A1A"/>
                </a:solidFill>
                <a:latin typeface="Calibri"/>
              </a:rPr>
              <a:t>Actuator forces act between sprung and unsprung masses, so they drop out of this balance. Only the last term, the CG shift from body lean, is reachable.</a:t>
            </a:r>
          </a:p>
        </p:txBody>
      </p:sp>
      <p:sp>
        <p:nvSpPr>
          <p:cNvPr id="9" name="Rounded Rectangle 8"/>
          <p:cNvSpPr/>
          <p:nvPr/>
        </p:nvSpPr>
        <p:spPr>
          <a:xfrm>
            <a:off x="12801600" y="3566160"/>
            <a:ext cx="10789920" cy="402336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213080" y="3840480"/>
            <a:ext cx="9966960" cy="1234440"/>
          </a:xfrm>
          <a:prstGeom prst="rect">
            <a:avLst/>
          </a:prstGeom>
          <a:noFill/>
        </p:spPr>
        <p:txBody>
          <a:bodyPr wrap="square" anchor="t" lIns="45720" rIns="45720" tIns="27432" bIns="27432">
            <a:noAutofit/>
          </a:bodyPr>
          <a:lstStyle/>
          <a:p>
            <a:pPr algn="l"/>
            <a:r>
              <a:rPr sz="7200" b="1" i="0">
                <a:solidFill>
                  <a:srgbClr val="840032"/>
                </a:solidFill>
                <a:latin typeface="Helvetica"/>
              </a:rPr>
              <a:t>1.61 g</a:t>
            </a:r>
          </a:p>
        </p:txBody>
      </p:sp>
      <p:sp>
        <p:nvSpPr>
          <p:cNvPr id="11" name="TextBox 10"/>
          <p:cNvSpPr txBox="1"/>
          <p:nvPr/>
        </p:nvSpPr>
        <p:spPr>
          <a:xfrm>
            <a:off x="13213080" y="5120640"/>
            <a:ext cx="9966960" cy="2240280"/>
          </a:xfrm>
          <a:prstGeom prst="rect">
            <a:avLst/>
          </a:prstGeom>
          <a:noFill/>
        </p:spPr>
        <p:txBody>
          <a:bodyPr wrap="square" anchor="t" lIns="45720" rIns="45720" tIns="27432" bIns="27432">
            <a:noAutofit/>
          </a:bodyPr>
          <a:lstStyle/>
          <a:p>
            <a:pPr algn="l"/>
            <a:r>
              <a:rPr sz="2800" b="0" i="0">
                <a:solidFill>
                  <a:srgbClr val="1A1A1A"/>
                </a:solidFill>
                <a:latin typeface="Calibri"/>
              </a:rPr>
              <a:t>lateral acceleration for LTR = 1 in a steady corner; tyres give about 0.8–0.9 g</a:t>
            </a:r>
          </a:p>
        </p:txBody>
      </p:sp>
      <p:sp>
        <p:nvSpPr>
          <p:cNvPr id="12" name="Rounded Rectangle 11"/>
          <p:cNvSpPr/>
          <p:nvPr/>
        </p:nvSpPr>
        <p:spPr>
          <a:xfrm>
            <a:off x="12801600" y="7955279"/>
            <a:ext cx="10789920" cy="402336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13080" y="8229600"/>
            <a:ext cx="9966960" cy="1234440"/>
          </a:xfrm>
          <a:prstGeom prst="rect">
            <a:avLst/>
          </a:prstGeom>
          <a:noFill/>
        </p:spPr>
        <p:txBody>
          <a:bodyPr wrap="square" anchor="t" lIns="45720" rIns="45720" tIns="27432" bIns="27432">
            <a:noAutofit/>
          </a:bodyPr>
          <a:lstStyle/>
          <a:p>
            <a:pPr algn="l"/>
            <a:r>
              <a:rPr sz="7200" b="1" i="0">
                <a:solidFill>
                  <a:srgbClr val="840032"/>
                </a:solidFill>
                <a:latin typeface="Helvetica"/>
              </a:rPr>
              <a:t>≈ 6 %</a:t>
            </a:r>
          </a:p>
        </p:txBody>
      </p:sp>
      <p:sp>
        <p:nvSpPr>
          <p:cNvPr id="14" name="TextBox 13"/>
          <p:cNvSpPr txBox="1"/>
          <p:nvPr/>
        </p:nvSpPr>
        <p:spPr>
          <a:xfrm>
            <a:off x="13213080" y="9509759"/>
            <a:ext cx="9966960" cy="2240280"/>
          </a:xfrm>
          <a:prstGeom prst="rect">
            <a:avLst/>
          </a:prstGeom>
          <a:noFill/>
        </p:spPr>
        <p:txBody>
          <a:bodyPr wrap="square" anchor="t" lIns="45720" rIns="45720" tIns="27432" bIns="27432">
            <a:noAutofit/>
          </a:bodyPr>
          <a:lstStyle/>
          <a:p>
            <a:pPr algn="l"/>
            <a:r>
              <a:rPr sz="2800" b="0" i="0">
                <a:solidFill>
                  <a:srgbClr val="1A1A1A"/>
                </a:solidFill>
                <a:latin typeface="Calibri"/>
              </a:rPr>
              <a:t>of steady load transfer any suspension can remove at 0.5 g: ΔLTR ≈ 0.017 (0.307 → 0.288 without lean)</a:t>
            </a:r>
          </a:p>
        </p:txBody>
      </p:sp>
      <p:sp>
        <p:nvSpPr>
          <p:cNvPr id="15" name="TextBox 14"/>
          <p:cNvSpPr txBox="1"/>
          <p:nvPr/>
        </p:nvSpPr>
        <p:spPr>
          <a:xfrm>
            <a:off x="12801600" y="12161520"/>
            <a:ext cx="10789920" cy="640080"/>
          </a:xfrm>
          <a:prstGeom prst="rect">
            <a:avLst/>
          </a:prstGeom>
          <a:noFill/>
        </p:spPr>
        <p:txBody>
          <a:bodyPr wrap="square" anchor="t" lIns="45720" rIns="45720" tIns="27432" bIns="27432">
            <a:noAutofit/>
          </a:bodyPr>
          <a:lstStyle/>
          <a:p>
            <a:pPr algn="l"/>
            <a:r>
              <a:rPr sz="3100" b="1" i="0">
                <a:solidFill>
                  <a:srgbClr val="840032"/>
                </a:solidFill>
                <a:latin typeface="Calibri"/>
              </a:rPr>
              <a:t>So target the transient peak at the defect.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3. STUDY 2: CONTROLLERS COMPARED</a:t>
            </a:r>
          </a:p>
        </p:txBody>
      </p:sp>
      <p:sp>
        <p:nvSpPr>
          <p:cNvPr id="4" name="Rounded Rectangle 3"/>
          <p:cNvSpPr/>
          <p:nvPr/>
        </p:nvSpPr>
        <p:spPr>
          <a:xfrm>
            <a:off x="777240" y="3749039"/>
            <a:ext cx="4315968" cy="4937760"/>
          </a:xfrm>
          <a:prstGeom prst="roundRect">
            <a:avLst>
              <a:gd name="adj" fmla="val 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977639"/>
            <a:ext cx="3767328" cy="1188720"/>
          </a:xfrm>
          <a:prstGeom prst="rect">
            <a:avLst/>
          </a:prstGeom>
          <a:noFill/>
        </p:spPr>
        <p:txBody>
          <a:bodyPr wrap="square" anchor="t" lIns="45720" rIns="45720" tIns="27432" bIns="27432">
            <a:noAutofit/>
          </a:bodyPr>
          <a:lstStyle/>
          <a:p>
            <a:pPr algn="l"/>
            <a:r>
              <a:rPr sz="6000" b="1" i="0">
                <a:solidFill>
                  <a:srgbClr val="840032"/>
                </a:solidFill>
                <a:latin typeface="Helvetica"/>
              </a:rPr>
              <a:t>P</a:t>
            </a:r>
          </a:p>
        </p:txBody>
      </p:sp>
      <p:sp>
        <p:nvSpPr>
          <p:cNvPr id="6" name="TextBox 5"/>
          <p:cNvSpPr txBox="1"/>
          <p:nvPr/>
        </p:nvSpPr>
        <p:spPr>
          <a:xfrm>
            <a:off x="1051560" y="5257800"/>
            <a:ext cx="3767328" cy="1097280"/>
          </a:xfrm>
          <a:prstGeom prst="rect">
            <a:avLst/>
          </a:prstGeom>
          <a:noFill/>
        </p:spPr>
        <p:txBody>
          <a:bodyPr wrap="square" anchor="t" lIns="45720" rIns="45720" tIns="27432" bIns="27432">
            <a:noAutofit/>
          </a:bodyPr>
          <a:lstStyle/>
          <a:p>
            <a:pPr algn="l"/>
            <a:r>
              <a:rPr sz="2700" b="1" i="0">
                <a:solidFill>
                  <a:srgbClr val="1A1A1A"/>
                </a:solidFill>
                <a:latin typeface="Calibri"/>
              </a:rPr>
              <a:t>Passive</a:t>
            </a:r>
          </a:p>
        </p:txBody>
      </p:sp>
      <p:sp>
        <p:nvSpPr>
          <p:cNvPr id="7" name="TextBox 6"/>
          <p:cNvSpPr txBox="1"/>
          <p:nvPr/>
        </p:nvSpPr>
        <p:spPr>
          <a:xfrm>
            <a:off x="1051560" y="6446520"/>
            <a:ext cx="3767328" cy="1463040"/>
          </a:xfrm>
          <a:prstGeom prst="rect">
            <a:avLst/>
          </a:prstGeom>
          <a:noFill/>
        </p:spPr>
        <p:txBody>
          <a:bodyPr wrap="square" anchor="t" lIns="45720" rIns="45720" tIns="27432" bIns="27432">
            <a:noAutofit/>
          </a:bodyPr>
          <a:lstStyle/>
          <a:p>
            <a:pPr algn="l"/>
            <a:r>
              <a:rPr sz="2600" b="0" i="0">
                <a:solidFill>
                  <a:srgbClr val="1A1A1A"/>
                </a:solidFill>
                <a:latin typeface="Calibri"/>
              </a:rPr>
              <a:t>ride-frequency springs and dampers</a:t>
            </a:r>
          </a:p>
        </p:txBody>
      </p:sp>
      <p:sp>
        <p:nvSpPr>
          <p:cNvPr id="8" name="TextBox 7"/>
          <p:cNvSpPr txBox="1"/>
          <p:nvPr/>
        </p:nvSpPr>
        <p:spPr>
          <a:xfrm>
            <a:off x="1051560" y="8001000"/>
            <a:ext cx="3767328" cy="548640"/>
          </a:xfrm>
          <a:prstGeom prst="rect">
            <a:avLst/>
          </a:prstGeom>
          <a:noFill/>
        </p:spPr>
        <p:txBody>
          <a:bodyPr wrap="square" anchor="t" lIns="45720" rIns="45720" tIns="27432" bIns="27432">
            <a:noAutofit/>
          </a:bodyPr>
          <a:lstStyle/>
          <a:p>
            <a:pPr algn="l"/>
            <a:r>
              <a:rPr sz="2000" b="1" i="0">
                <a:solidFill>
                  <a:srgbClr val="6E6E6E"/>
                </a:solidFill>
                <a:latin typeface="Helvetica"/>
              </a:rPr>
              <a:t>BASELINE</a:t>
            </a:r>
          </a:p>
        </p:txBody>
      </p:sp>
      <p:sp>
        <p:nvSpPr>
          <p:cNvPr id="9" name="Rounded Rectangle 8"/>
          <p:cNvSpPr/>
          <p:nvPr/>
        </p:nvSpPr>
        <p:spPr>
          <a:xfrm>
            <a:off x="5394959" y="3749039"/>
            <a:ext cx="4315968" cy="493776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79" y="3977639"/>
            <a:ext cx="3767328" cy="1188720"/>
          </a:xfrm>
          <a:prstGeom prst="rect">
            <a:avLst/>
          </a:prstGeom>
          <a:noFill/>
        </p:spPr>
        <p:txBody>
          <a:bodyPr wrap="square" anchor="t" lIns="45720" rIns="45720" tIns="27432" bIns="27432">
            <a:noAutofit/>
          </a:bodyPr>
          <a:lstStyle/>
          <a:p>
            <a:pPr algn="l"/>
            <a:r>
              <a:rPr sz="6000" b="1" i="0">
                <a:solidFill>
                  <a:srgbClr val="840032"/>
                </a:solidFill>
                <a:latin typeface="Helvetica"/>
              </a:rPr>
              <a:t>A</a:t>
            </a:r>
          </a:p>
        </p:txBody>
      </p:sp>
      <p:sp>
        <p:nvSpPr>
          <p:cNvPr id="11" name="TextBox 10"/>
          <p:cNvSpPr txBox="1"/>
          <p:nvPr/>
        </p:nvSpPr>
        <p:spPr>
          <a:xfrm>
            <a:off x="5669279" y="5257800"/>
            <a:ext cx="3767328" cy="1097280"/>
          </a:xfrm>
          <a:prstGeom prst="rect">
            <a:avLst/>
          </a:prstGeom>
          <a:noFill/>
        </p:spPr>
        <p:txBody>
          <a:bodyPr wrap="square" anchor="t" lIns="45720" rIns="45720" tIns="27432" bIns="27432">
            <a:noAutofit/>
          </a:bodyPr>
          <a:lstStyle/>
          <a:p>
            <a:pPr algn="l"/>
            <a:r>
              <a:rPr sz="2700" b="1" i="0">
                <a:solidFill>
                  <a:srgbClr val="1A1A1A"/>
                </a:solidFill>
                <a:latin typeface="Calibri"/>
              </a:rPr>
              <a:t>Roll LQR</a:t>
            </a:r>
          </a:p>
        </p:txBody>
      </p:sp>
      <p:sp>
        <p:nvSpPr>
          <p:cNvPr id="12" name="TextBox 11"/>
          <p:cNvSpPr txBox="1"/>
          <p:nvPr/>
        </p:nvSpPr>
        <p:spPr>
          <a:xfrm>
            <a:off x="5669279" y="6446520"/>
            <a:ext cx="3767328" cy="1463040"/>
          </a:xfrm>
          <a:prstGeom prst="rect">
            <a:avLst/>
          </a:prstGeom>
          <a:noFill/>
        </p:spPr>
        <p:txBody>
          <a:bodyPr wrap="square" anchor="t" lIns="45720" rIns="45720" tIns="27432" bIns="27432">
            <a:noAutofit/>
          </a:bodyPr>
          <a:lstStyle/>
          <a:p>
            <a:pPr algn="l"/>
            <a:r>
              <a:rPr sz="2600" b="0" i="0">
                <a:solidFill>
                  <a:srgbClr val="1A1A1A"/>
                </a:solidFill>
                <a:latin typeface="Calibri"/>
              </a:rPr>
              <a:t>output-weighted feedback, roll angle weighted</a:t>
            </a:r>
          </a:p>
        </p:txBody>
      </p:sp>
      <p:sp>
        <p:nvSpPr>
          <p:cNvPr id="13" name="TextBox 12"/>
          <p:cNvSpPr txBox="1"/>
          <p:nvPr/>
        </p:nvSpPr>
        <p:spPr>
          <a:xfrm>
            <a:off x="5669279" y="8001000"/>
            <a:ext cx="3767328" cy="548640"/>
          </a:xfrm>
          <a:prstGeom prst="rect">
            <a:avLst/>
          </a:prstGeom>
          <a:noFill/>
        </p:spPr>
        <p:txBody>
          <a:bodyPr wrap="square" anchor="t" lIns="45720" rIns="45720" tIns="27432" bIns="27432">
            <a:noAutofit/>
          </a:bodyPr>
          <a:lstStyle/>
          <a:p>
            <a:pPr algn="l"/>
            <a:r>
              <a:rPr sz="2000" b="1" i="0">
                <a:solidFill>
                  <a:srgbClr val="6E6E6E"/>
                </a:solidFill>
                <a:latin typeface="Helvetica"/>
              </a:rPr>
              <a:t>FEEDBACK</a:t>
            </a:r>
          </a:p>
        </p:txBody>
      </p:sp>
      <p:sp>
        <p:nvSpPr>
          <p:cNvPr id="14" name="Rounded Rectangle 13"/>
          <p:cNvSpPr/>
          <p:nvPr/>
        </p:nvSpPr>
        <p:spPr>
          <a:xfrm>
            <a:off x="10012680" y="3749039"/>
            <a:ext cx="4315968" cy="493776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0" y="3977639"/>
            <a:ext cx="3767328" cy="1188720"/>
          </a:xfrm>
          <a:prstGeom prst="rect">
            <a:avLst/>
          </a:prstGeom>
          <a:noFill/>
        </p:spPr>
        <p:txBody>
          <a:bodyPr wrap="square" anchor="t" lIns="45720" rIns="45720" tIns="27432" bIns="27432">
            <a:noAutofit/>
          </a:bodyPr>
          <a:lstStyle/>
          <a:p>
            <a:pPr algn="l"/>
            <a:r>
              <a:rPr sz="6000" b="1" i="0">
                <a:solidFill>
                  <a:srgbClr val="840032"/>
                </a:solidFill>
                <a:latin typeface="Helvetica"/>
              </a:rPr>
              <a:t>B</a:t>
            </a:r>
          </a:p>
        </p:txBody>
      </p:sp>
      <p:sp>
        <p:nvSpPr>
          <p:cNvPr id="16" name="TextBox 15"/>
          <p:cNvSpPr txBox="1"/>
          <p:nvPr/>
        </p:nvSpPr>
        <p:spPr>
          <a:xfrm>
            <a:off x="10287000" y="5257800"/>
            <a:ext cx="3767328" cy="1097280"/>
          </a:xfrm>
          <a:prstGeom prst="rect">
            <a:avLst/>
          </a:prstGeom>
          <a:noFill/>
        </p:spPr>
        <p:txBody>
          <a:bodyPr wrap="square" anchor="t" lIns="45720" rIns="45720" tIns="27432" bIns="27432">
            <a:noAutofit/>
          </a:bodyPr>
          <a:lstStyle/>
          <a:p>
            <a:pPr algn="l"/>
            <a:r>
              <a:rPr sz="2700" b="1" i="0">
                <a:solidFill>
                  <a:srgbClr val="1A1A1A"/>
                </a:solidFill>
                <a:latin typeface="Calibri"/>
              </a:rPr>
              <a:t>Roll + LTR LQR</a:t>
            </a:r>
          </a:p>
        </p:txBody>
      </p:sp>
      <p:sp>
        <p:nvSpPr>
          <p:cNvPr id="17" name="TextBox 16"/>
          <p:cNvSpPr txBox="1"/>
          <p:nvPr/>
        </p:nvSpPr>
        <p:spPr>
          <a:xfrm>
            <a:off x="10287000" y="6446520"/>
            <a:ext cx="3767328" cy="1463040"/>
          </a:xfrm>
          <a:prstGeom prst="rect">
            <a:avLst/>
          </a:prstGeom>
          <a:noFill/>
        </p:spPr>
        <p:txBody>
          <a:bodyPr wrap="square" anchor="t" lIns="45720" rIns="45720" tIns="27432" bIns="27432">
            <a:noAutofit/>
          </a:bodyPr>
          <a:lstStyle/>
          <a:p>
            <a:pPr algn="l"/>
            <a:r>
              <a:rPr sz="2600" b="0" i="0">
                <a:solidFill>
                  <a:srgbClr val="1A1A1A"/>
                </a:solidFill>
                <a:latin typeface="Calibri"/>
              </a:rPr>
              <a:t>A plus a load-transfer output in the cost</a:t>
            </a:r>
          </a:p>
        </p:txBody>
      </p:sp>
      <p:sp>
        <p:nvSpPr>
          <p:cNvPr id="18" name="TextBox 17"/>
          <p:cNvSpPr txBox="1"/>
          <p:nvPr/>
        </p:nvSpPr>
        <p:spPr>
          <a:xfrm>
            <a:off x="10287000" y="8001000"/>
            <a:ext cx="3767328" cy="548640"/>
          </a:xfrm>
          <a:prstGeom prst="rect">
            <a:avLst/>
          </a:prstGeom>
          <a:noFill/>
        </p:spPr>
        <p:txBody>
          <a:bodyPr wrap="square" anchor="t" lIns="45720" rIns="45720" tIns="27432" bIns="27432">
            <a:noAutofit/>
          </a:bodyPr>
          <a:lstStyle/>
          <a:p>
            <a:pPr algn="l"/>
            <a:r>
              <a:rPr sz="2000" b="1" i="0">
                <a:solidFill>
                  <a:srgbClr val="6E6E6E"/>
                </a:solidFill>
                <a:latin typeface="Helvetica"/>
              </a:rPr>
              <a:t>FEEDBACK</a:t>
            </a:r>
          </a:p>
        </p:txBody>
      </p:sp>
      <p:sp>
        <p:nvSpPr>
          <p:cNvPr id="19" name="Rounded Rectangle 18"/>
          <p:cNvSpPr/>
          <p:nvPr/>
        </p:nvSpPr>
        <p:spPr>
          <a:xfrm>
            <a:off x="14630399" y="3749039"/>
            <a:ext cx="4315968" cy="4937760"/>
          </a:xfrm>
          <a:prstGeom prst="roundRect">
            <a:avLst>
              <a:gd name="adj" fmla="val 5000"/>
            </a:avLst>
          </a:prstGeom>
          <a:solidFill>
            <a:srgbClr val="E6C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904719" y="3977639"/>
            <a:ext cx="3767328" cy="1188720"/>
          </a:xfrm>
          <a:prstGeom prst="rect">
            <a:avLst/>
          </a:prstGeom>
          <a:noFill/>
        </p:spPr>
        <p:txBody>
          <a:bodyPr wrap="square" anchor="t" lIns="45720" rIns="45720" tIns="27432" bIns="27432">
            <a:noAutofit/>
          </a:bodyPr>
          <a:lstStyle/>
          <a:p>
            <a:pPr algn="l"/>
            <a:r>
              <a:rPr sz="6000" b="1" i="0">
                <a:solidFill>
                  <a:srgbClr val="840032"/>
                </a:solidFill>
                <a:latin typeface="Helvetica"/>
              </a:rPr>
              <a:t>Pv</a:t>
            </a:r>
          </a:p>
        </p:txBody>
      </p:sp>
      <p:sp>
        <p:nvSpPr>
          <p:cNvPr id="21" name="TextBox 20"/>
          <p:cNvSpPr txBox="1"/>
          <p:nvPr/>
        </p:nvSpPr>
        <p:spPr>
          <a:xfrm>
            <a:off x="14904719" y="5257800"/>
            <a:ext cx="3767328" cy="1097280"/>
          </a:xfrm>
          <a:prstGeom prst="rect">
            <a:avLst/>
          </a:prstGeom>
          <a:noFill/>
        </p:spPr>
        <p:txBody>
          <a:bodyPr wrap="square" anchor="t" lIns="45720" rIns="45720" tIns="27432" bIns="27432">
            <a:noAutofit/>
          </a:bodyPr>
          <a:lstStyle/>
          <a:p>
            <a:pPr algn="l"/>
            <a:r>
              <a:rPr sz="2700" b="1" i="0">
                <a:solidFill>
                  <a:srgbClr val="1A1A1A"/>
                </a:solidFill>
                <a:latin typeface="Calibri"/>
              </a:rPr>
              <a:t>Road preview</a:t>
            </a:r>
          </a:p>
        </p:txBody>
      </p:sp>
      <p:sp>
        <p:nvSpPr>
          <p:cNvPr id="22" name="TextBox 21"/>
          <p:cNvSpPr txBox="1"/>
          <p:nvPr/>
        </p:nvSpPr>
        <p:spPr>
          <a:xfrm>
            <a:off x="14904719" y="6446520"/>
            <a:ext cx="3767328" cy="1463040"/>
          </a:xfrm>
          <a:prstGeom prst="rect">
            <a:avLst/>
          </a:prstGeom>
          <a:noFill/>
        </p:spPr>
        <p:txBody>
          <a:bodyPr wrap="square" anchor="t" lIns="45720" rIns="45720" tIns="27432" bIns="27432">
            <a:noAutofit/>
          </a:bodyPr>
          <a:lstStyle/>
          <a:p>
            <a:pPr algn="l"/>
            <a:r>
              <a:rPr sz="2600" b="0" i="0">
                <a:solidFill>
                  <a:srgbClr val="1A1A1A"/>
                </a:solidFill>
                <a:latin typeface="Calibri"/>
              </a:rPr>
              <a:t>B plus 1.04 m of road ahead (75 ms)</a:t>
            </a:r>
          </a:p>
        </p:txBody>
      </p:sp>
      <p:sp>
        <p:nvSpPr>
          <p:cNvPr id="23" name="TextBox 22"/>
          <p:cNvSpPr txBox="1"/>
          <p:nvPr/>
        </p:nvSpPr>
        <p:spPr>
          <a:xfrm>
            <a:off x="14904719" y="8001000"/>
            <a:ext cx="3767328" cy="548640"/>
          </a:xfrm>
          <a:prstGeom prst="rect">
            <a:avLst/>
          </a:prstGeom>
          <a:noFill/>
        </p:spPr>
        <p:txBody>
          <a:bodyPr wrap="square" anchor="t" lIns="45720" rIns="45720" tIns="27432" bIns="27432">
            <a:noAutofit/>
          </a:bodyPr>
          <a:lstStyle/>
          <a:p>
            <a:pPr algn="l"/>
            <a:r>
              <a:rPr sz="2000" b="1" i="0">
                <a:solidFill>
                  <a:srgbClr val="6E6E6E"/>
                </a:solidFill>
                <a:latin typeface="Helvetica"/>
              </a:rPr>
              <a:t>PREVIEW</a:t>
            </a:r>
          </a:p>
        </p:txBody>
      </p:sp>
      <p:sp>
        <p:nvSpPr>
          <p:cNvPr id="24" name="Rounded Rectangle 23"/>
          <p:cNvSpPr/>
          <p:nvPr/>
        </p:nvSpPr>
        <p:spPr>
          <a:xfrm>
            <a:off x="19248120" y="3749039"/>
            <a:ext cx="4315968" cy="4937760"/>
          </a:xfrm>
          <a:prstGeom prst="roundRect">
            <a:avLst>
              <a:gd name="adj" fmla="val 5000"/>
            </a:avLst>
          </a:prstGeom>
          <a:solidFill>
            <a:srgbClr val="E6C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522440" y="3977639"/>
            <a:ext cx="3767328" cy="1188720"/>
          </a:xfrm>
          <a:prstGeom prst="rect">
            <a:avLst/>
          </a:prstGeom>
          <a:noFill/>
        </p:spPr>
        <p:txBody>
          <a:bodyPr wrap="square" anchor="t" lIns="45720" rIns="45720" tIns="27432" bIns="27432">
            <a:noAutofit/>
          </a:bodyPr>
          <a:lstStyle/>
          <a:p>
            <a:pPr algn="l"/>
            <a:r>
              <a:rPr sz="6000" b="1" i="0">
                <a:solidFill>
                  <a:srgbClr val="840032"/>
                </a:solidFill>
                <a:latin typeface="Helvetica"/>
              </a:rPr>
              <a:t>Pa</a:t>
            </a:r>
          </a:p>
        </p:txBody>
      </p:sp>
      <p:sp>
        <p:nvSpPr>
          <p:cNvPr id="26" name="TextBox 25"/>
          <p:cNvSpPr txBox="1"/>
          <p:nvPr/>
        </p:nvSpPr>
        <p:spPr>
          <a:xfrm>
            <a:off x="19522440" y="5257800"/>
            <a:ext cx="3767328" cy="1097280"/>
          </a:xfrm>
          <a:prstGeom prst="rect">
            <a:avLst/>
          </a:prstGeom>
          <a:noFill/>
        </p:spPr>
        <p:txBody>
          <a:bodyPr wrap="square" anchor="t" lIns="45720" rIns="45720" tIns="27432" bIns="27432">
            <a:noAutofit/>
          </a:bodyPr>
          <a:lstStyle/>
          <a:p>
            <a:pPr algn="l"/>
            <a:r>
              <a:rPr sz="2700" b="1" i="0">
                <a:solidFill>
                  <a:srgbClr val="1A1A1A"/>
                </a:solidFill>
                <a:latin typeface="Calibri"/>
              </a:rPr>
              <a:t>Road + a</a:t>
            </a:r>
            <a:r>
              <a:rPr sz="2700" b="1" i="0" baseline="-25000">
                <a:solidFill>
                  <a:srgbClr val="1A1A1A"/>
                </a:solidFill>
                <a:latin typeface="Calibri"/>
              </a:rPr>
              <a:t>y</a:t>
            </a:r>
            <a:r>
              <a:rPr sz="2700" b="1" i="0">
                <a:solidFill>
                  <a:srgbClr val="1A1A1A"/>
                </a:solidFill>
                <a:latin typeface="Calibri"/>
              </a:rPr>
              <a:t> preview</a:t>
            </a:r>
          </a:p>
        </p:txBody>
      </p:sp>
      <p:sp>
        <p:nvSpPr>
          <p:cNvPr id="27" name="TextBox 26"/>
          <p:cNvSpPr txBox="1"/>
          <p:nvPr/>
        </p:nvSpPr>
        <p:spPr>
          <a:xfrm>
            <a:off x="19522440" y="6446520"/>
            <a:ext cx="3767328" cy="1463040"/>
          </a:xfrm>
          <a:prstGeom prst="rect">
            <a:avLst/>
          </a:prstGeom>
          <a:noFill/>
        </p:spPr>
        <p:txBody>
          <a:bodyPr wrap="square" anchor="t" lIns="45720" rIns="45720" tIns="27432" bIns="27432">
            <a:noAutofit/>
          </a:bodyPr>
          <a:lstStyle/>
          <a:p>
            <a:pPr algn="l"/>
            <a:r>
              <a:rPr sz="2600" b="0" i="0">
                <a:solidFill>
                  <a:srgbClr val="1A1A1A"/>
                </a:solidFill>
                <a:latin typeface="Calibri"/>
              </a:rPr>
              <a:t>Pv plus the planned lateral acceleration</a:t>
            </a:r>
          </a:p>
        </p:txBody>
      </p:sp>
      <p:sp>
        <p:nvSpPr>
          <p:cNvPr id="28" name="TextBox 27"/>
          <p:cNvSpPr txBox="1"/>
          <p:nvPr/>
        </p:nvSpPr>
        <p:spPr>
          <a:xfrm>
            <a:off x="19522440" y="8001000"/>
            <a:ext cx="3767328" cy="548640"/>
          </a:xfrm>
          <a:prstGeom prst="rect">
            <a:avLst/>
          </a:prstGeom>
          <a:noFill/>
        </p:spPr>
        <p:txBody>
          <a:bodyPr wrap="square" anchor="t" lIns="45720" rIns="45720" tIns="27432" bIns="27432">
            <a:noAutofit/>
          </a:bodyPr>
          <a:lstStyle/>
          <a:p>
            <a:pPr algn="l"/>
            <a:r>
              <a:rPr sz="2000" b="1" i="0">
                <a:solidFill>
                  <a:srgbClr val="6E6E6E"/>
                </a:solidFill>
                <a:latin typeface="Helvetica"/>
              </a:rPr>
              <a:t>PREVIEW</a:t>
            </a:r>
          </a:p>
        </p:txBody>
      </p:sp>
      <p:sp>
        <p:nvSpPr>
          <p:cNvPr id="29" name="TextBox 28"/>
          <p:cNvSpPr txBox="1"/>
          <p:nvPr/>
        </p:nvSpPr>
        <p:spPr>
          <a:xfrm>
            <a:off x="777240" y="9144000"/>
            <a:ext cx="22860000" cy="3474720"/>
          </a:xfrm>
          <a:prstGeom prst="rect">
            <a:avLst/>
          </a:prstGeom>
          <a:noFill/>
        </p:spPr>
        <p:txBody>
          <a:bodyPr wrap="square" lIns="45720" rIns="45720" tIns="27432" bIns="27432">
            <a:noAutofit/>
          </a:bodyPr>
          <a:lstStyle/>
          <a:p>
            <a:pPr algn="l" marL="411480" indent="-411480">
              <a:spcAft>
                <a:spcPts val="1000"/>
              </a:spcAft>
              <a:buFont typeface="Arial"/>
              <a:buChar char="•"/>
            </a:pPr>
            <a:r>
              <a:rPr sz="2900" b="1" i="0">
                <a:solidFill>
                  <a:srgbClr val="1A1A1A"/>
                </a:solidFill>
                <a:latin typeface="Calibri"/>
              </a:rPr>
              <a:t>Output-weighted LQR: </a:t>
            </a:r>
            <a:r>
              <a:rPr sz="2900" b="0" i="0">
                <a:solidFill>
                  <a:srgbClr val="1A1A1A"/>
                </a:solidFill>
                <a:latin typeface="Calibri"/>
              </a:rPr>
              <a:t>body accelerations, travel, dynamic tyre load, roll angle and LTR as outputs; Bryson-normalised, rollover-led weights; discretised at 1 kHz</a:t>
            </a:r>
          </a:p>
          <a:p>
            <a:pPr algn="l" marL="411480" indent="-411480">
              <a:spcAft>
                <a:spcPts val="1000"/>
              </a:spcAft>
              <a:buFont typeface="Arial"/>
              <a:buChar char="•"/>
            </a:pPr>
            <a:r>
              <a:rPr sz="2900" b="1" i="0">
                <a:solidFill>
                  <a:srgbClr val="1A1A1A"/>
                </a:solidFill>
                <a:latin typeface="Calibri"/>
              </a:rPr>
              <a:t>LQ preview: </a:t>
            </a:r>
            <a:r>
              <a:rPr sz="2900" b="0" i="0">
                <a:solidFill>
                  <a:srgbClr val="1A1A1A"/>
                </a:solidFill>
                <a:latin typeface="Calibri"/>
              </a:rPr>
              <a:t>state augmented with a shift register of future disturbance samples, u</a:t>
            </a:r>
            <a:r>
              <a:rPr sz="2900" b="0" i="0" baseline="-25000">
                <a:solidFill>
                  <a:srgbClr val="1A1A1A"/>
                </a:solidFill>
                <a:latin typeface="Calibri"/>
              </a:rPr>
              <a:t>k</a:t>
            </a:r>
            <a:r>
              <a:rPr sz="2900" b="0" i="0">
                <a:solidFill>
                  <a:srgbClr val="1A1A1A"/>
                </a:solidFill>
                <a:latin typeface="Calibri"/>
              </a:rPr>
              <a:t> = −K</a:t>
            </a:r>
            <a:r>
              <a:rPr sz="2900" b="0" i="0" baseline="-25000">
                <a:solidFill>
                  <a:srgbClr val="1A1A1A"/>
                </a:solidFill>
                <a:latin typeface="Calibri"/>
              </a:rPr>
              <a:t>x</a:t>
            </a:r>
            <a:r>
              <a:rPr sz="2900" b="0" i="0">
                <a:solidFill>
                  <a:srgbClr val="1A1A1A"/>
                </a:solidFill>
                <a:latin typeface="Calibri"/>
              </a:rPr>
              <a:t> x</a:t>
            </a:r>
            <a:r>
              <a:rPr sz="2900" b="0" i="0" baseline="-25000">
                <a:solidFill>
                  <a:srgbClr val="1A1A1A"/>
                </a:solidFill>
                <a:latin typeface="Calibri"/>
              </a:rPr>
              <a:t>k</a:t>
            </a:r>
            <a:r>
              <a:rPr sz="2900" b="0" i="0">
                <a:solidFill>
                  <a:srgbClr val="1A1A1A"/>
                </a:solidFill>
                <a:latin typeface="Calibri"/>
              </a:rPr>
              <a:t> − Σ K</a:t>
            </a:r>
            <a:r>
              <a:rPr sz="2900" b="0" i="0" baseline="-25000">
                <a:solidFill>
                  <a:srgbClr val="1A1A1A"/>
                </a:solidFill>
                <a:latin typeface="Calibri"/>
              </a:rPr>
              <a:t>ff,j</a:t>
            </a:r>
            <a:r>
              <a:rPr sz="2900" b="0" i="0">
                <a:solidFill>
                  <a:srgbClr val="1A1A1A"/>
                </a:solidFill>
                <a:latin typeface="Calibri"/>
              </a:rPr>
              <a:t> w</a:t>
            </a:r>
            <a:r>
              <a:rPr sz="2900" b="0" i="0" baseline="-25000">
                <a:solidFill>
                  <a:srgbClr val="1A1A1A"/>
                </a:solidFill>
                <a:latin typeface="Calibri"/>
              </a:rPr>
              <a:t>k+j</a:t>
            </a:r>
          </a:p>
          <a:p>
            <a:pPr algn="l" marL="411480" indent="-411480">
              <a:spcAft>
                <a:spcPts val="1000"/>
              </a:spcAft>
              <a:buFont typeface="Arial"/>
              <a:buChar char="•"/>
            </a:pPr>
            <a:r>
              <a:rPr sz="2900" b="1" i="0">
                <a:solidFill>
                  <a:srgbClr val="1A1A1A"/>
                </a:solidFill>
                <a:latin typeface="Calibri"/>
              </a:rPr>
              <a:t>Structure: </a:t>
            </a:r>
            <a:r>
              <a:rPr sz="2900" b="0" i="0">
                <a:solidFill>
                  <a:srgbClr val="1A1A1A"/>
                </a:solidFill>
                <a:latin typeface="Calibri"/>
              </a:rPr>
              <a:t>K</a:t>
            </a:r>
            <a:r>
              <a:rPr sz="2900" b="0" i="0" baseline="-25000">
                <a:solidFill>
                  <a:srgbClr val="1A1A1A"/>
                </a:solidFill>
                <a:latin typeface="Calibri"/>
              </a:rPr>
              <a:t>x</a:t>
            </a:r>
            <a:r>
              <a:rPr sz="2900" b="0" i="0">
                <a:solidFill>
                  <a:srgbClr val="1A1A1A"/>
                </a:solidFill>
                <a:latin typeface="Calibri"/>
              </a:rPr>
              <a:t> equals the ordinary LQR gain; preview gains follow a recursion and decay with lead time; the tail beyond the horizon is summed in closed form (matters for the steady a</a:t>
            </a:r>
            <a:r>
              <a:rPr sz="2900" b="0" i="0" baseline="-25000">
                <a:solidFill>
                  <a:srgbClr val="1A1A1A"/>
                </a:solidFill>
                <a:latin typeface="Calibri"/>
              </a:rPr>
              <a:t>y</a:t>
            </a:r>
            <a:r>
              <a:rPr sz="2900" b="0" i="0">
                <a:solidFill>
                  <a:srgbClr val="1A1A1A"/>
                </a:solidFill>
                <a:latin typeface="Calibri"/>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3. STUDY 2: CHOOSING THE PREVIEW HORIZON</a:t>
            </a:r>
          </a:p>
        </p:txBody>
      </p:sp>
      <p:graphicFrame>
        <p:nvGraphicFramePr>
          <p:cNvPr id="4" name="Chart 3"/>
          <p:cNvGraphicFramePr>
            <a:graphicFrameLocks noGrp="1"/>
          </p:cNvGraphicFramePr>
          <p:nvPr/>
        </p:nvGraphicFramePr>
        <p:xfrm>
          <a:off x="777240" y="3566160"/>
          <a:ext cx="11247120" cy="612648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12344400" y="3566160"/>
          <a:ext cx="11247120" cy="6126480"/>
        </p:xfrm>
        <a:graphic>
          <a:graphicData uri="http://schemas.openxmlformats.org/drawingml/2006/chart">
            <c:chart xmlns:c="http://schemas.openxmlformats.org/drawingml/2006/chart" r:id="rId4"/>
          </a:graphicData>
        </a:graphic>
      </p:graphicFrame>
      <p:sp>
        <p:nvSpPr>
          <p:cNvPr id="6" name="Rounded Rectangle 5"/>
          <p:cNvSpPr/>
          <p:nvPr/>
        </p:nvSpPr>
        <p:spPr>
          <a:xfrm>
            <a:off x="777240" y="9966960"/>
            <a:ext cx="7315200" cy="256032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0241280"/>
            <a:ext cx="6492240" cy="857250"/>
          </a:xfrm>
          <a:prstGeom prst="rect">
            <a:avLst/>
          </a:prstGeom>
          <a:noFill/>
        </p:spPr>
        <p:txBody>
          <a:bodyPr wrap="square" anchor="t" lIns="45720" rIns="45720" tIns="27432" bIns="27432">
            <a:noAutofit/>
          </a:bodyPr>
          <a:lstStyle/>
          <a:p>
            <a:pPr algn="l"/>
            <a:r>
              <a:rPr sz="5000" b="1" i="0">
                <a:solidFill>
                  <a:srgbClr val="840032"/>
                </a:solidFill>
                <a:latin typeface="Helvetica"/>
              </a:rPr>
              <a:t>0.28 m</a:t>
            </a:r>
          </a:p>
        </p:txBody>
      </p:sp>
      <p:sp>
        <p:nvSpPr>
          <p:cNvPr id="8" name="TextBox 7"/>
          <p:cNvSpPr txBox="1"/>
          <p:nvPr/>
        </p:nvSpPr>
        <p:spPr>
          <a:xfrm>
            <a:off x="1188720" y="11144250"/>
            <a:ext cx="6492240" cy="1154429"/>
          </a:xfrm>
          <a:prstGeom prst="rect">
            <a:avLst/>
          </a:prstGeom>
          <a:noFill/>
        </p:spPr>
        <p:txBody>
          <a:bodyPr wrap="square" anchor="t" lIns="45720" rIns="45720" tIns="27432" bIns="27432">
            <a:noAutofit/>
          </a:bodyPr>
          <a:lstStyle/>
          <a:p>
            <a:pPr algn="l"/>
            <a:r>
              <a:rPr sz="2700" b="0" i="0">
                <a:solidFill>
                  <a:srgbClr val="1A1A1A"/>
                </a:solidFill>
                <a:latin typeface="Calibri"/>
              </a:rPr>
              <a:t>cost knee: 96.9 % of the LQ cost reduction</a:t>
            </a:r>
          </a:p>
        </p:txBody>
      </p:sp>
      <p:sp>
        <p:nvSpPr>
          <p:cNvPr id="9" name="Rounded Rectangle 8"/>
          <p:cNvSpPr/>
          <p:nvPr/>
        </p:nvSpPr>
        <p:spPr>
          <a:xfrm>
            <a:off x="8458200" y="9966960"/>
            <a:ext cx="7315200" cy="256032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0" y="10241280"/>
            <a:ext cx="6492240" cy="857250"/>
          </a:xfrm>
          <a:prstGeom prst="rect">
            <a:avLst/>
          </a:prstGeom>
          <a:noFill/>
        </p:spPr>
        <p:txBody>
          <a:bodyPr wrap="square" anchor="t" lIns="45720" rIns="45720" tIns="27432" bIns="27432">
            <a:noAutofit/>
          </a:bodyPr>
          <a:lstStyle/>
          <a:p>
            <a:pPr algn="l"/>
            <a:r>
              <a:rPr sz="5000" b="1" i="0">
                <a:solidFill>
                  <a:srgbClr val="840032"/>
                </a:solidFill>
                <a:latin typeface="Helvetica"/>
              </a:rPr>
              <a:t>1.04 m</a:t>
            </a:r>
          </a:p>
        </p:txBody>
      </p:sp>
      <p:sp>
        <p:nvSpPr>
          <p:cNvPr id="11" name="TextBox 10"/>
          <p:cNvSpPr txBox="1"/>
          <p:nvPr/>
        </p:nvSpPr>
        <p:spPr>
          <a:xfrm>
            <a:off x="8869680" y="11144250"/>
            <a:ext cx="6492240" cy="1154429"/>
          </a:xfrm>
          <a:prstGeom prst="rect">
            <a:avLst/>
          </a:prstGeom>
          <a:noFill/>
        </p:spPr>
        <p:txBody>
          <a:bodyPr wrap="square" anchor="t" lIns="45720" rIns="45720" tIns="27432" bIns="27432">
            <a:noAutofit/>
          </a:bodyPr>
          <a:lstStyle/>
          <a:p>
            <a:pPr algn="l"/>
            <a:r>
              <a:rPr sz="2700" b="0" i="0">
                <a:solidFill>
                  <a:srgbClr val="1A1A1A"/>
                </a:solidFill>
                <a:latin typeface="Calibri"/>
              </a:rPr>
              <a:t>where peak LTR stops improving; used (75 ms at 50 km/h)</a:t>
            </a:r>
          </a:p>
        </p:txBody>
      </p:sp>
      <p:sp>
        <p:nvSpPr>
          <p:cNvPr id="12" name="Rounded Rectangle 11"/>
          <p:cNvSpPr/>
          <p:nvPr/>
        </p:nvSpPr>
        <p:spPr>
          <a:xfrm>
            <a:off x="16139160" y="9966960"/>
            <a:ext cx="7315200" cy="256032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550640" y="10241280"/>
            <a:ext cx="6492240" cy="857250"/>
          </a:xfrm>
          <a:prstGeom prst="rect">
            <a:avLst/>
          </a:prstGeom>
          <a:noFill/>
        </p:spPr>
        <p:txBody>
          <a:bodyPr wrap="square" anchor="t" lIns="45720" rIns="45720" tIns="27432" bIns="27432">
            <a:noAutofit/>
          </a:bodyPr>
          <a:lstStyle/>
          <a:p>
            <a:pPr algn="l"/>
            <a:r>
              <a:rPr sz="5000" b="1" i="0">
                <a:solidFill>
                  <a:srgbClr val="840032"/>
                </a:solidFill>
                <a:latin typeface="Helvetica"/>
              </a:rPr>
              <a:t>0.499</a:t>
            </a:r>
          </a:p>
        </p:txBody>
      </p:sp>
      <p:sp>
        <p:nvSpPr>
          <p:cNvPr id="14" name="TextBox 13"/>
          <p:cNvSpPr txBox="1"/>
          <p:nvPr/>
        </p:nvSpPr>
        <p:spPr>
          <a:xfrm>
            <a:off x="16550640" y="11144250"/>
            <a:ext cx="6492240" cy="1154429"/>
          </a:xfrm>
          <a:prstGeom prst="rect">
            <a:avLst/>
          </a:prstGeom>
          <a:noFill/>
        </p:spPr>
        <p:txBody>
          <a:bodyPr wrap="square" anchor="t" lIns="45720" rIns="45720" tIns="27432" bIns="27432">
            <a:noAutofit/>
          </a:bodyPr>
          <a:lstStyle/>
          <a:p>
            <a:pPr algn="l"/>
            <a:r>
              <a:rPr sz="2700" b="0" i="0">
                <a:solidFill>
                  <a:srgbClr val="1A1A1A"/>
                </a:solidFill>
                <a:latin typeface="Calibri"/>
              </a:rPr>
              <a:t>clairvoyant peak LTR: the gap is information, not force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4. STUDY 2: THE BASELINE CASE</a:t>
            </a:r>
          </a:p>
        </p:txBody>
      </p:sp>
      <p:pic>
        <p:nvPicPr>
          <p:cNvPr id="4" name="Picture 3" descr="fig6_baseline_time.png"/>
          <p:cNvPicPr>
            <a:picLocks noChangeAspect="1"/>
          </p:cNvPicPr>
          <p:nvPr/>
        </p:nvPicPr>
        <p:blipFill>
          <a:blip r:embed="rId3"/>
          <a:stretch>
            <a:fillRect/>
          </a:stretch>
        </p:blipFill>
        <p:spPr>
          <a:xfrm>
            <a:off x="777240" y="3566160"/>
            <a:ext cx="12435840" cy="6972909"/>
          </a:xfrm>
          <a:prstGeom prst="rect">
            <a:avLst/>
          </a:prstGeom>
        </p:spPr>
      </p:pic>
      <p:sp>
        <p:nvSpPr>
          <p:cNvPr id="5" name="TextBox 4"/>
          <p:cNvSpPr txBox="1"/>
          <p:nvPr/>
        </p:nvSpPr>
        <p:spPr>
          <a:xfrm>
            <a:off x="777240" y="10652760"/>
            <a:ext cx="12435840" cy="914400"/>
          </a:xfrm>
          <a:prstGeom prst="rect">
            <a:avLst/>
          </a:prstGeom>
          <a:noFill/>
        </p:spPr>
        <p:txBody>
          <a:bodyPr wrap="square" anchor="t" lIns="45720" rIns="45720" tIns="27432" bIns="27432">
            <a:noAutofit/>
          </a:bodyPr>
          <a:lstStyle/>
          <a:p>
            <a:pPr algn="l"/>
            <a:r>
              <a:rPr sz="2400" b="0" i="1">
                <a:solidFill>
                  <a:srgbClr val="6E6E6E"/>
                </a:solidFill>
                <a:latin typeface="Calibri"/>
              </a:rPr>
              <a:t>a</a:t>
            </a:r>
            <a:r>
              <a:rPr sz="2400" b="0" i="1" baseline="-25000">
                <a:solidFill>
                  <a:srgbClr val="6E6E6E"/>
                </a:solidFill>
                <a:latin typeface="Calibri"/>
              </a:rPr>
              <a:t>y</a:t>
            </a:r>
            <a:r>
              <a:rPr sz="2400" b="0" i="1">
                <a:solidFill>
                  <a:srgbClr val="6E6E6E"/>
                </a:solidFill>
                <a:latin typeface="Calibri"/>
              </a:rPr>
              <a:t>, body roll and LTR; the dashed line marks the inner front wheel meeting the bump.</a:t>
            </a:r>
          </a:p>
        </p:txBody>
      </p:sp>
      <p:graphicFrame>
        <p:nvGraphicFramePr>
          <p:cNvPr id="6" name="Table 5"/>
          <p:cNvGraphicFramePr>
            <a:graphicFrameLocks noGrp="1"/>
          </p:cNvGraphicFramePr>
          <p:nvPr/>
        </p:nvGraphicFramePr>
        <p:xfrm>
          <a:off x="13670280" y="3566160"/>
          <a:ext cx="9966960" cy="4114800"/>
        </p:xfrm>
        <a:graphic>
          <a:graphicData uri="http://schemas.openxmlformats.org/drawingml/2006/table">
            <a:tbl>
              <a:tblPr firstRow="1" bandRow="1">
                <a:tableStyleId>{5C22544A-7EE6-4342-B048-85BDC9FD1C3A}</a:tableStyleId>
              </a:tblPr>
              <a:tblGrid>
                <a:gridCol w="1828800"/>
                <a:gridCol w="2743200"/>
                <a:gridCol w="2468880"/>
                <a:gridCol w="2926080"/>
              </a:tblGrid>
              <a:tr h="685800">
                <a:tc>
                  <a:txBody>
                    <a:bodyPr wrap="square"/>
                    <a:lstStyle/>
                    <a:p>
                      <a:pPr algn="l"/>
                      <a:r>
                        <a:rPr sz="2600" b="1" i="0">
                          <a:solidFill>
                            <a:srgbClr val="FFFFFF"/>
                          </a:solidFill>
                          <a:latin typeface="Calibri"/>
                        </a:rPr>
                        <a:t>0.5 g</a:t>
                      </a:r>
                    </a:p>
                  </a:txBody>
                  <a:tcPr anchor="ctr" marL="109728" marR="109728" marT="27432" marB="27432">
                    <a:solidFill>
                      <a:srgbClr val="840032"/>
                    </a:solidFill>
                  </a:tcPr>
                </a:tc>
                <a:tc>
                  <a:txBody>
                    <a:bodyPr wrap="square"/>
                    <a:lstStyle/>
                    <a:p>
                      <a:pPr algn="ctr"/>
                      <a:r>
                        <a:rPr sz="2600" b="1" i="0">
                          <a:solidFill>
                            <a:srgbClr val="FFFFFF"/>
                          </a:solidFill>
                          <a:latin typeface="Calibri"/>
                        </a:rPr>
                        <a:t>peak LTR</a:t>
                      </a:r>
                    </a:p>
                  </a:txBody>
                  <a:tcPr anchor="ctr" marL="109728" marR="109728" marT="27432" marB="27432">
                    <a:solidFill>
                      <a:srgbClr val="840032"/>
                    </a:solidFill>
                  </a:tcPr>
                </a:tc>
                <a:tc>
                  <a:txBody>
                    <a:bodyPr wrap="square"/>
                    <a:lstStyle/>
                    <a:p>
                      <a:pPr algn="ctr"/>
                      <a:r>
                        <a:rPr sz="2600" b="1" i="0">
                          <a:solidFill>
                            <a:srgbClr val="FFFFFF"/>
                          </a:solidFill>
                          <a:latin typeface="Calibri"/>
                        </a:rPr>
                        <a:t>roll [°]</a:t>
                      </a:r>
                    </a:p>
                  </a:txBody>
                  <a:tcPr anchor="ctr" marL="109728" marR="109728" marT="27432" marB="27432">
                    <a:solidFill>
                      <a:srgbClr val="840032"/>
                    </a:solidFill>
                  </a:tcPr>
                </a:tc>
                <a:tc>
                  <a:txBody>
                    <a:bodyPr wrap="square"/>
                    <a:lstStyle/>
                    <a:p>
                      <a:pPr algn="ctr"/>
                      <a:r>
                        <a:rPr sz="2600" b="1" i="0">
                          <a:solidFill>
                            <a:srgbClr val="FFFFFF"/>
                          </a:solidFill>
                          <a:latin typeface="Calibri"/>
                        </a:rPr>
                        <a:t>past 0.6 [ms]</a:t>
                      </a:r>
                    </a:p>
                  </a:txBody>
                  <a:tcPr anchor="ctr" marL="109728" marR="109728" marT="27432" marB="27432">
                    <a:solidFill>
                      <a:srgbClr val="840032"/>
                    </a:solidFill>
                  </a:tcPr>
                </a:tc>
              </a:tr>
              <a:tr h="685800">
                <a:tc>
                  <a:txBody>
                    <a:bodyPr wrap="square"/>
                    <a:lstStyle/>
                    <a:p>
                      <a:pPr algn="l"/>
                      <a:r>
                        <a:rPr sz="2600" b="0" i="0">
                          <a:solidFill>
                            <a:srgbClr val="1A1A1A"/>
                          </a:solidFill>
                          <a:latin typeface="Calibri"/>
                        </a:rPr>
                        <a:t>P</a:t>
                      </a:r>
                    </a:p>
                  </a:txBody>
                  <a:tcPr anchor="ctr" marL="109728" marR="109728" marT="27432" marB="27432">
                    <a:solidFill>
                      <a:srgbClr val="F4E9EE"/>
                    </a:solidFill>
                  </a:tcPr>
                </a:tc>
                <a:tc>
                  <a:txBody>
                    <a:bodyPr wrap="square"/>
                    <a:lstStyle/>
                    <a:p>
                      <a:pPr algn="ctr"/>
                      <a:r>
                        <a:rPr sz="2600" b="0" i="0">
                          <a:solidFill>
                            <a:srgbClr val="1A1A1A"/>
                          </a:solidFill>
                          <a:latin typeface="Calibri"/>
                        </a:rPr>
                        <a:t>0.742</a:t>
                      </a:r>
                    </a:p>
                  </a:txBody>
                  <a:tcPr anchor="ctr" marL="109728" marR="109728" marT="27432" marB="27432">
                    <a:solidFill>
                      <a:srgbClr val="F4E9EE"/>
                    </a:solidFill>
                  </a:tcPr>
                </a:tc>
                <a:tc>
                  <a:txBody>
                    <a:bodyPr wrap="square"/>
                    <a:lstStyle/>
                    <a:p>
                      <a:pPr algn="ctr"/>
                      <a:r>
                        <a:rPr sz="2600" b="0" i="0">
                          <a:solidFill>
                            <a:srgbClr val="1A1A1A"/>
                          </a:solidFill>
                          <a:latin typeface="Calibri"/>
                        </a:rPr>
                        <a:t>3.04</a:t>
                      </a:r>
                    </a:p>
                  </a:txBody>
                  <a:tcPr anchor="ctr" marL="109728" marR="109728" marT="27432" marB="27432">
                    <a:solidFill>
                      <a:srgbClr val="F4E9EE"/>
                    </a:solidFill>
                  </a:tcPr>
                </a:tc>
                <a:tc>
                  <a:txBody>
                    <a:bodyPr wrap="square"/>
                    <a:lstStyle/>
                    <a:p>
                      <a:pPr algn="ctr"/>
                      <a:r>
                        <a:rPr sz="2600" b="0" i="0">
                          <a:solidFill>
                            <a:srgbClr val="1A1A1A"/>
                          </a:solidFill>
                          <a:latin typeface="Calibri"/>
                        </a:rPr>
                        <a:t>33</a:t>
                      </a:r>
                    </a:p>
                  </a:txBody>
                  <a:tcPr anchor="ctr" marL="109728" marR="109728" marT="27432" marB="27432">
                    <a:solidFill>
                      <a:srgbClr val="F4E9EE"/>
                    </a:solidFill>
                  </a:tcPr>
                </a:tc>
              </a:tr>
              <a:tr h="685800">
                <a:tc>
                  <a:txBody>
                    <a:bodyPr wrap="square"/>
                    <a:lstStyle/>
                    <a:p>
                      <a:pPr algn="l"/>
                      <a:r>
                        <a:rPr sz="2600" b="0" i="0">
                          <a:solidFill>
                            <a:srgbClr val="1A1A1A"/>
                          </a:solidFill>
                          <a:latin typeface="Calibri"/>
                        </a:rPr>
                        <a:t>A</a:t>
                      </a:r>
                    </a:p>
                  </a:txBody>
                  <a:tcPr anchor="ctr" marL="109728" marR="109728" marT="27432" marB="27432">
                    <a:solidFill>
                      <a:srgbClr val="FFFFFF"/>
                    </a:solidFill>
                  </a:tcPr>
                </a:tc>
                <a:tc>
                  <a:txBody>
                    <a:bodyPr wrap="square"/>
                    <a:lstStyle/>
                    <a:p>
                      <a:pPr algn="ctr"/>
                      <a:r>
                        <a:rPr sz="2600" b="0" i="0">
                          <a:solidFill>
                            <a:srgbClr val="1A1A1A"/>
                          </a:solidFill>
                          <a:latin typeface="Calibri"/>
                        </a:rPr>
                        <a:t>0.865</a:t>
                      </a:r>
                    </a:p>
                  </a:txBody>
                  <a:tcPr anchor="ctr" marL="109728" marR="109728" marT="27432" marB="27432">
                    <a:solidFill>
                      <a:srgbClr val="FFFFFF"/>
                    </a:solidFill>
                  </a:tcPr>
                </a:tc>
                <a:tc>
                  <a:txBody>
                    <a:bodyPr wrap="square"/>
                    <a:lstStyle/>
                    <a:p>
                      <a:pPr algn="ctr"/>
                      <a:r>
                        <a:rPr sz="2600" b="0" i="0">
                          <a:solidFill>
                            <a:srgbClr val="1A1A1A"/>
                          </a:solidFill>
                          <a:latin typeface="Calibri"/>
                        </a:rPr>
                        <a:t>1.28</a:t>
                      </a:r>
                    </a:p>
                  </a:txBody>
                  <a:tcPr anchor="ctr" marL="109728" marR="109728" marT="27432" marB="27432">
                    <a:solidFill>
                      <a:srgbClr val="FFFFFF"/>
                    </a:solidFill>
                  </a:tcPr>
                </a:tc>
                <a:tc>
                  <a:txBody>
                    <a:bodyPr wrap="square"/>
                    <a:lstStyle/>
                    <a:p>
                      <a:pPr algn="ctr"/>
                      <a:r>
                        <a:rPr sz="2600" b="0" i="0">
                          <a:solidFill>
                            <a:srgbClr val="1A1A1A"/>
                          </a:solidFill>
                          <a:latin typeface="Calibri"/>
                        </a:rPr>
                        <a:t>50</a:t>
                      </a:r>
                    </a:p>
                  </a:txBody>
                  <a:tcPr anchor="ctr" marL="109728" marR="109728" marT="27432" marB="27432">
                    <a:solidFill>
                      <a:srgbClr val="FFFFFF"/>
                    </a:solidFill>
                  </a:tcPr>
                </a:tc>
              </a:tr>
              <a:tr h="685800">
                <a:tc>
                  <a:txBody>
                    <a:bodyPr wrap="square"/>
                    <a:lstStyle/>
                    <a:p>
                      <a:pPr algn="l"/>
                      <a:r>
                        <a:rPr sz="2600" b="0" i="0">
                          <a:solidFill>
                            <a:srgbClr val="1A1A1A"/>
                          </a:solidFill>
                          <a:latin typeface="Calibri"/>
                        </a:rPr>
                        <a:t>B</a:t>
                      </a:r>
                    </a:p>
                  </a:txBody>
                  <a:tcPr anchor="ctr" marL="109728" marR="109728" marT="27432" marB="27432">
                    <a:solidFill>
                      <a:srgbClr val="F4E9EE"/>
                    </a:solidFill>
                  </a:tcPr>
                </a:tc>
                <a:tc>
                  <a:txBody>
                    <a:bodyPr wrap="square"/>
                    <a:lstStyle/>
                    <a:p>
                      <a:pPr algn="ctr"/>
                      <a:r>
                        <a:rPr sz="2600" b="0" i="0">
                          <a:solidFill>
                            <a:srgbClr val="1A1A1A"/>
                          </a:solidFill>
                          <a:latin typeface="Calibri"/>
                        </a:rPr>
                        <a:t>0.822</a:t>
                      </a:r>
                    </a:p>
                  </a:txBody>
                  <a:tcPr anchor="ctr" marL="109728" marR="109728" marT="27432" marB="27432">
                    <a:solidFill>
                      <a:srgbClr val="F4E9EE"/>
                    </a:solidFill>
                  </a:tcPr>
                </a:tc>
                <a:tc>
                  <a:txBody>
                    <a:bodyPr wrap="square"/>
                    <a:lstStyle/>
                    <a:p>
                      <a:pPr algn="ctr"/>
                      <a:r>
                        <a:rPr sz="2600" b="0" i="0">
                          <a:solidFill>
                            <a:srgbClr val="1A1A1A"/>
                          </a:solidFill>
                          <a:latin typeface="Calibri"/>
                        </a:rPr>
                        <a:t>5.44</a:t>
                      </a:r>
                    </a:p>
                  </a:txBody>
                  <a:tcPr anchor="ctr" marL="109728" marR="109728" marT="27432" marB="27432">
                    <a:solidFill>
                      <a:srgbClr val="F4E9EE"/>
                    </a:solidFill>
                  </a:tcPr>
                </a:tc>
                <a:tc>
                  <a:txBody>
                    <a:bodyPr wrap="square"/>
                    <a:lstStyle/>
                    <a:p>
                      <a:pPr algn="ctr"/>
                      <a:r>
                        <a:rPr sz="2600" b="0" i="0">
                          <a:solidFill>
                            <a:srgbClr val="1A1A1A"/>
                          </a:solidFill>
                          <a:latin typeface="Calibri"/>
                        </a:rPr>
                        <a:t>22</a:t>
                      </a:r>
                    </a:p>
                  </a:txBody>
                  <a:tcPr anchor="ctr" marL="109728" marR="109728" marT="27432" marB="27432">
                    <a:solidFill>
                      <a:srgbClr val="F4E9EE"/>
                    </a:solidFill>
                  </a:tcPr>
                </a:tc>
              </a:tr>
              <a:tr h="685800">
                <a:tc>
                  <a:txBody>
                    <a:bodyPr wrap="square"/>
                    <a:lstStyle/>
                    <a:p>
                      <a:pPr algn="l"/>
                      <a:r>
                        <a:rPr sz="2600" b="0" i="0">
                          <a:solidFill>
                            <a:srgbClr val="1A1A1A"/>
                          </a:solidFill>
                          <a:latin typeface="Calibri"/>
                        </a:rPr>
                        <a:t>Pv</a:t>
                      </a:r>
                    </a:p>
                  </a:txBody>
                  <a:tcPr anchor="ctr" marL="109728" marR="109728" marT="27432" marB="27432">
                    <a:solidFill>
                      <a:srgbClr val="FFFFFF"/>
                    </a:solidFill>
                  </a:tcPr>
                </a:tc>
                <a:tc>
                  <a:txBody>
                    <a:bodyPr wrap="square"/>
                    <a:lstStyle/>
                    <a:p>
                      <a:pPr algn="ctr"/>
                      <a:r>
                        <a:rPr sz="2600" b="0" i="0">
                          <a:solidFill>
                            <a:srgbClr val="1A1A1A"/>
                          </a:solidFill>
                          <a:latin typeface="Calibri"/>
                        </a:rPr>
                        <a:t>0.500</a:t>
                      </a:r>
                    </a:p>
                  </a:txBody>
                  <a:tcPr anchor="ctr" marL="109728" marR="109728" marT="27432" marB="27432">
                    <a:solidFill>
                      <a:srgbClr val="FFFFFF"/>
                    </a:solidFill>
                  </a:tcPr>
                </a:tc>
                <a:tc>
                  <a:txBody>
                    <a:bodyPr wrap="square"/>
                    <a:lstStyle/>
                    <a:p>
                      <a:pPr algn="ctr"/>
                      <a:r>
                        <a:rPr sz="2600" b="0" i="0">
                          <a:solidFill>
                            <a:srgbClr val="1A1A1A"/>
                          </a:solidFill>
                          <a:latin typeface="Calibri"/>
                        </a:rPr>
                        <a:t>5.13</a:t>
                      </a:r>
                    </a:p>
                  </a:txBody>
                  <a:tcPr anchor="ctr" marL="109728" marR="109728" marT="27432" marB="27432">
                    <a:solidFill>
                      <a:srgbClr val="FFFFFF"/>
                    </a:solidFill>
                  </a:tcPr>
                </a:tc>
                <a:tc>
                  <a:txBody>
                    <a:bodyPr wrap="square"/>
                    <a:lstStyle/>
                    <a:p>
                      <a:pPr algn="ctr"/>
                      <a:r>
                        <a:rPr sz="2600" b="0" i="0">
                          <a:solidFill>
                            <a:srgbClr val="1A1A1A"/>
                          </a:solidFill>
                          <a:latin typeface="Calibri"/>
                        </a:rPr>
                        <a:t>0</a:t>
                      </a:r>
                    </a:p>
                  </a:txBody>
                  <a:tcPr anchor="ctr" marL="109728" marR="109728" marT="27432" marB="27432">
                    <a:solidFill>
                      <a:srgbClr val="FFFFFF"/>
                    </a:solidFill>
                  </a:tcPr>
                </a:tc>
              </a:tr>
              <a:tr h="685800">
                <a:tc>
                  <a:txBody>
                    <a:bodyPr wrap="square"/>
                    <a:lstStyle/>
                    <a:p>
                      <a:pPr algn="l"/>
                      <a:r>
                        <a:rPr sz="2600" b="1" i="0">
                          <a:solidFill>
                            <a:srgbClr val="840032"/>
                          </a:solidFill>
                          <a:latin typeface="Calibri"/>
                        </a:rPr>
                        <a:t>Pa</a:t>
                      </a:r>
                    </a:p>
                  </a:txBody>
                  <a:tcPr anchor="ctr" marL="109728" marR="109728" marT="27432" marB="27432">
                    <a:solidFill>
                      <a:srgbClr val="F4E9EE"/>
                    </a:solidFill>
                  </a:tcPr>
                </a:tc>
                <a:tc>
                  <a:txBody>
                    <a:bodyPr wrap="square"/>
                    <a:lstStyle/>
                    <a:p>
                      <a:pPr algn="ctr"/>
                      <a:r>
                        <a:rPr sz="2600" b="1" i="0">
                          <a:solidFill>
                            <a:srgbClr val="840032"/>
                          </a:solidFill>
                          <a:latin typeface="Calibri"/>
                        </a:rPr>
                        <a:t>0.457</a:t>
                      </a:r>
                    </a:p>
                  </a:txBody>
                  <a:tcPr anchor="ctr" marL="109728" marR="109728" marT="27432" marB="27432">
                    <a:solidFill>
                      <a:srgbClr val="F4E9EE"/>
                    </a:solidFill>
                  </a:tcPr>
                </a:tc>
                <a:tc>
                  <a:txBody>
                    <a:bodyPr wrap="square"/>
                    <a:lstStyle/>
                    <a:p>
                      <a:pPr algn="ctr"/>
                      <a:r>
                        <a:rPr sz="2600" b="1" i="0">
                          <a:solidFill>
                            <a:srgbClr val="840032"/>
                          </a:solidFill>
                          <a:latin typeface="Calibri"/>
                        </a:rPr>
                        <a:t>0.61</a:t>
                      </a:r>
                    </a:p>
                  </a:txBody>
                  <a:tcPr anchor="ctr" marL="109728" marR="109728" marT="27432" marB="27432">
                    <a:solidFill>
                      <a:srgbClr val="F4E9EE"/>
                    </a:solidFill>
                  </a:tcPr>
                </a:tc>
                <a:tc>
                  <a:txBody>
                    <a:bodyPr wrap="square"/>
                    <a:lstStyle/>
                    <a:p>
                      <a:pPr algn="ctr"/>
                      <a:r>
                        <a:rPr sz="2600" b="1" i="0">
                          <a:solidFill>
                            <a:srgbClr val="840032"/>
                          </a:solidFill>
                          <a:latin typeface="Calibri"/>
                        </a:rPr>
                        <a:t>0</a:t>
                      </a:r>
                    </a:p>
                  </a:txBody>
                  <a:tcPr anchor="ctr" marL="109728" marR="109728" marT="27432" marB="27432">
                    <a:solidFill>
                      <a:srgbClr val="F4E9EE"/>
                    </a:solidFill>
                  </a:tcPr>
                </a:tc>
              </a:tr>
            </a:tbl>
          </a:graphicData>
        </a:graphic>
      </p:graphicFrame>
      <p:sp>
        <p:nvSpPr>
          <p:cNvPr id="7" name="TextBox 6"/>
          <p:cNvSpPr txBox="1"/>
          <p:nvPr/>
        </p:nvSpPr>
        <p:spPr>
          <a:xfrm>
            <a:off x="13670280" y="8001000"/>
            <a:ext cx="9966960" cy="4663440"/>
          </a:xfrm>
          <a:prstGeom prst="rect">
            <a:avLst/>
          </a:prstGeom>
          <a:noFill/>
        </p:spPr>
        <p:txBody>
          <a:bodyPr wrap="square" lIns="45720" rIns="45720" tIns="27432" bIns="27432">
            <a:noAutofit/>
          </a:bodyPr>
          <a:lstStyle/>
          <a:p>
            <a:pPr algn="l" marL="411480" indent="-411480">
              <a:spcAft>
                <a:spcPts val="800"/>
              </a:spcAft>
              <a:buFont typeface="Arial"/>
              <a:buChar char="•"/>
            </a:pPr>
            <a:r>
              <a:rPr sz="2800" b="0" i="0">
                <a:solidFill>
                  <a:srgbClr val="1A1A1A"/>
                </a:solidFill>
                <a:latin typeface="Calibri"/>
              </a:rPr>
              <a:t>Feedback raises the peak; B leans further than passive (5.4° vs 3.0°)</a:t>
            </a:r>
          </a:p>
          <a:p>
            <a:pPr algn="l" marL="411480" indent="-411480">
              <a:spcAft>
                <a:spcPts val="800"/>
              </a:spcAft>
              <a:buFont typeface="Arial"/>
              <a:buChar char="•"/>
            </a:pPr>
            <a:r>
              <a:rPr sz="2800" b="0" i="0">
                <a:solidFill>
                  <a:srgbClr val="1A1A1A"/>
                </a:solidFill>
                <a:latin typeface="Calibri"/>
              </a:rPr>
              <a:t>Road + a</a:t>
            </a:r>
            <a:r>
              <a:rPr sz="2800" b="0" i="0" baseline="-25000">
                <a:solidFill>
                  <a:srgbClr val="1A1A1A"/>
                </a:solidFill>
                <a:latin typeface="Calibri"/>
              </a:rPr>
              <a:t>y</a:t>
            </a:r>
            <a:r>
              <a:rPr sz="2800" b="0" i="0">
                <a:solidFill>
                  <a:srgbClr val="1A1A1A"/>
                </a:solidFill>
                <a:latin typeface="Calibri"/>
              </a:rPr>
              <a:t> preview: peak 0.457, body held within 0.6°</a:t>
            </a:r>
          </a:p>
          <a:p>
            <a:pPr algn="l" marL="411480" indent="-411480">
              <a:spcAft>
                <a:spcPts val="800"/>
              </a:spcAft>
              <a:buFont typeface="Arial"/>
              <a:buChar char="•"/>
            </a:pPr>
            <a:r>
              <a:rPr sz="2800" b="0" i="0">
                <a:solidFill>
                  <a:srgbClr val="1A1A1A"/>
                </a:solidFill>
                <a:latin typeface="Calibri"/>
              </a:rPr>
              <a:t>Largest peak comes 0.2 s after the front strike, when the inner rear meets the bump</a:t>
            </a:r>
          </a:p>
          <a:p>
            <a:pPr algn="l" marL="411480" indent="-411480">
              <a:spcAft>
                <a:spcPts val="800"/>
              </a:spcAft>
              <a:buFont typeface="Arial"/>
              <a:buChar char="•"/>
            </a:pPr>
            <a:r>
              <a:rPr sz="2800" b="0" i="0">
                <a:solidFill>
                  <a:srgbClr val="1A1A1A"/>
                </a:solidFill>
                <a:latin typeface="Calibri"/>
              </a:rPr>
              <a:t>Preview retracts the wheel before impact: tyre impact force 10.0 → 6.4 kN</a:t>
            </a:r>
          </a:p>
        </p:txBody>
      </p:sp>
      <p:sp>
        <p:nvSpPr>
          <p:cNvPr id="8" name="TextBox 7"/>
          <p:cNvSpPr txBox="1"/>
          <p:nvPr/>
        </p:nvSpPr>
        <p:spPr>
          <a:xfrm>
            <a:off x="777240" y="12755880"/>
            <a:ext cx="22768560" cy="548640"/>
          </a:xfrm>
          <a:prstGeom prst="rect">
            <a:avLst/>
          </a:prstGeom>
          <a:noFill/>
        </p:spPr>
        <p:txBody>
          <a:bodyPr wrap="square" anchor="t" lIns="45720" rIns="45720" tIns="27432" bIns="27432">
            <a:noAutofit/>
          </a:bodyPr>
          <a:lstStyle/>
          <a:p>
            <a:pPr algn="l"/>
            <a:r>
              <a:rPr sz="2000" b="0" i="1">
                <a:solidFill>
                  <a:srgbClr val="6E6E6E"/>
                </a:solidFill>
                <a:latin typeface="Calibri"/>
              </a:rPr>
              <a:t>One road realisation, 50 km/h, R = 39 m, 44 mm × 0.5 m bump under the inner front wheel at the start of the hold.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4. STUDY 2: OVER 25 ROAD REALISATIONS</a:t>
            </a:r>
          </a:p>
        </p:txBody>
      </p:sp>
      <p:graphicFrame>
        <p:nvGraphicFramePr>
          <p:cNvPr id="4" name="Chart 3"/>
          <p:cNvGraphicFramePr>
            <a:graphicFrameLocks noGrp="1"/>
          </p:cNvGraphicFramePr>
          <p:nvPr/>
        </p:nvGraphicFramePr>
        <p:xfrm>
          <a:off x="777240" y="3566160"/>
          <a:ext cx="12161520" cy="896112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13350240" y="3566160"/>
          <a:ext cx="10241280" cy="4736592"/>
        </p:xfrm>
        <a:graphic>
          <a:graphicData uri="http://schemas.openxmlformats.org/drawingml/2006/table">
            <a:tbl>
              <a:tblPr firstRow="1" bandRow="1">
                <a:tableStyleId>{5C22544A-7EE6-4342-B048-85BDC9FD1C3A}</a:tableStyleId>
              </a:tblPr>
              <a:tblGrid>
                <a:gridCol w="1463040"/>
                <a:gridCol w="1463040"/>
                <a:gridCol w="4572000"/>
                <a:gridCol w="2743200"/>
              </a:tblGrid>
              <a:tr h="676656">
                <a:tc>
                  <a:txBody>
                    <a:bodyPr wrap="square"/>
                    <a:lstStyle/>
                    <a:p>
                      <a:pPr algn="l"/>
                      <a:r>
                        <a:rPr sz="2400" b="1" i="0">
                          <a:solidFill>
                            <a:srgbClr val="FFFFFF"/>
                          </a:solidFill>
                          <a:latin typeface="Calibri"/>
                        </a:rPr>
                        <a:t>a</a:t>
                      </a:r>
                      <a:r>
                        <a:rPr sz="2400" b="1" i="0" baseline="-25000">
                          <a:solidFill>
                            <a:srgbClr val="FFFFFF"/>
                          </a:solidFill>
                          <a:latin typeface="Calibri"/>
                        </a:rPr>
                        <a:t>y</a:t>
                      </a:r>
                    </a:p>
                  </a:txBody>
                  <a:tcPr anchor="ctr" marL="109728" marR="109728" marT="27432" marB="27432">
                    <a:solidFill>
                      <a:srgbClr val="840032"/>
                    </a:solidFill>
                  </a:tcPr>
                </a:tc>
                <a:tc>
                  <a:txBody>
                    <a:bodyPr wrap="square"/>
                    <a:lstStyle/>
                    <a:p>
                      <a:pPr algn="ctr"/>
                      <a:r>
                        <a:rPr sz="2400" b="1" i="0">
                          <a:solidFill>
                            <a:srgbClr val="FFFFFF"/>
                          </a:solidFill>
                          <a:latin typeface="Calibri"/>
                        </a:rPr>
                        <a:t>Ctrl</a:t>
                      </a:r>
                    </a:p>
                  </a:txBody>
                  <a:tcPr anchor="ctr" marL="109728" marR="109728" marT="27432" marB="27432">
                    <a:solidFill>
                      <a:srgbClr val="840032"/>
                    </a:solidFill>
                  </a:tcPr>
                </a:tc>
                <a:tc>
                  <a:txBody>
                    <a:bodyPr wrap="square"/>
                    <a:lstStyle/>
                    <a:p>
                      <a:pPr algn="ctr"/>
                      <a:r>
                        <a:rPr sz="2400" b="1" i="0">
                          <a:solidFill>
                            <a:srgbClr val="FFFFFF"/>
                          </a:solidFill>
                          <a:latin typeface="Calibri"/>
                        </a:rPr>
                        <a:t>Δ vs passive [95 % CI]</a:t>
                      </a:r>
                    </a:p>
                  </a:txBody>
                  <a:tcPr anchor="ctr" marL="109728" marR="109728" marT="27432" marB="27432">
                    <a:solidFill>
                      <a:srgbClr val="840032"/>
                    </a:solidFill>
                  </a:tcPr>
                </a:tc>
                <a:tc>
                  <a:txBody>
                    <a:bodyPr wrap="square"/>
                    <a:lstStyle/>
                    <a:p>
                      <a:pPr algn="ctr"/>
                      <a:r>
                        <a:rPr sz="2400" b="1" i="0">
                          <a:solidFill>
                            <a:srgbClr val="FFFFFF"/>
                          </a:solidFill>
                          <a:latin typeface="Calibri"/>
                        </a:rPr>
                        <a:t>better on</a:t>
                      </a:r>
                    </a:p>
                  </a:txBody>
                  <a:tcPr anchor="ctr" marL="109728" marR="109728" marT="27432" marB="27432">
                    <a:solidFill>
                      <a:srgbClr val="840032"/>
                    </a:solidFill>
                  </a:tcPr>
                </a:tc>
              </a:tr>
              <a:tr h="676656">
                <a:tc>
                  <a:txBody>
                    <a:bodyPr wrap="square"/>
                    <a:lstStyle/>
                    <a:p>
                      <a:pPr algn="l"/>
                      <a:r>
                        <a:rPr sz="2400" b="0" i="0">
                          <a:solidFill>
                            <a:srgbClr val="1A1A1A"/>
                          </a:solidFill>
                          <a:latin typeface="Calibri"/>
                        </a:rPr>
                        <a:t>0.5 g</a:t>
                      </a:r>
                    </a:p>
                  </a:txBody>
                  <a:tcPr anchor="ctr" marL="109728" marR="109728" marT="27432" marB="27432">
                    <a:solidFill>
                      <a:srgbClr val="F4E9EE"/>
                    </a:solidFill>
                  </a:tcPr>
                </a:tc>
                <a:tc>
                  <a:txBody>
                    <a:bodyPr wrap="square"/>
                    <a:lstStyle/>
                    <a:p>
                      <a:pPr algn="ctr"/>
                      <a:r>
                        <a:rPr sz="2400" b="0" i="0">
                          <a:solidFill>
                            <a:srgbClr val="1A1A1A"/>
                          </a:solidFill>
                          <a:latin typeface="Calibri"/>
                        </a:rPr>
                        <a:t>B</a:t>
                      </a:r>
                    </a:p>
                  </a:txBody>
                  <a:tcPr anchor="ctr" marL="109728" marR="109728" marT="27432" marB="27432">
                    <a:solidFill>
                      <a:srgbClr val="F4E9EE"/>
                    </a:solidFill>
                  </a:tcPr>
                </a:tc>
                <a:tc>
                  <a:txBody>
                    <a:bodyPr wrap="square"/>
                    <a:lstStyle/>
                    <a:p>
                      <a:pPr algn="ctr"/>
                      <a:r>
                        <a:rPr sz="2400" b="0" i="0">
                          <a:solidFill>
                            <a:srgbClr val="1A1A1A"/>
                          </a:solidFill>
                          <a:latin typeface="Calibri"/>
                        </a:rPr>
                        <a:t>−0.027 [−0.063, +0.010]</a:t>
                      </a:r>
                    </a:p>
                  </a:txBody>
                  <a:tcPr anchor="ctr" marL="109728" marR="109728" marT="27432" marB="27432">
                    <a:solidFill>
                      <a:srgbClr val="F4E9EE"/>
                    </a:solidFill>
                  </a:tcPr>
                </a:tc>
                <a:tc>
                  <a:txBody>
                    <a:bodyPr wrap="square"/>
                    <a:lstStyle/>
                    <a:p>
                      <a:pPr algn="ctr"/>
                      <a:r>
                        <a:rPr sz="2400" b="0" i="0">
                          <a:solidFill>
                            <a:srgbClr val="1A1A1A"/>
                          </a:solidFill>
                          <a:latin typeface="Calibri"/>
                        </a:rPr>
                        <a:t>16/25</a:t>
                      </a:r>
                    </a:p>
                  </a:txBody>
                  <a:tcPr anchor="ctr" marL="109728" marR="109728" marT="27432" marB="27432">
                    <a:solidFill>
                      <a:srgbClr val="F4E9EE"/>
                    </a:solidFill>
                  </a:tcPr>
                </a:tc>
              </a:tr>
              <a:tr h="676656">
                <a:tc>
                  <a:txBody>
                    <a:bodyPr wrap="square"/>
                    <a:lstStyle/>
                    <a:p>
                      <a:pPr algn="l"/>
                      <a:r>
                        <a:rPr sz="2400" b="0" i="0">
                          <a:solidFill>
                            <a:srgbClr val="1A1A1A"/>
                          </a:solidFill>
                          <a:latin typeface="Calibri"/>
                        </a:rPr>
                        <a:t>0.5 g</a:t>
                      </a:r>
                    </a:p>
                  </a:txBody>
                  <a:tcPr anchor="ctr" marL="109728" marR="109728" marT="27432" marB="27432">
                    <a:solidFill>
                      <a:srgbClr val="FFFFFF"/>
                    </a:solidFill>
                  </a:tcPr>
                </a:tc>
                <a:tc>
                  <a:txBody>
                    <a:bodyPr wrap="square"/>
                    <a:lstStyle/>
                    <a:p>
                      <a:pPr algn="ctr"/>
                      <a:r>
                        <a:rPr sz="2400" b="0" i="0">
                          <a:solidFill>
                            <a:srgbClr val="1A1A1A"/>
                          </a:solidFill>
                          <a:latin typeface="Calibri"/>
                        </a:rPr>
                        <a:t>Pv</a:t>
                      </a:r>
                    </a:p>
                  </a:txBody>
                  <a:tcPr anchor="ctr" marL="109728" marR="109728" marT="27432" marB="27432">
                    <a:solidFill>
                      <a:srgbClr val="FFFFFF"/>
                    </a:solidFill>
                  </a:tcPr>
                </a:tc>
                <a:tc>
                  <a:txBody>
                    <a:bodyPr wrap="square"/>
                    <a:lstStyle/>
                    <a:p>
                      <a:pPr algn="ctr"/>
                      <a:r>
                        <a:rPr sz="2400" b="0" i="0">
                          <a:solidFill>
                            <a:srgbClr val="1A1A1A"/>
                          </a:solidFill>
                          <a:latin typeface="Calibri"/>
                        </a:rPr>
                        <a:t>−0.190 [−0.210, −0.171]</a:t>
                      </a:r>
                    </a:p>
                  </a:txBody>
                  <a:tcPr anchor="ctr" marL="109728" marR="109728" marT="27432" marB="27432">
                    <a:solidFill>
                      <a:srgbClr val="FFFFFF"/>
                    </a:solidFill>
                  </a:tcPr>
                </a:tc>
                <a:tc>
                  <a:txBody>
                    <a:bodyPr wrap="square"/>
                    <a:lstStyle/>
                    <a:p>
                      <a:pPr algn="ctr"/>
                      <a:r>
                        <a:rPr sz="2400" b="0" i="0">
                          <a:solidFill>
                            <a:srgbClr val="1A1A1A"/>
                          </a:solidFill>
                          <a:latin typeface="Calibri"/>
                        </a:rPr>
                        <a:t>25/25</a:t>
                      </a:r>
                    </a:p>
                  </a:txBody>
                  <a:tcPr anchor="ctr" marL="109728" marR="109728" marT="27432" marB="27432">
                    <a:solidFill>
                      <a:srgbClr val="FFFFFF"/>
                    </a:solidFill>
                  </a:tcPr>
                </a:tc>
              </a:tr>
              <a:tr h="676656">
                <a:tc>
                  <a:txBody>
                    <a:bodyPr wrap="square"/>
                    <a:lstStyle/>
                    <a:p>
                      <a:pPr algn="l"/>
                      <a:r>
                        <a:rPr sz="2400" b="1" i="0">
                          <a:solidFill>
                            <a:srgbClr val="840032"/>
                          </a:solidFill>
                          <a:latin typeface="Calibri"/>
                        </a:rPr>
                        <a:t>0.5 g</a:t>
                      </a:r>
                    </a:p>
                  </a:txBody>
                  <a:tcPr anchor="ctr" marL="109728" marR="109728" marT="27432" marB="27432">
                    <a:solidFill>
                      <a:srgbClr val="F4E9EE"/>
                    </a:solidFill>
                  </a:tcPr>
                </a:tc>
                <a:tc>
                  <a:txBody>
                    <a:bodyPr wrap="square"/>
                    <a:lstStyle/>
                    <a:p>
                      <a:pPr algn="ctr"/>
                      <a:r>
                        <a:rPr sz="2400" b="1" i="0">
                          <a:solidFill>
                            <a:srgbClr val="840032"/>
                          </a:solidFill>
                          <a:latin typeface="Calibri"/>
                        </a:rPr>
                        <a:t>Pa</a:t>
                      </a:r>
                    </a:p>
                  </a:txBody>
                  <a:tcPr anchor="ctr" marL="109728" marR="109728" marT="27432" marB="27432">
                    <a:solidFill>
                      <a:srgbClr val="F4E9EE"/>
                    </a:solidFill>
                  </a:tcPr>
                </a:tc>
                <a:tc>
                  <a:txBody>
                    <a:bodyPr wrap="square"/>
                    <a:lstStyle/>
                    <a:p>
                      <a:pPr algn="ctr"/>
                      <a:r>
                        <a:rPr sz="2400" b="1" i="0">
                          <a:solidFill>
                            <a:srgbClr val="840032"/>
                          </a:solidFill>
                          <a:latin typeface="Calibri"/>
                        </a:rPr>
                        <a:t>−0.236 [−0.256, −0.216]</a:t>
                      </a:r>
                    </a:p>
                  </a:txBody>
                  <a:tcPr anchor="ctr" marL="109728" marR="109728" marT="27432" marB="27432">
                    <a:solidFill>
                      <a:srgbClr val="F4E9EE"/>
                    </a:solidFill>
                  </a:tcPr>
                </a:tc>
                <a:tc>
                  <a:txBody>
                    <a:bodyPr wrap="square"/>
                    <a:lstStyle/>
                    <a:p>
                      <a:pPr algn="ctr"/>
                      <a:r>
                        <a:rPr sz="2400" b="1" i="0">
                          <a:solidFill>
                            <a:srgbClr val="840032"/>
                          </a:solidFill>
                          <a:latin typeface="Calibri"/>
                        </a:rPr>
                        <a:t>25/25</a:t>
                      </a:r>
                    </a:p>
                  </a:txBody>
                  <a:tcPr anchor="ctr" marL="109728" marR="109728" marT="27432" marB="27432">
                    <a:solidFill>
                      <a:srgbClr val="F4E9EE"/>
                    </a:solidFill>
                  </a:tcPr>
                </a:tc>
              </a:tr>
              <a:tr h="676656">
                <a:tc>
                  <a:txBody>
                    <a:bodyPr wrap="square"/>
                    <a:lstStyle/>
                    <a:p>
                      <a:pPr algn="l"/>
                      <a:r>
                        <a:rPr sz="2400" b="0" i="0">
                          <a:solidFill>
                            <a:srgbClr val="1A1A1A"/>
                          </a:solidFill>
                          <a:latin typeface="Calibri"/>
                        </a:rPr>
                        <a:t>0.8 g</a:t>
                      </a:r>
                    </a:p>
                  </a:txBody>
                  <a:tcPr anchor="ctr" marL="109728" marR="109728" marT="27432" marB="27432">
                    <a:solidFill>
                      <a:srgbClr val="FFFFFF"/>
                    </a:solidFill>
                  </a:tcPr>
                </a:tc>
                <a:tc>
                  <a:txBody>
                    <a:bodyPr wrap="square"/>
                    <a:lstStyle/>
                    <a:p>
                      <a:pPr algn="ctr"/>
                      <a:r>
                        <a:rPr sz="2400" b="0" i="0">
                          <a:solidFill>
                            <a:srgbClr val="1A1A1A"/>
                          </a:solidFill>
                          <a:latin typeface="Calibri"/>
                        </a:rPr>
                        <a:t>B</a:t>
                      </a:r>
                    </a:p>
                  </a:txBody>
                  <a:tcPr anchor="ctr" marL="109728" marR="109728" marT="27432" marB="27432">
                    <a:solidFill>
                      <a:srgbClr val="FFFFFF"/>
                    </a:solidFill>
                  </a:tcPr>
                </a:tc>
                <a:tc>
                  <a:txBody>
                    <a:bodyPr wrap="square"/>
                    <a:lstStyle/>
                    <a:p>
                      <a:pPr algn="ctr"/>
                      <a:r>
                        <a:rPr sz="2400" b="0" i="0">
                          <a:solidFill>
                            <a:srgbClr val="1A1A1A"/>
                          </a:solidFill>
                          <a:latin typeface="Calibri"/>
                        </a:rPr>
                        <a:t>+0.056 [+0.013, +0.099]</a:t>
                      </a:r>
                    </a:p>
                  </a:txBody>
                  <a:tcPr anchor="ctr" marL="109728" marR="109728" marT="27432" marB="27432">
                    <a:solidFill>
                      <a:srgbClr val="FFFFFF"/>
                    </a:solidFill>
                  </a:tcPr>
                </a:tc>
                <a:tc>
                  <a:txBody>
                    <a:bodyPr wrap="square"/>
                    <a:lstStyle/>
                    <a:p>
                      <a:pPr algn="ctr"/>
                      <a:r>
                        <a:rPr sz="2400" b="0" i="0">
                          <a:solidFill>
                            <a:srgbClr val="1A1A1A"/>
                          </a:solidFill>
                          <a:latin typeface="Calibri"/>
                        </a:rPr>
                        <a:t>7/25</a:t>
                      </a:r>
                    </a:p>
                  </a:txBody>
                  <a:tcPr anchor="ctr" marL="109728" marR="109728" marT="27432" marB="27432">
                    <a:solidFill>
                      <a:srgbClr val="FFFFFF"/>
                    </a:solidFill>
                  </a:tcPr>
                </a:tc>
              </a:tr>
              <a:tr h="676656">
                <a:tc>
                  <a:txBody>
                    <a:bodyPr wrap="square"/>
                    <a:lstStyle/>
                    <a:p>
                      <a:pPr algn="l"/>
                      <a:r>
                        <a:rPr sz="2400" b="0" i="0">
                          <a:solidFill>
                            <a:srgbClr val="1A1A1A"/>
                          </a:solidFill>
                          <a:latin typeface="Calibri"/>
                        </a:rPr>
                        <a:t>0.8 g</a:t>
                      </a:r>
                    </a:p>
                  </a:txBody>
                  <a:tcPr anchor="ctr" marL="109728" marR="109728" marT="27432" marB="27432">
                    <a:solidFill>
                      <a:srgbClr val="F4E9EE"/>
                    </a:solidFill>
                  </a:tcPr>
                </a:tc>
                <a:tc>
                  <a:txBody>
                    <a:bodyPr wrap="square"/>
                    <a:lstStyle/>
                    <a:p>
                      <a:pPr algn="ctr"/>
                      <a:r>
                        <a:rPr sz="2400" b="0" i="0">
                          <a:solidFill>
                            <a:srgbClr val="1A1A1A"/>
                          </a:solidFill>
                          <a:latin typeface="Calibri"/>
                        </a:rPr>
                        <a:t>Pv</a:t>
                      </a:r>
                    </a:p>
                  </a:txBody>
                  <a:tcPr anchor="ctr" marL="109728" marR="109728" marT="27432" marB="27432">
                    <a:solidFill>
                      <a:srgbClr val="F4E9EE"/>
                    </a:solidFill>
                  </a:tcPr>
                </a:tc>
                <a:tc>
                  <a:txBody>
                    <a:bodyPr wrap="square"/>
                    <a:lstStyle/>
                    <a:p>
                      <a:pPr algn="ctr"/>
                      <a:r>
                        <a:rPr sz="2400" b="0" i="0">
                          <a:solidFill>
                            <a:srgbClr val="1A1A1A"/>
                          </a:solidFill>
                          <a:latin typeface="Calibri"/>
                        </a:rPr>
                        <a:t>−0.099 [−0.130, −0.068]</a:t>
                      </a:r>
                    </a:p>
                  </a:txBody>
                  <a:tcPr anchor="ctr" marL="109728" marR="109728" marT="27432" marB="27432">
                    <a:solidFill>
                      <a:srgbClr val="F4E9EE"/>
                    </a:solidFill>
                  </a:tcPr>
                </a:tc>
                <a:tc>
                  <a:txBody>
                    <a:bodyPr wrap="square"/>
                    <a:lstStyle/>
                    <a:p>
                      <a:pPr algn="ctr"/>
                      <a:r>
                        <a:rPr sz="2400" b="0" i="0">
                          <a:solidFill>
                            <a:srgbClr val="1A1A1A"/>
                          </a:solidFill>
                          <a:latin typeface="Calibri"/>
                        </a:rPr>
                        <a:t>22/25</a:t>
                      </a:r>
                    </a:p>
                  </a:txBody>
                  <a:tcPr anchor="ctr" marL="109728" marR="109728" marT="27432" marB="27432">
                    <a:solidFill>
                      <a:srgbClr val="F4E9EE"/>
                    </a:solidFill>
                  </a:tcPr>
                </a:tc>
              </a:tr>
              <a:tr h="676656">
                <a:tc>
                  <a:txBody>
                    <a:bodyPr wrap="square"/>
                    <a:lstStyle/>
                    <a:p>
                      <a:pPr algn="l"/>
                      <a:r>
                        <a:rPr sz="2400" b="1" i="0">
                          <a:solidFill>
                            <a:srgbClr val="840032"/>
                          </a:solidFill>
                          <a:latin typeface="Calibri"/>
                        </a:rPr>
                        <a:t>0.8 g</a:t>
                      </a:r>
                    </a:p>
                  </a:txBody>
                  <a:tcPr anchor="ctr" marL="109728" marR="109728" marT="27432" marB="27432">
                    <a:solidFill>
                      <a:srgbClr val="FFFFFF"/>
                    </a:solidFill>
                  </a:tcPr>
                </a:tc>
                <a:tc>
                  <a:txBody>
                    <a:bodyPr wrap="square"/>
                    <a:lstStyle/>
                    <a:p>
                      <a:pPr algn="ctr"/>
                      <a:r>
                        <a:rPr sz="2400" b="1" i="0">
                          <a:solidFill>
                            <a:srgbClr val="840032"/>
                          </a:solidFill>
                          <a:latin typeface="Calibri"/>
                        </a:rPr>
                        <a:t>Pa</a:t>
                      </a:r>
                    </a:p>
                  </a:txBody>
                  <a:tcPr anchor="ctr" marL="109728" marR="109728" marT="27432" marB="27432">
                    <a:solidFill>
                      <a:srgbClr val="FFFFFF"/>
                    </a:solidFill>
                  </a:tcPr>
                </a:tc>
                <a:tc>
                  <a:txBody>
                    <a:bodyPr wrap="square"/>
                    <a:lstStyle/>
                    <a:p>
                      <a:pPr algn="ctr"/>
                      <a:r>
                        <a:rPr sz="2400" b="1" i="0">
                          <a:solidFill>
                            <a:srgbClr val="840032"/>
                          </a:solidFill>
                          <a:latin typeface="Calibri"/>
                        </a:rPr>
                        <a:t>−0.194 [−0.218, −0.170]</a:t>
                      </a:r>
                    </a:p>
                  </a:txBody>
                  <a:tcPr anchor="ctr" marL="109728" marR="109728" marT="27432" marB="27432">
                    <a:solidFill>
                      <a:srgbClr val="FFFFFF"/>
                    </a:solidFill>
                  </a:tcPr>
                </a:tc>
                <a:tc>
                  <a:txBody>
                    <a:bodyPr wrap="square"/>
                    <a:lstStyle/>
                    <a:p>
                      <a:pPr algn="ctr"/>
                      <a:r>
                        <a:rPr sz="2400" b="1" i="0">
                          <a:solidFill>
                            <a:srgbClr val="840032"/>
                          </a:solidFill>
                          <a:latin typeface="Calibri"/>
                        </a:rPr>
                        <a:t>25/25</a:t>
                      </a:r>
                    </a:p>
                  </a:txBody>
                  <a:tcPr anchor="ctr" marL="109728" marR="109728" marT="27432" marB="27432">
                    <a:solidFill>
                      <a:srgbClr val="FFFFFF"/>
                    </a:solidFill>
                  </a:tcPr>
                </a:tc>
              </a:tr>
            </a:tbl>
          </a:graphicData>
        </a:graphic>
      </p:graphicFrame>
      <p:sp>
        <p:nvSpPr>
          <p:cNvPr id="6" name="TextBox 5"/>
          <p:cNvSpPr txBox="1"/>
          <p:nvPr/>
        </p:nvSpPr>
        <p:spPr>
          <a:xfrm>
            <a:off x="13350240" y="8595360"/>
            <a:ext cx="10241280" cy="4023360"/>
          </a:xfrm>
          <a:prstGeom prst="rect">
            <a:avLst/>
          </a:prstGeom>
          <a:noFill/>
        </p:spPr>
        <p:txBody>
          <a:bodyPr wrap="square" lIns="45720" rIns="45720" tIns="27432" bIns="27432">
            <a:noAutofit/>
          </a:bodyPr>
          <a:lstStyle/>
          <a:p>
            <a:pPr algn="l" marL="411480" indent="-411480">
              <a:spcAft>
                <a:spcPts val="1000"/>
              </a:spcAft>
              <a:buFont typeface="Arial"/>
              <a:buChar char="•"/>
            </a:pPr>
            <a:r>
              <a:rPr sz="2800" b="1" i="0">
                <a:solidFill>
                  <a:srgbClr val="1A1A1A"/>
                </a:solidFill>
                <a:latin typeface="Calibri"/>
              </a:rPr>
              <a:t>Pa </a:t>
            </a:r>
            <a:r>
              <a:rPr sz="2800" b="0" i="0">
                <a:solidFill>
                  <a:srgbClr val="1A1A1A"/>
                </a:solidFill>
                <a:latin typeface="Calibri"/>
              </a:rPr>
              <a:t>lowers the peak on every road at both levels</a:t>
            </a:r>
          </a:p>
          <a:p>
            <a:pPr algn="l" marL="411480" indent="-411480">
              <a:spcAft>
                <a:spcPts val="1000"/>
              </a:spcAft>
              <a:buFont typeface="Arial"/>
              <a:buChar char="•"/>
            </a:pPr>
            <a:r>
              <a:rPr sz="2800" b="1" i="0">
                <a:solidFill>
                  <a:srgbClr val="1A1A1A"/>
                </a:solidFill>
                <a:latin typeface="Calibri"/>
              </a:rPr>
              <a:t>Pv </a:t>
            </a:r>
            <a:r>
              <a:rPr sz="2800" b="0" i="0">
                <a:solidFill>
                  <a:srgbClr val="1A1A1A"/>
                </a:solidFill>
                <a:latin typeface="Calibri"/>
              </a:rPr>
              <a:t>also helps but leaves 5–8° of lean; at 0.8 g it rides the bump stops for 2.9 s of 9 s</a:t>
            </a:r>
          </a:p>
          <a:p>
            <a:pPr algn="l" marL="411480" indent="-411480">
              <a:spcAft>
                <a:spcPts val="1000"/>
              </a:spcAft>
              <a:buFont typeface="Arial"/>
              <a:buChar char="•"/>
            </a:pPr>
            <a:r>
              <a:rPr sz="2800" b="1" i="0">
                <a:solidFill>
                  <a:srgbClr val="1A1A1A"/>
                </a:solidFill>
                <a:latin typeface="Calibri"/>
              </a:rPr>
              <a:t>Feedback: </a:t>
            </a:r>
            <a:r>
              <a:rPr sz="2800" b="0" i="0">
                <a:solidFill>
                  <a:srgbClr val="1A1A1A"/>
                </a:solidFill>
                <a:latin typeface="Calibri"/>
              </a:rPr>
              <a:t>no significant gain at 0.5 g; at 0.8 g it reaches LTR = 1 on 11 of 25 roads (passive: 1)</a:t>
            </a:r>
          </a:p>
        </p:txBody>
      </p:sp>
      <p:sp>
        <p:nvSpPr>
          <p:cNvPr id="7" name="TextBox 6"/>
          <p:cNvSpPr txBox="1"/>
          <p:nvPr/>
        </p:nvSpPr>
        <p:spPr>
          <a:xfrm>
            <a:off x="777240" y="12755880"/>
            <a:ext cx="22768560" cy="548640"/>
          </a:xfrm>
          <a:prstGeom prst="rect">
            <a:avLst/>
          </a:prstGeom>
          <a:noFill/>
        </p:spPr>
        <p:txBody>
          <a:bodyPr wrap="square" anchor="t" lIns="45720" rIns="45720" tIns="27432" bIns="27432">
            <a:noAutofit/>
          </a:bodyPr>
          <a:lstStyle/>
          <a:p>
            <a:pPr algn="l"/>
            <a:r>
              <a:rPr sz="2000" b="0" i="1">
                <a:solidFill>
                  <a:srgbClr val="6E6E6E"/>
                </a:solidFill>
                <a:latin typeface="Calibri"/>
              </a:rPr>
              <a:t>ISO 8608 Class C, 50 km/h, 44 mm bump under the inner front wheel. Differences paired by road.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4. STUDY 2: IS THE GAIN REAL AND ROBUST?</a:t>
            </a:r>
          </a:p>
        </p:txBody>
      </p:sp>
      <p:sp>
        <p:nvSpPr>
          <p:cNvPr id="4" name="Rounded Rectangle 3"/>
          <p:cNvSpPr/>
          <p:nvPr/>
        </p:nvSpPr>
        <p:spPr>
          <a:xfrm>
            <a:off x="777240" y="3566160"/>
            <a:ext cx="7315200" cy="896112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840480"/>
            <a:ext cx="6492240" cy="731520"/>
          </a:xfrm>
          <a:prstGeom prst="rect">
            <a:avLst/>
          </a:prstGeom>
          <a:noFill/>
        </p:spPr>
        <p:txBody>
          <a:bodyPr wrap="square" anchor="t" lIns="45720" rIns="45720" tIns="27432" bIns="27432">
            <a:noAutofit/>
          </a:bodyPr>
          <a:lstStyle/>
          <a:p>
            <a:pPr algn="l"/>
            <a:r>
              <a:rPr sz="3000" b="1" i="0">
                <a:solidFill>
                  <a:srgbClr val="840032"/>
                </a:solidFill>
                <a:latin typeface="Helvetica"/>
              </a:rPr>
              <a:t>Is the lower LTR real?</a:t>
            </a:r>
          </a:p>
        </p:txBody>
      </p:sp>
      <p:sp>
        <p:nvSpPr>
          <p:cNvPr id="6" name="TextBox 5"/>
          <p:cNvSpPr txBox="1"/>
          <p:nvPr/>
        </p:nvSpPr>
        <p:spPr>
          <a:xfrm>
            <a:off x="1188720" y="4617720"/>
            <a:ext cx="6492240" cy="1188720"/>
          </a:xfrm>
          <a:prstGeom prst="rect">
            <a:avLst/>
          </a:prstGeom>
          <a:noFill/>
        </p:spPr>
        <p:txBody>
          <a:bodyPr wrap="square" anchor="t" lIns="45720" rIns="45720" tIns="27432" bIns="27432">
            <a:noAutofit/>
          </a:bodyPr>
          <a:lstStyle/>
          <a:p>
            <a:pPr algn="l"/>
            <a:r>
              <a:rPr sz="2800" b="0" i="1">
                <a:solidFill>
                  <a:srgbClr val="1A1A1A"/>
                </a:solidFill>
                <a:latin typeface="Calibri"/>
              </a:rPr>
              <a:t>LTR is a ratio: it could fall if the whole car unloads.</a:t>
            </a:r>
          </a:p>
        </p:txBody>
      </p:sp>
      <p:sp>
        <p:nvSpPr>
          <p:cNvPr id="7" name="TextBox 6"/>
          <p:cNvSpPr txBox="1"/>
          <p:nvPr/>
        </p:nvSpPr>
        <p:spPr>
          <a:xfrm>
            <a:off x="1188720" y="6035040"/>
            <a:ext cx="6492240" cy="6309360"/>
          </a:xfrm>
          <a:prstGeom prst="rect">
            <a:avLst/>
          </a:prstGeom>
          <a:noFill/>
        </p:spPr>
        <p:txBody>
          <a:bodyPr wrap="square" lIns="45720" rIns="45720" tIns="27432" bIns="27432">
            <a:noAutofit/>
          </a:bodyPr>
          <a:lstStyle/>
          <a:p>
            <a:pPr algn="l" marL="411480" indent="-411480">
              <a:spcAft>
                <a:spcPts val="1400"/>
              </a:spcAft>
              <a:buFont typeface="Arial"/>
              <a:buChar char="•"/>
            </a:pPr>
            <a:r>
              <a:rPr sz="2900" b="0" i="0">
                <a:solidFill>
                  <a:srgbClr val="1A1A1A"/>
                </a:solidFill>
                <a:latin typeface="Calibri"/>
              </a:rPr>
              <a:t>Preview raises the minimum total tyre load and lowers the roll rate</a:t>
            </a:r>
          </a:p>
          <a:p>
            <a:pPr algn="l" marL="411480" indent="-411480">
              <a:spcAft>
                <a:spcPts val="1400"/>
              </a:spcAft>
              <a:buFont typeface="Arial"/>
              <a:buChar char="•"/>
            </a:pPr>
            <a:r>
              <a:rPr sz="2900" b="0" i="0">
                <a:solidFill>
                  <a:srgbClr val="1A1A1A"/>
                </a:solidFill>
                <a:latin typeface="Calibri"/>
              </a:rPr>
              <a:t>Minimum inner-wheel load: 0 N (passive) → 500 N</a:t>
            </a:r>
          </a:p>
          <a:p>
            <a:pPr algn="l" marL="411480" indent="-411480">
              <a:spcAft>
                <a:spcPts val="1400"/>
              </a:spcAft>
              <a:buFont typeface="Arial"/>
              <a:buChar char="•"/>
            </a:pPr>
            <a:r>
              <a:rPr sz="2900" b="0" i="0">
                <a:solidFill>
                  <a:srgbClr val="1A1A1A"/>
                </a:solidFill>
                <a:latin typeface="Calibri"/>
              </a:rPr>
              <a:t>A level body is not loaded tyres: A holds 1.3° yet raises the peak</a:t>
            </a:r>
          </a:p>
        </p:txBody>
      </p:sp>
      <p:graphicFrame>
        <p:nvGraphicFramePr>
          <p:cNvPr id="8" name="Chart 7"/>
          <p:cNvGraphicFramePr>
            <a:graphicFrameLocks noGrp="1"/>
          </p:cNvGraphicFramePr>
          <p:nvPr/>
        </p:nvGraphicFramePr>
        <p:xfrm>
          <a:off x="8458200" y="3566160"/>
          <a:ext cx="7406640" cy="667512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16184880" y="3566160"/>
          <a:ext cx="7406640" cy="6675120"/>
        </p:xfrm>
        <a:graphic>
          <a:graphicData uri="http://schemas.openxmlformats.org/drawingml/2006/chart">
            <c:chart xmlns:c="http://schemas.openxmlformats.org/drawingml/2006/chart" r:id="rId4"/>
          </a:graphicData>
        </a:graphic>
      </p:graphicFrame>
      <p:sp>
        <p:nvSpPr>
          <p:cNvPr id="10" name="TextBox 9"/>
          <p:cNvSpPr txBox="1"/>
          <p:nvPr/>
        </p:nvSpPr>
        <p:spPr>
          <a:xfrm>
            <a:off x="8458200" y="10469880"/>
            <a:ext cx="7406640" cy="2103120"/>
          </a:xfrm>
          <a:prstGeom prst="rect">
            <a:avLst/>
          </a:prstGeom>
          <a:noFill/>
        </p:spPr>
        <p:txBody>
          <a:bodyPr wrap="square" anchor="t" lIns="45720" rIns="45720" tIns="27432" bIns="27432">
            <a:noAutofit/>
          </a:bodyPr>
          <a:lstStyle/>
          <a:p>
            <a:pPr algn="l"/>
            <a:r>
              <a:rPr sz="2700" b="0" i="0">
                <a:solidFill>
                  <a:srgbClr val="1A1A1A"/>
                </a:solidFill>
                <a:latin typeface="Calibri"/>
              </a:rPr>
              <a:t>Raising the LTR weight improves preview (0.520 → 0.425) but drives feedback to the trip condition.</a:t>
            </a:r>
          </a:p>
        </p:txBody>
      </p:sp>
      <p:sp>
        <p:nvSpPr>
          <p:cNvPr id="11" name="TextBox 10"/>
          <p:cNvSpPr txBox="1"/>
          <p:nvPr/>
        </p:nvSpPr>
        <p:spPr>
          <a:xfrm>
            <a:off x="16184880" y="10469880"/>
            <a:ext cx="7406640" cy="2103120"/>
          </a:xfrm>
          <a:prstGeom prst="rect">
            <a:avLst/>
          </a:prstGeom>
          <a:noFill/>
        </p:spPr>
        <p:txBody>
          <a:bodyPr wrap="square" anchor="t" lIns="45720" rIns="45720" tIns="27432" bIns="27432">
            <a:noAutofit/>
          </a:bodyPr>
          <a:lstStyle/>
          <a:p>
            <a:pPr algn="l"/>
            <a:r>
              <a:rPr sz="2700" b="0" i="0">
                <a:solidFill>
                  <a:srgbClr val="1A1A1A"/>
                </a:solidFill>
                <a:latin typeface="Calibri"/>
              </a:rPr>
              <a:t>SSF 2.58 → 1.29: preview still lowers the peak by 0.27–0.33 (redesigned at each height).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5. STUDY 2: GENERALISATION OVER 55 CELLS</a:t>
            </a:r>
          </a:p>
        </p:txBody>
      </p:sp>
      <p:sp>
        <p:nvSpPr>
          <p:cNvPr id="4" name="Rounded Rectangle 3"/>
          <p:cNvSpPr/>
          <p:nvPr/>
        </p:nvSpPr>
        <p:spPr>
          <a:xfrm>
            <a:off x="777240" y="3566160"/>
            <a:ext cx="5431536" cy="251460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840480"/>
            <a:ext cx="4608576" cy="857250"/>
          </a:xfrm>
          <a:prstGeom prst="rect">
            <a:avLst/>
          </a:prstGeom>
          <a:noFill/>
        </p:spPr>
        <p:txBody>
          <a:bodyPr wrap="square" anchor="t" lIns="45720" rIns="45720" tIns="27432" bIns="27432">
            <a:noAutofit/>
          </a:bodyPr>
          <a:lstStyle/>
          <a:p>
            <a:pPr algn="l"/>
            <a:r>
              <a:rPr sz="5000" b="1" i="0">
                <a:solidFill>
                  <a:srgbClr val="840032"/>
                </a:solidFill>
                <a:latin typeface="Helvetica"/>
              </a:rPr>
              <a:t>51 / 55</a:t>
            </a:r>
          </a:p>
        </p:txBody>
      </p:sp>
      <p:sp>
        <p:nvSpPr>
          <p:cNvPr id="6" name="TextBox 5"/>
          <p:cNvSpPr txBox="1"/>
          <p:nvPr/>
        </p:nvSpPr>
        <p:spPr>
          <a:xfrm>
            <a:off x="1188720" y="4743450"/>
            <a:ext cx="4608576" cy="1108710"/>
          </a:xfrm>
          <a:prstGeom prst="rect">
            <a:avLst/>
          </a:prstGeom>
          <a:noFill/>
        </p:spPr>
        <p:txBody>
          <a:bodyPr wrap="square" anchor="t" lIns="45720" rIns="45720" tIns="27432" bIns="27432">
            <a:noAutofit/>
          </a:bodyPr>
          <a:lstStyle/>
          <a:p>
            <a:pPr algn="l"/>
            <a:r>
              <a:rPr sz="2500" b="0" i="0">
                <a:solidFill>
                  <a:srgbClr val="1A1A1A"/>
                </a:solidFill>
                <a:latin typeface="Calibri"/>
              </a:rPr>
              <a:t>scenario cells pass</a:t>
            </a:r>
          </a:p>
        </p:txBody>
      </p:sp>
      <p:sp>
        <p:nvSpPr>
          <p:cNvPr id="7" name="Rounded Rectangle 6"/>
          <p:cNvSpPr/>
          <p:nvPr/>
        </p:nvSpPr>
        <p:spPr>
          <a:xfrm>
            <a:off x="6574536" y="3566160"/>
            <a:ext cx="5431536" cy="251460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86016" y="3840480"/>
            <a:ext cx="4608576" cy="857250"/>
          </a:xfrm>
          <a:prstGeom prst="rect">
            <a:avLst/>
          </a:prstGeom>
          <a:noFill/>
        </p:spPr>
        <p:txBody>
          <a:bodyPr wrap="square" anchor="t" lIns="45720" rIns="45720" tIns="27432" bIns="27432">
            <a:noAutofit/>
          </a:bodyPr>
          <a:lstStyle/>
          <a:p>
            <a:pPr algn="l"/>
            <a:r>
              <a:rPr sz="5000" b="1" i="0">
                <a:solidFill>
                  <a:srgbClr val="840032"/>
                </a:solidFill>
                <a:latin typeface="Helvetica"/>
              </a:rPr>
              <a:t>10 / 10</a:t>
            </a:r>
          </a:p>
        </p:txBody>
      </p:sp>
      <p:sp>
        <p:nvSpPr>
          <p:cNvPr id="9" name="TextBox 8"/>
          <p:cNvSpPr txBox="1"/>
          <p:nvPr/>
        </p:nvSpPr>
        <p:spPr>
          <a:xfrm>
            <a:off x="6986016" y="4743450"/>
            <a:ext cx="4608576" cy="1108710"/>
          </a:xfrm>
          <a:prstGeom prst="rect">
            <a:avLst/>
          </a:prstGeom>
          <a:noFill/>
        </p:spPr>
        <p:txBody>
          <a:bodyPr wrap="square" anchor="t" lIns="45720" rIns="45720" tIns="27432" bIns="27432">
            <a:noAutofit/>
          </a:bodyPr>
          <a:lstStyle/>
          <a:p>
            <a:pPr algn="l"/>
            <a:r>
              <a:rPr sz="2500" b="0" i="0">
                <a:solidFill>
                  <a:srgbClr val="1A1A1A"/>
                </a:solidFill>
                <a:latin typeface="Calibri"/>
              </a:rPr>
              <a:t>roads improved in every cell</a:t>
            </a:r>
          </a:p>
        </p:txBody>
      </p:sp>
      <p:sp>
        <p:nvSpPr>
          <p:cNvPr id="10" name="Rounded Rectangle 9"/>
          <p:cNvSpPr/>
          <p:nvPr/>
        </p:nvSpPr>
        <p:spPr>
          <a:xfrm>
            <a:off x="12371832" y="3566160"/>
            <a:ext cx="5431536" cy="251460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783311" y="3840480"/>
            <a:ext cx="4608576" cy="857250"/>
          </a:xfrm>
          <a:prstGeom prst="rect">
            <a:avLst/>
          </a:prstGeom>
          <a:noFill/>
        </p:spPr>
        <p:txBody>
          <a:bodyPr wrap="square" anchor="t" lIns="45720" rIns="45720" tIns="27432" bIns="27432">
            <a:noAutofit/>
          </a:bodyPr>
          <a:lstStyle/>
          <a:p>
            <a:pPr algn="l"/>
            <a:r>
              <a:rPr sz="5000" b="1" i="0">
                <a:solidFill>
                  <a:srgbClr val="840032"/>
                </a:solidFill>
                <a:latin typeface="Helvetica"/>
              </a:rPr>
              <a:t>0</a:t>
            </a:r>
          </a:p>
        </p:txBody>
      </p:sp>
      <p:sp>
        <p:nvSpPr>
          <p:cNvPr id="12" name="TextBox 11"/>
          <p:cNvSpPr txBox="1"/>
          <p:nvPr/>
        </p:nvSpPr>
        <p:spPr>
          <a:xfrm>
            <a:off x="12783311" y="4743450"/>
            <a:ext cx="4608576" cy="1108710"/>
          </a:xfrm>
          <a:prstGeom prst="rect">
            <a:avLst/>
          </a:prstGeom>
          <a:noFill/>
        </p:spPr>
        <p:txBody>
          <a:bodyPr wrap="square" anchor="t" lIns="45720" rIns="45720" tIns="27432" bIns="27432">
            <a:noAutofit/>
          </a:bodyPr>
          <a:lstStyle/>
          <a:p>
            <a:pPr algn="l"/>
            <a:r>
              <a:rPr sz="2500" b="0" i="0">
                <a:solidFill>
                  <a:srgbClr val="1A1A1A"/>
                </a:solidFill>
                <a:latin typeface="Calibri"/>
              </a:rPr>
              <a:t>cells where preview trips (passive 11, feedback 15)</a:t>
            </a:r>
          </a:p>
        </p:txBody>
      </p:sp>
      <p:sp>
        <p:nvSpPr>
          <p:cNvPr id="13" name="Rounded Rectangle 12"/>
          <p:cNvSpPr/>
          <p:nvPr/>
        </p:nvSpPr>
        <p:spPr>
          <a:xfrm>
            <a:off x="18169128" y="3566160"/>
            <a:ext cx="5431536" cy="251460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580608" y="3840480"/>
            <a:ext cx="4608576" cy="857250"/>
          </a:xfrm>
          <a:prstGeom prst="rect">
            <a:avLst/>
          </a:prstGeom>
          <a:noFill/>
        </p:spPr>
        <p:txBody>
          <a:bodyPr wrap="square" anchor="t" lIns="45720" rIns="45720" tIns="27432" bIns="27432">
            <a:noAutofit/>
          </a:bodyPr>
          <a:lstStyle/>
          <a:p>
            <a:pPr algn="l"/>
            <a:r>
              <a:rPr sz="5000" b="1" i="0">
                <a:solidFill>
                  <a:srgbClr val="840032"/>
                </a:solidFill>
                <a:latin typeface="Helvetica"/>
              </a:rPr>
              <a:t>0.10–0.37</a:t>
            </a:r>
          </a:p>
        </p:txBody>
      </p:sp>
      <p:sp>
        <p:nvSpPr>
          <p:cNvPr id="15" name="TextBox 14"/>
          <p:cNvSpPr txBox="1"/>
          <p:nvPr/>
        </p:nvSpPr>
        <p:spPr>
          <a:xfrm>
            <a:off x="18580608" y="4743450"/>
            <a:ext cx="4608576" cy="1108710"/>
          </a:xfrm>
          <a:prstGeom prst="rect">
            <a:avLst/>
          </a:prstGeom>
          <a:noFill/>
        </p:spPr>
        <p:txBody>
          <a:bodyPr wrap="square" anchor="t" lIns="45720" rIns="45720" tIns="27432" bIns="27432">
            <a:noAutofit/>
          </a:bodyPr>
          <a:lstStyle/>
          <a:p>
            <a:pPr algn="l"/>
            <a:r>
              <a:rPr sz="2500" b="0" i="0">
                <a:solidFill>
                  <a:srgbClr val="1A1A1A"/>
                </a:solidFill>
                <a:latin typeface="Calibri"/>
              </a:rPr>
              <a:t>reduction in peak LTR across cells</a:t>
            </a:r>
          </a:p>
        </p:txBody>
      </p:sp>
      <p:graphicFrame>
        <p:nvGraphicFramePr>
          <p:cNvPr id="16" name="Table 15"/>
          <p:cNvGraphicFramePr>
            <a:graphicFrameLocks noGrp="1"/>
          </p:cNvGraphicFramePr>
          <p:nvPr/>
        </p:nvGraphicFramePr>
        <p:xfrm>
          <a:off x="777240" y="6400800"/>
          <a:ext cx="14081760" cy="5852160"/>
        </p:xfrm>
        <a:graphic>
          <a:graphicData uri="http://schemas.openxmlformats.org/drawingml/2006/table">
            <a:tbl>
              <a:tblPr firstRow="1" bandRow="1">
                <a:tableStyleId>{5C22544A-7EE6-4342-B048-85BDC9FD1C3A}</a:tableStyleId>
              </a:tblPr>
              <a:tblGrid>
                <a:gridCol w="6949440"/>
                <a:gridCol w="1463040"/>
                <a:gridCol w="3657600"/>
                <a:gridCol w="2011680"/>
              </a:tblGrid>
              <a:tr h="585216">
                <a:tc>
                  <a:txBody>
                    <a:bodyPr wrap="square"/>
                    <a:lstStyle/>
                    <a:p>
                      <a:pPr algn="l"/>
                      <a:r>
                        <a:rPr sz="2400" b="1" i="0">
                          <a:solidFill>
                            <a:srgbClr val="FFFFFF"/>
                          </a:solidFill>
                          <a:latin typeface="Calibri"/>
                        </a:rPr>
                        <a:t>Axis</a:t>
                      </a:r>
                    </a:p>
                  </a:txBody>
                  <a:tcPr anchor="ctr" marL="109728" marR="109728" marT="27432" marB="27432">
                    <a:solidFill>
                      <a:srgbClr val="840032"/>
                    </a:solidFill>
                  </a:tcPr>
                </a:tc>
                <a:tc>
                  <a:txBody>
                    <a:bodyPr wrap="square"/>
                    <a:lstStyle/>
                    <a:p>
                      <a:pPr algn="ctr"/>
                      <a:r>
                        <a:rPr sz="2400" b="1" i="0">
                          <a:solidFill>
                            <a:srgbClr val="FFFFFF"/>
                          </a:solidFill>
                          <a:latin typeface="Calibri"/>
                        </a:rPr>
                        <a:t>cells</a:t>
                      </a:r>
                    </a:p>
                  </a:txBody>
                  <a:tcPr anchor="ctr" marL="109728" marR="109728" marT="27432" marB="27432">
                    <a:solidFill>
                      <a:srgbClr val="840032"/>
                    </a:solidFill>
                  </a:tcPr>
                </a:tc>
                <a:tc>
                  <a:txBody>
                    <a:bodyPr wrap="square"/>
                    <a:lstStyle/>
                    <a:p>
                      <a:pPr algn="ctr"/>
                      <a:r>
                        <a:rPr sz="2400" b="1" i="0">
                          <a:solidFill>
                            <a:srgbClr val="FFFFFF"/>
                          </a:solidFill>
                          <a:latin typeface="Calibri"/>
                        </a:rPr>
                        <a:t>Δ peak LTR</a:t>
                      </a:r>
                    </a:p>
                  </a:txBody>
                  <a:tcPr anchor="ctr" marL="109728" marR="109728" marT="27432" marB="27432">
                    <a:solidFill>
                      <a:srgbClr val="840032"/>
                    </a:solidFill>
                  </a:tcPr>
                </a:tc>
                <a:tc>
                  <a:txBody>
                    <a:bodyPr wrap="square"/>
                    <a:lstStyle/>
                    <a:p>
                      <a:pPr algn="ctr"/>
                      <a:r>
                        <a:rPr sz="2400" b="1" i="0">
                          <a:solidFill>
                            <a:srgbClr val="FFFFFF"/>
                          </a:solidFill>
                          <a:latin typeface="Calibri"/>
                        </a:rPr>
                        <a:t>pass</a:t>
                      </a:r>
                    </a:p>
                  </a:txBody>
                  <a:tcPr anchor="ctr" marL="109728" marR="109728" marT="27432" marB="27432">
                    <a:solidFill>
                      <a:srgbClr val="840032"/>
                    </a:solidFill>
                  </a:tcPr>
                </a:tc>
              </a:tr>
              <a:tr h="585216">
                <a:tc>
                  <a:txBody>
                    <a:bodyPr wrap="square"/>
                    <a:lstStyle/>
                    <a:p>
                      <a:pPr algn="l"/>
                      <a:r>
                        <a:rPr sz="2400" b="0" i="0">
                          <a:solidFill>
                            <a:srgbClr val="1A1A1A"/>
                          </a:solidFill>
                          <a:latin typeface="Calibri"/>
                        </a:rPr>
                        <a:t>Vehicle (six, redesigned)</a:t>
                      </a:r>
                    </a:p>
                  </a:txBody>
                  <a:tcPr anchor="ctr" marL="109728" marR="109728" marT="27432" marB="27432">
                    <a:solidFill>
                      <a:srgbClr val="F4E9EE"/>
                    </a:solidFill>
                  </a:tcPr>
                </a:tc>
                <a:tc>
                  <a:txBody>
                    <a:bodyPr wrap="square"/>
                    <a:lstStyle/>
                    <a:p>
                      <a:pPr algn="ctr"/>
                      <a:r>
                        <a:rPr sz="2400" b="0" i="0">
                          <a:solidFill>
                            <a:srgbClr val="1A1A1A"/>
                          </a:solidFill>
                          <a:latin typeface="Calibri"/>
                        </a:rPr>
                        <a:t>12</a:t>
                      </a:r>
                    </a:p>
                  </a:txBody>
                  <a:tcPr anchor="ctr" marL="109728" marR="109728" marT="27432" marB="27432">
                    <a:solidFill>
                      <a:srgbClr val="F4E9EE"/>
                    </a:solidFill>
                  </a:tcPr>
                </a:tc>
                <a:tc>
                  <a:txBody>
                    <a:bodyPr wrap="square"/>
                    <a:lstStyle/>
                    <a:p>
                      <a:pPr algn="ctr"/>
                      <a:r>
                        <a:rPr sz="2400" b="0" i="0">
                          <a:solidFill>
                            <a:srgbClr val="1A1A1A"/>
                          </a:solidFill>
                          <a:latin typeface="Calibri"/>
                        </a:rPr>
                        <a:t>−0.32 to −0.15</a:t>
                      </a:r>
                    </a:p>
                  </a:txBody>
                  <a:tcPr anchor="ctr" marL="109728" marR="109728" marT="27432" marB="27432">
                    <a:solidFill>
                      <a:srgbClr val="F4E9EE"/>
                    </a:solidFill>
                  </a:tcPr>
                </a:tc>
                <a:tc>
                  <a:txBody>
                    <a:bodyPr wrap="square"/>
                    <a:lstStyle/>
                    <a:p>
                      <a:pPr algn="ctr"/>
                      <a:r>
                        <a:rPr sz="2400" b="0" i="0">
                          <a:solidFill>
                            <a:srgbClr val="1A1A1A"/>
                          </a:solidFill>
                          <a:latin typeface="Calibri"/>
                        </a:rPr>
                        <a:t>12/12</a:t>
                      </a:r>
                    </a:p>
                  </a:txBody>
                  <a:tcPr anchor="ctr" marL="109728" marR="109728" marT="27432" marB="27432">
                    <a:solidFill>
                      <a:srgbClr val="F4E9EE"/>
                    </a:solidFill>
                  </a:tcPr>
                </a:tc>
              </a:tr>
              <a:tr h="585216">
                <a:tc>
                  <a:txBody>
                    <a:bodyPr wrap="square"/>
                    <a:lstStyle/>
                    <a:p>
                      <a:pPr algn="l"/>
                      <a:r>
                        <a:rPr sz="2400" b="0" i="0">
                          <a:solidFill>
                            <a:srgbClr val="1A1A1A"/>
                          </a:solidFill>
                          <a:latin typeface="Calibri"/>
                        </a:rPr>
                        <a:t>Vehicle (mismatched gains)</a:t>
                      </a:r>
                    </a:p>
                  </a:txBody>
                  <a:tcPr anchor="ctr" marL="109728" marR="109728" marT="27432" marB="27432">
                    <a:solidFill>
                      <a:srgbClr val="FFFFFF"/>
                    </a:solidFill>
                  </a:tcPr>
                </a:tc>
                <a:tc>
                  <a:txBody>
                    <a:bodyPr wrap="square"/>
                    <a:lstStyle/>
                    <a:p>
                      <a:pPr algn="ctr"/>
                      <a:r>
                        <a:rPr sz="2400" b="0" i="0">
                          <a:solidFill>
                            <a:srgbClr val="1A1A1A"/>
                          </a:solidFill>
                          <a:latin typeface="Calibri"/>
                        </a:rPr>
                        <a:t>2</a:t>
                      </a:r>
                    </a:p>
                  </a:txBody>
                  <a:tcPr anchor="ctr" marL="109728" marR="109728" marT="27432" marB="27432">
                    <a:solidFill>
                      <a:srgbClr val="FFFFFF"/>
                    </a:solidFill>
                  </a:tcPr>
                </a:tc>
                <a:tc>
                  <a:txBody>
                    <a:bodyPr wrap="square"/>
                    <a:lstStyle/>
                    <a:p>
                      <a:pPr algn="ctr"/>
                      <a:r>
                        <a:rPr sz="2400" b="0" i="0">
                          <a:solidFill>
                            <a:srgbClr val="1A1A1A"/>
                          </a:solidFill>
                          <a:latin typeface="Calibri"/>
                        </a:rPr>
                        <a:t>−0.10, −0.04</a:t>
                      </a:r>
                    </a:p>
                  </a:txBody>
                  <a:tcPr anchor="ctr" marL="109728" marR="109728" marT="27432" marB="27432">
                    <a:solidFill>
                      <a:srgbClr val="FFFFFF"/>
                    </a:solidFill>
                  </a:tcPr>
                </a:tc>
                <a:tc>
                  <a:txBody>
                    <a:bodyPr wrap="square"/>
                    <a:lstStyle/>
                    <a:p>
                      <a:pPr algn="ctr"/>
                      <a:r>
                        <a:rPr sz="2400" b="1" i="0">
                          <a:solidFill>
                            <a:srgbClr val="840032"/>
                          </a:solidFill>
                          <a:latin typeface="Calibri"/>
                        </a:rPr>
                        <a:t>0/2</a:t>
                      </a:r>
                    </a:p>
                  </a:txBody>
                  <a:tcPr anchor="ctr" marL="109728" marR="109728" marT="27432" marB="27432">
                    <a:solidFill>
                      <a:srgbClr val="FFFFFF"/>
                    </a:solidFill>
                  </a:tcPr>
                </a:tc>
              </a:tr>
              <a:tr h="585216">
                <a:tc>
                  <a:txBody>
                    <a:bodyPr wrap="square"/>
                    <a:lstStyle/>
                    <a:p>
                      <a:pPr algn="l"/>
                      <a:r>
                        <a:rPr sz="2400" b="0" i="0">
                          <a:solidFill>
                            <a:srgbClr val="1A1A1A"/>
                          </a:solidFill>
                          <a:latin typeface="Calibri"/>
                        </a:rPr>
                        <a:t>Speed at fixed radius, 30–60 km/h</a:t>
                      </a:r>
                    </a:p>
                  </a:txBody>
                  <a:tcPr anchor="ctr" marL="109728" marR="109728" marT="27432" marB="27432">
                    <a:solidFill>
                      <a:srgbClr val="F4E9EE"/>
                    </a:solidFill>
                  </a:tcPr>
                </a:tc>
                <a:tc>
                  <a:txBody>
                    <a:bodyPr wrap="square"/>
                    <a:lstStyle/>
                    <a:p>
                      <a:pPr algn="ctr"/>
                      <a:r>
                        <a:rPr sz="2400" b="0" i="0">
                          <a:solidFill>
                            <a:srgbClr val="1A1A1A"/>
                          </a:solidFill>
                          <a:latin typeface="Calibri"/>
                        </a:rPr>
                        <a:t>4</a:t>
                      </a:r>
                    </a:p>
                  </a:txBody>
                  <a:tcPr anchor="ctr" marL="109728" marR="109728" marT="27432" marB="27432">
                    <a:solidFill>
                      <a:srgbClr val="F4E9EE"/>
                    </a:solidFill>
                  </a:tcPr>
                </a:tc>
                <a:tc>
                  <a:txBody>
                    <a:bodyPr wrap="square"/>
                    <a:lstStyle/>
                    <a:p>
                      <a:pPr algn="ctr"/>
                      <a:r>
                        <a:rPr sz="2400" b="0" i="0">
                          <a:solidFill>
                            <a:srgbClr val="1A1A1A"/>
                          </a:solidFill>
                          <a:latin typeface="Calibri"/>
                        </a:rPr>
                        <a:t>−0.37 to −0.22</a:t>
                      </a:r>
                    </a:p>
                  </a:txBody>
                  <a:tcPr anchor="ctr" marL="109728" marR="109728" marT="27432" marB="27432">
                    <a:solidFill>
                      <a:srgbClr val="F4E9EE"/>
                    </a:solidFill>
                  </a:tcPr>
                </a:tc>
                <a:tc>
                  <a:txBody>
                    <a:bodyPr wrap="square"/>
                    <a:lstStyle/>
                    <a:p>
                      <a:pPr algn="ctr"/>
                      <a:r>
                        <a:rPr sz="2400" b="0" i="0">
                          <a:solidFill>
                            <a:srgbClr val="1A1A1A"/>
                          </a:solidFill>
                          <a:latin typeface="Calibri"/>
                        </a:rPr>
                        <a:t>4/4</a:t>
                      </a:r>
                    </a:p>
                  </a:txBody>
                  <a:tcPr anchor="ctr" marL="109728" marR="109728" marT="27432" marB="27432">
                    <a:solidFill>
                      <a:srgbClr val="F4E9EE"/>
                    </a:solidFill>
                  </a:tcPr>
                </a:tc>
              </a:tr>
              <a:tr h="585216">
                <a:tc>
                  <a:txBody>
                    <a:bodyPr wrap="square"/>
                    <a:lstStyle/>
                    <a:p>
                      <a:pPr algn="l"/>
                      <a:r>
                        <a:rPr sz="2400" b="0" i="0">
                          <a:solidFill>
                            <a:srgbClr val="1A1A1A"/>
                          </a:solidFill>
                          <a:latin typeface="Calibri"/>
                        </a:rPr>
                        <a:t>Speed at fixed a</a:t>
                      </a:r>
                      <a:r>
                        <a:rPr sz="2400" b="0" i="0" baseline="-25000">
                          <a:solidFill>
                            <a:srgbClr val="1A1A1A"/>
                          </a:solidFill>
                          <a:latin typeface="Calibri"/>
                        </a:rPr>
                        <a:t>y</a:t>
                      </a:r>
                      <a:r>
                        <a:rPr sz="2400" b="0" i="0">
                          <a:solidFill>
                            <a:srgbClr val="1A1A1A"/>
                          </a:solidFill>
                          <a:latin typeface="Calibri"/>
                        </a:rPr>
                        <a:t>, 30–70 km/h</a:t>
                      </a:r>
                    </a:p>
                  </a:txBody>
                  <a:tcPr anchor="ctr" marL="109728" marR="109728" marT="27432" marB="27432">
                    <a:solidFill>
                      <a:srgbClr val="FFFFFF"/>
                    </a:solidFill>
                  </a:tcPr>
                </a:tc>
                <a:tc>
                  <a:txBody>
                    <a:bodyPr wrap="square"/>
                    <a:lstStyle/>
                    <a:p>
                      <a:pPr algn="ctr"/>
                      <a:r>
                        <a:rPr sz="2400" b="0" i="0">
                          <a:solidFill>
                            <a:srgbClr val="1A1A1A"/>
                          </a:solidFill>
                          <a:latin typeface="Calibri"/>
                        </a:rPr>
                        <a:t>3</a:t>
                      </a:r>
                    </a:p>
                  </a:txBody>
                  <a:tcPr anchor="ctr" marL="109728" marR="109728" marT="27432" marB="27432">
                    <a:solidFill>
                      <a:srgbClr val="FFFFFF"/>
                    </a:solidFill>
                  </a:tcPr>
                </a:tc>
                <a:tc>
                  <a:txBody>
                    <a:bodyPr wrap="square"/>
                    <a:lstStyle/>
                    <a:p>
                      <a:pPr algn="ctr"/>
                      <a:r>
                        <a:rPr sz="2400" b="0" i="0">
                          <a:solidFill>
                            <a:srgbClr val="1A1A1A"/>
                          </a:solidFill>
                          <a:latin typeface="Calibri"/>
                        </a:rPr>
                        <a:t>−0.32 to −0.23</a:t>
                      </a:r>
                    </a:p>
                  </a:txBody>
                  <a:tcPr anchor="ctr" marL="109728" marR="109728" marT="27432" marB="27432">
                    <a:solidFill>
                      <a:srgbClr val="FFFFFF"/>
                    </a:solidFill>
                  </a:tcPr>
                </a:tc>
                <a:tc>
                  <a:txBody>
                    <a:bodyPr wrap="square"/>
                    <a:lstStyle/>
                    <a:p>
                      <a:pPr algn="ctr"/>
                      <a:r>
                        <a:rPr sz="2400" b="0" i="0">
                          <a:solidFill>
                            <a:srgbClr val="1A1A1A"/>
                          </a:solidFill>
                          <a:latin typeface="Calibri"/>
                        </a:rPr>
                        <a:t>3/3</a:t>
                      </a:r>
                    </a:p>
                  </a:txBody>
                  <a:tcPr anchor="ctr" marL="109728" marR="109728" marT="27432" marB="27432">
                    <a:solidFill>
                      <a:srgbClr val="FFFFFF"/>
                    </a:solidFill>
                  </a:tcPr>
                </a:tc>
              </a:tr>
              <a:tr h="585216">
                <a:tc>
                  <a:txBody>
                    <a:bodyPr wrap="square"/>
                    <a:lstStyle/>
                    <a:p>
                      <a:pPr algn="l"/>
                      <a:r>
                        <a:rPr sz="2400" b="0" i="0">
                          <a:solidFill>
                            <a:srgbClr val="1A1A1A"/>
                          </a:solidFill>
                          <a:latin typeface="Calibri"/>
                        </a:rPr>
                        <a:t>Radius, 100–25 m</a:t>
                      </a:r>
                    </a:p>
                  </a:txBody>
                  <a:tcPr anchor="ctr" marL="109728" marR="109728" marT="27432" marB="27432">
                    <a:solidFill>
                      <a:srgbClr val="F4E9EE"/>
                    </a:solidFill>
                  </a:tcPr>
                </a:tc>
                <a:tc>
                  <a:txBody>
                    <a:bodyPr wrap="square"/>
                    <a:lstStyle/>
                    <a:p>
                      <a:pPr algn="ctr"/>
                      <a:r>
                        <a:rPr sz="2400" b="0" i="0">
                          <a:solidFill>
                            <a:srgbClr val="1A1A1A"/>
                          </a:solidFill>
                          <a:latin typeface="Calibri"/>
                        </a:rPr>
                        <a:t>4</a:t>
                      </a:r>
                    </a:p>
                  </a:txBody>
                  <a:tcPr anchor="ctr" marL="109728" marR="109728" marT="27432" marB="27432">
                    <a:solidFill>
                      <a:srgbClr val="F4E9EE"/>
                    </a:solidFill>
                  </a:tcPr>
                </a:tc>
                <a:tc>
                  <a:txBody>
                    <a:bodyPr wrap="square"/>
                    <a:lstStyle/>
                    <a:p>
                      <a:pPr algn="ctr"/>
                      <a:r>
                        <a:rPr sz="2400" b="0" i="0">
                          <a:solidFill>
                            <a:srgbClr val="1A1A1A"/>
                          </a:solidFill>
                          <a:latin typeface="Calibri"/>
                        </a:rPr>
                        <a:t>−0.29 to −0.20</a:t>
                      </a:r>
                    </a:p>
                  </a:txBody>
                  <a:tcPr anchor="ctr" marL="109728" marR="109728" marT="27432" marB="27432">
                    <a:solidFill>
                      <a:srgbClr val="F4E9EE"/>
                    </a:solidFill>
                  </a:tcPr>
                </a:tc>
                <a:tc>
                  <a:txBody>
                    <a:bodyPr wrap="square"/>
                    <a:lstStyle/>
                    <a:p>
                      <a:pPr algn="ctr"/>
                      <a:r>
                        <a:rPr sz="2400" b="0" i="0">
                          <a:solidFill>
                            <a:srgbClr val="1A1A1A"/>
                          </a:solidFill>
                          <a:latin typeface="Calibri"/>
                        </a:rPr>
                        <a:t>4/4</a:t>
                      </a:r>
                    </a:p>
                  </a:txBody>
                  <a:tcPr anchor="ctr" marL="109728" marR="109728" marT="27432" marB="27432">
                    <a:solidFill>
                      <a:srgbClr val="F4E9EE"/>
                    </a:solidFill>
                  </a:tcPr>
                </a:tc>
              </a:tr>
              <a:tr h="585216">
                <a:tc>
                  <a:txBody>
                    <a:bodyPr wrap="square"/>
                    <a:lstStyle/>
                    <a:p>
                      <a:pPr algn="l"/>
                      <a:r>
                        <a:rPr sz="2400" b="0" i="0">
                          <a:solidFill>
                            <a:srgbClr val="1A1A1A"/>
                          </a:solidFill>
                          <a:latin typeface="Calibri"/>
                        </a:rPr>
                        <a:t>Defect type and length</a:t>
                      </a:r>
                    </a:p>
                  </a:txBody>
                  <a:tcPr anchor="ctr" marL="109728" marR="109728" marT="27432" marB="27432">
                    <a:solidFill>
                      <a:srgbClr val="FFFFFF"/>
                    </a:solidFill>
                  </a:tcPr>
                </a:tc>
                <a:tc>
                  <a:txBody>
                    <a:bodyPr wrap="square"/>
                    <a:lstStyle/>
                    <a:p>
                      <a:pPr algn="ctr"/>
                      <a:r>
                        <a:rPr sz="2400" b="0" i="0">
                          <a:solidFill>
                            <a:srgbClr val="1A1A1A"/>
                          </a:solidFill>
                          <a:latin typeface="Calibri"/>
                        </a:rPr>
                        <a:t>12</a:t>
                      </a:r>
                    </a:p>
                  </a:txBody>
                  <a:tcPr anchor="ctr" marL="109728" marR="109728" marT="27432" marB="27432">
                    <a:solidFill>
                      <a:srgbClr val="FFFFFF"/>
                    </a:solidFill>
                  </a:tcPr>
                </a:tc>
                <a:tc>
                  <a:txBody>
                    <a:bodyPr wrap="square"/>
                    <a:lstStyle/>
                    <a:p>
                      <a:pPr algn="ctr"/>
                      <a:r>
                        <a:rPr sz="2400" b="0" i="0">
                          <a:solidFill>
                            <a:srgbClr val="1A1A1A"/>
                          </a:solidFill>
                          <a:latin typeface="Calibri"/>
                        </a:rPr>
                        <a:t>−0.34 to −0.12</a:t>
                      </a:r>
                    </a:p>
                  </a:txBody>
                  <a:tcPr anchor="ctr" marL="109728" marR="109728" marT="27432" marB="27432">
                    <a:solidFill>
                      <a:srgbClr val="FFFFFF"/>
                    </a:solidFill>
                  </a:tcPr>
                </a:tc>
                <a:tc>
                  <a:txBody>
                    <a:bodyPr wrap="square"/>
                    <a:lstStyle/>
                    <a:p>
                      <a:pPr algn="ctr"/>
                      <a:r>
                        <a:rPr sz="2400" b="0" i="0">
                          <a:solidFill>
                            <a:srgbClr val="1A1A1A"/>
                          </a:solidFill>
                          <a:latin typeface="Calibri"/>
                        </a:rPr>
                        <a:t>12/12</a:t>
                      </a:r>
                    </a:p>
                  </a:txBody>
                  <a:tcPr anchor="ctr" marL="109728" marR="109728" marT="27432" marB="27432">
                    <a:solidFill>
                      <a:srgbClr val="FFFFFF"/>
                    </a:solidFill>
                  </a:tcPr>
                </a:tc>
              </a:tr>
              <a:tr h="585216">
                <a:tc>
                  <a:txBody>
                    <a:bodyPr wrap="square"/>
                    <a:lstStyle/>
                    <a:p>
                      <a:pPr algn="l"/>
                      <a:r>
                        <a:rPr sz="2400" b="0" i="0">
                          <a:solidFill>
                            <a:srgbClr val="1A1A1A"/>
                          </a:solidFill>
                          <a:latin typeface="Calibri"/>
                        </a:rPr>
                        <a:t>Defect location</a:t>
                      </a:r>
                    </a:p>
                  </a:txBody>
                  <a:tcPr anchor="ctr" marL="109728" marR="109728" marT="27432" marB="27432">
                    <a:solidFill>
                      <a:srgbClr val="F4E9EE"/>
                    </a:solidFill>
                  </a:tcPr>
                </a:tc>
                <a:tc>
                  <a:txBody>
                    <a:bodyPr wrap="square"/>
                    <a:lstStyle/>
                    <a:p>
                      <a:pPr algn="ctr"/>
                      <a:r>
                        <a:rPr sz="2400" b="0" i="0">
                          <a:solidFill>
                            <a:srgbClr val="1A1A1A"/>
                          </a:solidFill>
                          <a:latin typeface="Calibri"/>
                        </a:rPr>
                        <a:t>8</a:t>
                      </a:r>
                    </a:p>
                  </a:txBody>
                  <a:tcPr anchor="ctr" marL="109728" marR="109728" marT="27432" marB="27432">
                    <a:solidFill>
                      <a:srgbClr val="F4E9EE"/>
                    </a:solidFill>
                  </a:tcPr>
                </a:tc>
                <a:tc>
                  <a:txBody>
                    <a:bodyPr wrap="square"/>
                    <a:lstStyle/>
                    <a:p>
                      <a:pPr algn="ctr"/>
                      <a:r>
                        <a:rPr sz="2400" b="0" i="0">
                          <a:solidFill>
                            <a:srgbClr val="1A1A1A"/>
                          </a:solidFill>
                          <a:latin typeface="Calibri"/>
                        </a:rPr>
                        <a:t>−0.24 to −0.10</a:t>
                      </a:r>
                    </a:p>
                  </a:txBody>
                  <a:tcPr anchor="ctr" marL="109728" marR="109728" marT="27432" marB="27432">
                    <a:solidFill>
                      <a:srgbClr val="F4E9EE"/>
                    </a:solidFill>
                  </a:tcPr>
                </a:tc>
                <a:tc>
                  <a:txBody>
                    <a:bodyPr wrap="square"/>
                    <a:lstStyle/>
                    <a:p>
                      <a:pPr algn="ctr"/>
                      <a:r>
                        <a:rPr sz="2400" b="0" i="0">
                          <a:solidFill>
                            <a:srgbClr val="1A1A1A"/>
                          </a:solidFill>
                          <a:latin typeface="Calibri"/>
                        </a:rPr>
                        <a:t>8/8</a:t>
                      </a:r>
                    </a:p>
                  </a:txBody>
                  <a:tcPr anchor="ctr" marL="109728" marR="109728" marT="27432" marB="27432">
                    <a:solidFill>
                      <a:srgbClr val="F4E9EE"/>
                    </a:solidFill>
                  </a:tcPr>
                </a:tc>
              </a:tr>
              <a:tr h="585216">
                <a:tc>
                  <a:txBody>
                    <a:bodyPr wrap="square"/>
                    <a:lstStyle/>
                    <a:p>
                      <a:pPr algn="l"/>
                      <a:r>
                        <a:rPr sz="2400" b="0" i="0">
                          <a:solidFill>
                            <a:srgbClr val="1A1A1A"/>
                          </a:solidFill>
                          <a:latin typeface="Calibri"/>
                        </a:rPr>
                        <a:t>Defect height, 80 and 150 mm</a:t>
                      </a:r>
                    </a:p>
                  </a:txBody>
                  <a:tcPr anchor="ctr" marL="109728" marR="109728" marT="27432" marB="27432">
                    <a:solidFill>
                      <a:srgbClr val="FFFFFF"/>
                    </a:solidFill>
                  </a:tcPr>
                </a:tc>
                <a:tc>
                  <a:txBody>
                    <a:bodyPr wrap="square"/>
                    <a:lstStyle/>
                    <a:p>
                      <a:pPr algn="ctr"/>
                      <a:r>
                        <a:rPr sz="2400" b="0" i="0">
                          <a:solidFill>
                            <a:srgbClr val="1A1A1A"/>
                          </a:solidFill>
                          <a:latin typeface="Calibri"/>
                        </a:rPr>
                        <a:t>4</a:t>
                      </a:r>
                    </a:p>
                  </a:txBody>
                  <a:tcPr anchor="ctr" marL="109728" marR="109728" marT="27432" marB="27432">
                    <a:solidFill>
                      <a:srgbClr val="FFFFFF"/>
                    </a:solidFill>
                  </a:tcPr>
                </a:tc>
                <a:tc>
                  <a:txBody>
                    <a:bodyPr wrap="square"/>
                    <a:lstStyle/>
                    <a:p>
                      <a:pPr algn="ctr"/>
                      <a:r>
                        <a:rPr sz="2400" b="0" i="0">
                          <a:solidFill>
                            <a:srgbClr val="1A1A1A"/>
                          </a:solidFill>
                          <a:latin typeface="Calibri"/>
                        </a:rPr>
                        <a:t>−0.19 to −0.18</a:t>
                      </a:r>
                    </a:p>
                  </a:txBody>
                  <a:tcPr anchor="ctr" marL="109728" marR="109728" marT="27432" marB="27432">
                    <a:solidFill>
                      <a:srgbClr val="FFFFFF"/>
                    </a:solidFill>
                  </a:tcPr>
                </a:tc>
                <a:tc>
                  <a:txBody>
                    <a:bodyPr wrap="square"/>
                    <a:lstStyle/>
                    <a:p>
                      <a:pPr algn="ctr"/>
                      <a:r>
                        <a:rPr sz="2400" b="1" i="0">
                          <a:solidFill>
                            <a:srgbClr val="840032"/>
                          </a:solidFill>
                          <a:latin typeface="Calibri"/>
                        </a:rPr>
                        <a:t>3/4</a:t>
                      </a:r>
                    </a:p>
                  </a:txBody>
                  <a:tcPr anchor="ctr" marL="109728" marR="109728" marT="27432" marB="27432">
                    <a:solidFill>
                      <a:srgbClr val="FFFFFF"/>
                    </a:solidFill>
                  </a:tcPr>
                </a:tc>
              </a:tr>
              <a:tr h="585216">
                <a:tc>
                  <a:txBody>
                    <a:bodyPr wrap="square"/>
                    <a:lstStyle/>
                    <a:p>
                      <a:pPr algn="l"/>
                      <a:r>
                        <a:rPr sz="2400" b="0" i="0">
                          <a:solidFill>
                            <a:srgbClr val="1A1A1A"/>
                          </a:solidFill>
                          <a:latin typeface="Calibri"/>
                        </a:rPr>
                        <a:t>Point in the corner</a:t>
                      </a:r>
                    </a:p>
                  </a:txBody>
                  <a:tcPr anchor="ctr" marL="109728" marR="109728" marT="27432" marB="27432">
                    <a:solidFill>
                      <a:srgbClr val="F4E9EE"/>
                    </a:solidFill>
                  </a:tcPr>
                </a:tc>
                <a:tc>
                  <a:txBody>
                    <a:bodyPr wrap="square"/>
                    <a:lstStyle/>
                    <a:p>
                      <a:pPr algn="ctr"/>
                      <a:r>
                        <a:rPr sz="2400" b="0" i="0">
                          <a:solidFill>
                            <a:srgbClr val="1A1A1A"/>
                          </a:solidFill>
                          <a:latin typeface="Calibri"/>
                        </a:rPr>
                        <a:t>6</a:t>
                      </a:r>
                    </a:p>
                  </a:txBody>
                  <a:tcPr anchor="ctr" marL="109728" marR="109728" marT="27432" marB="27432">
                    <a:solidFill>
                      <a:srgbClr val="F4E9EE"/>
                    </a:solidFill>
                  </a:tcPr>
                </a:tc>
                <a:tc>
                  <a:txBody>
                    <a:bodyPr wrap="square"/>
                    <a:lstStyle/>
                    <a:p>
                      <a:pPr algn="ctr"/>
                      <a:r>
                        <a:rPr sz="2400" b="0" i="0">
                          <a:solidFill>
                            <a:srgbClr val="1A1A1A"/>
                          </a:solidFill>
                          <a:latin typeface="Calibri"/>
                        </a:rPr>
                        <a:t>−0.27 to −0.19</a:t>
                      </a:r>
                    </a:p>
                  </a:txBody>
                  <a:tcPr anchor="ctr" marL="109728" marR="109728" marT="27432" marB="27432">
                    <a:solidFill>
                      <a:srgbClr val="F4E9EE"/>
                    </a:solidFill>
                  </a:tcPr>
                </a:tc>
                <a:tc>
                  <a:txBody>
                    <a:bodyPr wrap="square"/>
                    <a:lstStyle/>
                    <a:p>
                      <a:pPr algn="ctr"/>
                      <a:r>
                        <a:rPr sz="2400" b="0" i="0">
                          <a:solidFill>
                            <a:srgbClr val="1A1A1A"/>
                          </a:solidFill>
                          <a:latin typeface="Calibri"/>
                        </a:rPr>
                        <a:t>6/6</a:t>
                      </a:r>
                    </a:p>
                  </a:txBody>
                  <a:tcPr anchor="ctr" marL="109728" marR="109728" marT="27432" marB="27432">
                    <a:solidFill>
                      <a:srgbClr val="F4E9EE"/>
                    </a:solidFill>
                  </a:tcPr>
                </a:tc>
              </a:tr>
            </a:tbl>
          </a:graphicData>
        </a:graphic>
      </p:graphicFrame>
      <p:sp>
        <p:nvSpPr>
          <p:cNvPr id="17" name="TextBox 16"/>
          <p:cNvSpPr txBox="1"/>
          <p:nvPr/>
        </p:nvSpPr>
        <p:spPr>
          <a:xfrm>
            <a:off x="15361920" y="6400800"/>
            <a:ext cx="8229600" cy="640080"/>
          </a:xfrm>
          <a:prstGeom prst="rect">
            <a:avLst/>
          </a:prstGeom>
          <a:noFill/>
        </p:spPr>
        <p:txBody>
          <a:bodyPr wrap="square" anchor="t" lIns="45720" rIns="45720" tIns="27432" bIns="27432">
            <a:noAutofit/>
          </a:bodyPr>
          <a:lstStyle/>
          <a:p>
            <a:pPr algn="l"/>
            <a:r>
              <a:rPr sz="3000" b="1" i="0">
                <a:solidFill>
                  <a:srgbClr val="840032"/>
                </a:solidFill>
                <a:latin typeface="Helvetica"/>
              </a:rPr>
              <a:t>The four failures</a:t>
            </a:r>
          </a:p>
        </p:txBody>
      </p:sp>
      <p:sp>
        <p:nvSpPr>
          <p:cNvPr id="18" name="TextBox 17"/>
          <p:cNvSpPr txBox="1"/>
          <p:nvPr/>
        </p:nvSpPr>
        <p:spPr>
          <a:xfrm>
            <a:off x="15361920" y="7086600"/>
            <a:ext cx="8229600" cy="3566160"/>
          </a:xfrm>
          <a:prstGeom prst="rect">
            <a:avLst/>
          </a:prstGeom>
          <a:noFill/>
        </p:spPr>
        <p:txBody>
          <a:bodyPr wrap="square" lIns="45720" rIns="45720" tIns="27432" bIns="27432">
            <a:noAutofit/>
          </a:bodyPr>
          <a:lstStyle/>
          <a:p>
            <a:pPr algn="l" marL="411480" indent="-411480">
              <a:spcAft>
                <a:spcPts val="800"/>
              </a:spcAft>
              <a:buFont typeface="Arial"/>
              <a:buChar char="•"/>
            </a:pPr>
            <a:r>
              <a:rPr sz="2600" b="1" i="0">
                <a:solidFill>
                  <a:srgbClr val="1A1A1A"/>
                </a:solidFill>
                <a:latin typeface="Calibri"/>
              </a:rPr>
              <a:t>SUV on the sedan’s gains (2): </a:t>
            </a:r>
            <a:r>
              <a:rPr sz="2600" b="0" i="0">
                <a:solidFill>
                  <a:srgbClr val="1A1A1A"/>
                </a:solidFill>
                <a:latin typeface="Calibri"/>
              </a:rPr>
              <a:t>peak still falls on every road, but the lean stays near passive</a:t>
            </a:r>
          </a:p>
          <a:p>
            <a:pPr algn="l" marL="411480" indent="-411480">
              <a:spcAft>
                <a:spcPts val="800"/>
              </a:spcAft>
              <a:buFont typeface="Arial"/>
              <a:buChar char="•"/>
            </a:pPr>
            <a:r>
              <a:rPr sz="2600" b="1" i="0">
                <a:solidFill>
                  <a:srgbClr val="1A1A1A"/>
                </a:solidFill>
                <a:latin typeface="Calibri"/>
              </a:rPr>
              <a:t>Full-size van, 0.5 g: </a:t>
            </a:r>
            <a:r>
              <a:rPr sz="2600" b="0" i="0">
                <a:solidFill>
                  <a:srgbClr val="1A1A1A"/>
                </a:solidFill>
                <a:latin typeface="Calibri"/>
              </a:rPr>
              <a:t>misses the roll criterion by 0.001</a:t>
            </a:r>
          </a:p>
          <a:p>
            <a:pPr algn="l" marL="411480" indent="-411480">
              <a:spcAft>
                <a:spcPts val="800"/>
              </a:spcAft>
              <a:buFont typeface="Arial"/>
              <a:buChar char="•"/>
            </a:pPr>
            <a:r>
              <a:rPr sz="2600" b="1" i="0">
                <a:solidFill>
                  <a:srgbClr val="1A1A1A"/>
                </a:solidFill>
                <a:latin typeface="Calibri"/>
              </a:rPr>
              <a:t>150 mm bump: </a:t>
            </a:r>
            <a:r>
              <a:rPr sz="2600" b="0" i="0">
                <a:solidFill>
                  <a:srgbClr val="1A1A1A"/>
                </a:solidFill>
                <a:latin typeface="Calibri"/>
              </a:rPr>
              <a:t>exceeds travel; bump stops for 7 ms, roll rate 30°/s</a:t>
            </a:r>
          </a:p>
        </p:txBody>
      </p:sp>
      <p:sp>
        <p:nvSpPr>
          <p:cNvPr id="19" name="TextBox 18"/>
          <p:cNvSpPr txBox="1"/>
          <p:nvPr/>
        </p:nvSpPr>
        <p:spPr>
          <a:xfrm>
            <a:off x="15361920" y="10424160"/>
            <a:ext cx="8229600" cy="548640"/>
          </a:xfrm>
          <a:prstGeom prst="rect">
            <a:avLst/>
          </a:prstGeom>
          <a:noFill/>
        </p:spPr>
        <p:txBody>
          <a:bodyPr wrap="square" anchor="t" lIns="45720" rIns="45720" tIns="27432" bIns="27432">
            <a:noAutofit/>
          </a:bodyPr>
          <a:lstStyle/>
          <a:p>
            <a:pPr algn="l"/>
            <a:r>
              <a:rPr sz="2800" b="1" i="0">
                <a:solidFill>
                  <a:srgbClr val="840032"/>
                </a:solidFill>
                <a:latin typeface="Helvetica"/>
              </a:rPr>
              <a:t>Trends</a:t>
            </a:r>
          </a:p>
        </p:txBody>
      </p:sp>
      <p:sp>
        <p:nvSpPr>
          <p:cNvPr id="20" name="TextBox 19"/>
          <p:cNvSpPr txBox="1"/>
          <p:nvPr/>
        </p:nvSpPr>
        <p:spPr>
          <a:xfrm>
            <a:off x="15361920" y="11018520"/>
            <a:ext cx="8229600" cy="1554480"/>
          </a:xfrm>
          <a:prstGeom prst="rect">
            <a:avLst/>
          </a:prstGeom>
          <a:noFill/>
        </p:spPr>
        <p:txBody>
          <a:bodyPr wrap="square" anchor="t" lIns="45720" rIns="45720" tIns="27432" bIns="27432">
            <a:noAutofit/>
          </a:bodyPr>
          <a:lstStyle/>
          <a:p>
            <a:pPr algn="l"/>
            <a:r>
              <a:rPr sz="2500" b="0" i="0">
                <a:solidFill>
                  <a:srgbClr val="1A1A1A"/>
                </a:solidFill>
                <a:latin typeface="Calibri"/>
              </a:rPr>
              <a:t>Gain shrinks as a</a:t>
            </a:r>
            <a:r>
              <a:rPr sz="2500" b="0" i="0" baseline="-25000">
                <a:solidFill>
                  <a:srgbClr val="1A1A1A"/>
                </a:solidFill>
                <a:latin typeface="Calibri"/>
              </a:rPr>
              <a:t>y</a:t>
            </a:r>
            <a:r>
              <a:rPr sz="2500" b="0" i="0">
                <a:solidFill>
                  <a:srgbClr val="1A1A1A"/>
                </a:solidFill>
                <a:latin typeface="Calibri"/>
              </a:rPr>
              <a:t> rises (steady share grows) and with speed at fixed a</a:t>
            </a:r>
            <a:r>
              <a:rPr sz="2500" b="0" i="0" baseline="-25000">
                <a:solidFill>
                  <a:srgbClr val="1A1A1A"/>
                </a:solidFill>
                <a:latin typeface="Calibri"/>
              </a:rPr>
              <a:t>y</a:t>
            </a:r>
            <a:r>
              <a:rPr sz="2500" b="0" i="0">
                <a:solidFill>
                  <a:srgbClr val="1A1A1A"/>
                </a:solidFill>
                <a:latin typeface="Calibri"/>
              </a:rPr>
              <a:t> (fixed distance = shorter time).</a:t>
            </a:r>
          </a:p>
        </p:txBody>
      </p:sp>
      <p:sp>
        <p:nvSpPr>
          <p:cNvPr id="21" name="TextBox 20"/>
          <p:cNvSpPr txBox="1"/>
          <p:nvPr/>
        </p:nvSpPr>
        <p:spPr>
          <a:xfrm>
            <a:off x="777240" y="12755880"/>
            <a:ext cx="22768560" cy="548640"/>
          </a:xfrm>
          <a:prstGeom prst="rect">
            <a:avLst/>
          </a:prstGeom>
          <a:noFill/>
        </p:spPr>
        <p:txBody>
          <a:bodyPr wrap="square" anchor="t" lIns="45720" rIns="45720" tIns="27432" bIns="27432">
            <a:noAutofit/>
          </a:bodyPr>
          <a:lstStyle/>
          <a:p>
            <a:pPr algn="l"/>
            <a:r>
              <a:rPr sz="2000" b="0" i="1">
                <a:solidFill>
                  <a:srgbClr val="6E6E6E"/>
                </a:solidFill>
                <a:latin typeface="Calibri"/>
              </a:rPr>
              <a:t>Pass: lower peak LTR on ≥ 90 % of roads, no trip where passive has none, roll ≤ 25 % of passive, no bump-stop contact. 10 roads per cell.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5. STUDY 2: DEFECT SEVERITY</a:t>
            </a:r>
          </a:p>
        </p:txBody>
      </p:sp>
      <p:graphicFrame>
        <p:nvGraphicFramePr>
          <p:cNvPr id="4" name="Chart 3"/>
          <p:cNvGraphicFramePr>
            <a:graphicFrameLocks noGrp="1"/>
          </p:cNvGraphicFramePr>
          <p:nvPr/>
        </p:nvGraphicFramePr>
        <p:xfrm>
          <a:off x="777240" y="3566160"/>
          <a:ext cx="11247120" cy="676656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12344400" y="3566160"/>
          <a:ext cx="11247120" cy="6766560"/>
        </p:xfrm>
        <a:graphic>
          <a:graphicData uri="http://schemas.openxmlformats.org/drawingml/2006/chart">
            <c:chart xmlns:c="http://schemas.openxmlformats.org/drawingml/2006/chart" r:id="rId4"/>
          </a:graphicData>
        </a:graphic>
      </p:graphicFrame>
      <p:sp>
        <p:nvSpPr>
          <p:cNvPr id="6" name="TextBox 5"/>
          <p:cNvSpPr txBox="1"/>
          <p:nvPr/>
        </p:nvSpPr>
        <p:spPr>
          <a:xfrm>
            <a:off x="777240" y="10607040"/>
            <a:ext cx="22768560" cy="2011680"/>
          </a:xfrm>
          <a:prstGeom prst="rect">
            <a:avLst/>
          </a:prstGeom>
          <a:noFill/>
        </p:spPr>
        <p:txBody>
          <a:bodyPr wrap="square" lIns="45720" rIns="45720" tIns="27432" bIns="27432">
            <a:noAutofit/>
          </a:bodyPr>
          <a:lstStyle/>
          <a:p>
            <a:pPr algn="l" marL="411480" indent="-411480">
              <a:spcAft>
                <a:spcPts val="800"/>
              </a:spcAft>
              <a:buFont typeface="Arial"/>
              <a:buChar char="•"/>
            </a:pPr>
            <a:r>
              <a:rPr sz="2800" b="1" i="0">
                <a:solidFill>
                  <a:srgbClr val="1A1A1A"/>
                </a:solidFill>
                <a:latin typeface="Calibri"/>
              </a:rPr>
              <a:t>Single bump: </a:t>
            </a:r>
            <a:r>
              <a:rPr sz="2800" b="0" i="0">
                <a:solidFill>
                  <a:srgbClr val="1A1A1A"/>
                </a:solidFill>
                <a:latin typeface="Calibri"/>
              </a:rPr>
              <a:t>preview never reaches the trip condition up to 150 mm; passive first does at 80 mm (0.8 g)</a:t>
            </a:r>
          </a:p>
          <a:p>
            <a:pPr algn="l" marL="411480" indent="-411480">
              <a:spcAft>
                <a:spcPts val="800"/>
              </a:spcAft>
              <a:buFont typeface="Arial"/>
              <a:buChar char="•"/>
            </a:pPr>
            <a:r>
              <a:rPr sz="2800" b="1" i="0">
                <a:solidFill>
                  <a:srgbClr val="1A1A1A"/>
                </a:solidFill>
                <a:latin typeface="Calibri"/>
              </a:rPr>
              <a:t>Twin bump: </a:t>
            </a:r>
            <a:r>
              <a:rPr sz="2800" b="0" i="0">
                <a:solidFill>
                  <a:srgbClr val="1A1A1A"/>
                </a:solidFill>
                <a:latin typeface="Calibri"/>
              </a:rPr>
              <a:t>passive trips on every road at every height; preview avoids it at 44 mm and cuts the dwell 4–10× above</a:t>
            </a:r>
          </a:p>
        </p:txBody>
      </p:sp>
      <p:sp>
        <p:nvSpPr>
          <p:cNvPr id="7" name="TextBox 6"/>
          <p:cNvSpPr txBox="1"/>
          <p:nvPr/>
        </p:nvSpPr>
        <p:spPr>
          <a:xfrm>
            <a:off x="777240" y="12755880"/>
            <a:ext cx="22768560" cy="548640"/>
          </a:xfrm>
          <a:prstGeom prst="rect">
            <a:avLst/>
          </a:prstGeom>
          <a:noFill/>
        </p:spPr>
        <p:txBody>
          <a:bodyPr wrap="square" anchor="t" lIns="45720" rIns="45720" tIns="27432" bIns="27432">
            <a:noAutofit/>
          </a:bodyPr>
          <a:lstStyle/>
          <a:p>
            <a:pPr algn="l"/>
            <a:r>
              <a:rPr sz="2000" b="0" i="1">
                <a:solidFill>
                  <a:srgbClr val="6E6E6E"/>
                </a:solidFill>
                <a:latin typeface="Calibri"/>
              </a:rPr>
              <a:t>0.5 g, mean of five road realisations. Twin bump: second identical bump one wheelbase later, a constructed worst case.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5. STUDY 2: ACTUATOR REQUIREMENT</a:t>
            </a:r>
          </a:p>
        </p:txBody>
      </p:sp>
      <p:graphicFrame>
        <p:nvGraphicFramePr>
          <p:cNvPr id="4" name="Chart 3"/>
          <p:cNvGraphicFramePr>
            <a:graphicFrameLocks noGrp="1"/>
          </p:cNvGraphicFramePr>
          <p:nvPr/>
        </p:nvGraphicFramePr>
        <p:xfrm>
          <a:off x="777240" y="3566160"/>
          <a:ext cx="13350240" cy="9052560"/>
        </p:xfrm>
        <a:graphic>
          <a:graphicData uri="http://schemas.openxmlformats.org/drawingml/2006/chart">
            <c:chart xmlns:c="http://schemas.openxmlformats.org/drawingml/2006/chart" r:id="rId3"/>
          </a:graphicData>
        </a:graphic>
      </p:graphicFrame>
      <p:sp>
        <p:nvSpPr>
          <p:cNvPr id="5" name="Rounded Rectangle 4"/>
          <p:cNvSpPr/>
          <p:nvPr/>
        </p:nvSpPr>
        <p:spPr>
          <a:xfrm>
            <a:off x="14538960" y="3566160"/>
            <a:ext cx="9052560" cy="283464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950440" y="3840480"/>
            <a:ext cx="8229600" cy="960120"/>
          </a:xfrm>
          <a:prstGeom prst="rect">
            <a:avLst/>
          </a:prstGeom>
          <a:noFill/>
        </p:spPr>
        <p:txBody>
          <a:bodyPr wrap="square" anchor="t" lIns="45720" rIns="45720" tIns="27432" bIns="27432">
            <a:noAutofit/>
          </a:bodyPr>
          <a:lstStyle/>
          <a:p>
            <a:pPr algn="l"/>
            <a:r>
              <a:rPr sz="5600" b="1" i="0">
                <a:solidFill>
                  <a:srgbClr val="840032"/>
                </a:solidFill>
                <a:latin typeface="Helvetica"/>
              </a:rPr>
              <a:t>15–30 Hz</a:t>
            </a:r>
          </a:p>
        </p:txBody>
      </p:sp>
      <p:sp>
        <p:nvSpPr>
          <p:cNvPr id="7" name="TextBox 6"/>
          <p:cNvSpPr txBox="1"/>
          <p:nvPr/>
        </p:nvSpPr>
        <p:spPr>
          <a:xfrm>
            <a:off x="14950440" y="4846320"/>
            <a:ext cx="8229600" cy="1325879"/>
          </a:xfrm>
          <a:prstGeom prst="rect">
            <a:avLst/>
          </a:prstGeom>
          <a:noFill/>
        </p:spPr>
        <p:txBody>
          <a:bodyPr wrap="square" anchor="t" lIns="45720" rIns="45720" tIns="27432" bIns="27432">
            <a:noAutofit/>
          </a:bodyPr>
          <a:lstStyle/>
          <a:p>
            <a:pPr algn="l"/>
            <a:r>
              <a:rPr sz="2800" b="0" i="0">
                <a:solidFill>
                  <a:srgbClr val="1A1A1A"/>
                </a:solidFill>
                <a:latin typeface="Calibri"/>
              </a:rPr>
              <a:t>bandwidth: the gain survives to ≈ 15 Hz and is complete by 30 Hz</a:t>
            </a:r>
          </a:p>
        </p:txBody>
      </p:sp>
      <p:sp>
        <p:nvSpPr>
          <p:cNvPr id="8" name="Rounded Rectangle 7"/>
          <p:cNvSpPr/>
          <p:nvPr/>
        </p:nvSpPr>
        <p:spPr>
          <a:xfrm>
            <a:off x="14538960" y="6720840"/>
            <a:ext cx="9052560" cy="283464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950440" y="6995159"/>
            <a:ext cx="8229600" cy="960120"/>
          </a:xfrm>
          <a:prstGeom prst="rect">
            <a:avLst/>
          </a:prstGeom>
          <a:noFill/>
        </p:spPr>
        <p:txBody>
          <a:bodyPr wrap="square" anchor="t" lIns="45720" rIns="45720" tIns="27432" bIns="27432">
            <a:noAutofit/>
          </a:bodyPr>
          <a:lstStyle/>
          <a:p>
            <a:pPr algn="l"/>
            <a:r>
              <a:rPr sz="5600" b="1" i="0">
                <a:solidFill>
                  <a:srgbClr val="840032"/>
                </a:solidFill>
                <a:latin typeface="Helvetica"/>
              </a:rPr>
              <a:t>≈ 300 kN/s</a:t>
            </a:r>
          </a:p>
        </p:txBody>
      </p:sp>
      <p:sp>
        <p:nvSpPr>
          <p:cNvPr id="10" name="TextBox 9"/>
          <p:cNvSpPr txBox="1"/>
          <p:nvPr/>
        </p:nvSpPr>
        <p:spPr>
          <a:xfrm>
            <a:off x="14950440" y="8001000"/>
            <a:ext cx="8229600" cy="1325879"/>
          </a:xfrm>
          <a:prstGeom prst="rect">
            <a:avLst/>
          </a:prstGeom>
          <a:noFill/>
        </p:spPr>
        <p:txBody>
          <a:bodyPr wrap="square" anchor="t" lIns="45720" rIns="45720" tIns="27432" bIns="27432">
            <a:noAutofit/>
          </a:bodyPr>
          <a:lstStyle/>
          <a:p>
            <a:pPr algn="l"/>
            <a:r>
              <a:rPr sz="2800" b="0" i="0">
                <a:solidFill>
                  <a:srgbClr val="1A1A1A"/>
                </a:solidFill>
                <a:latin typeface="Calibri"/>
              </a:rPr>
              <a:t>slew rate keeps most of the gain; 150 kN/s removes it</a:t>
            </a:r>
          </a:p>
        </p:txBody>
      </p:sp>
      <p:sp>
        <p:nvSpPr>
          <p:cNvPr id="11" name="TextBox 10"/>
          <p:cNvSpPr txBox="1"/>
          <p:nvPr/>
        </p:nvSpPr>
        <p:spPr>
          <a:xfrm>
            <a:off x="14538960" y="9875520"/>
            <a:ext cx="9052560" cy="2743200"/>
          </a:xfrm>
          <a:prstGeom prst="rect">
            <a:avLst/>
          </a:prstGeom>
          <a:noFill/>
        </p:spPr>
        <p:txBody>
          <a:bodyPr wrap="square" lIns="45720" rIns="45720" tIns="27432" bIns="27432">
            <a:noAutofit/>
          </a:bodyPr>
          <a:lstStyle/>
          <a:p>
            <a:pPr algn="l" marL="411480" indent="-411480">
              <a:spcAft>
                <a:spcPts val="800"/>
              </a:spcAft>
              <a:buFont typeface="Arial"/>
              <a:buChar char="•"/>
            </a:pPr>
            <a:r>
              <a:rPr sz="2700" b="0" i="0">
                <a:solidFill>
                  <a:srgbClr val="1A1A1A"/>
                </a:solidFill>
                <a:latin typeface="Calibri"/>
              </a:rPr>
              <a:t>≤ 10 Hz: force arrives after the 11.2 Hz wheel-hop event; worse than passive (gray bars)</a:t>
            </a:r>
          </a:p>
          <a:p>
            <a:pPr algn="l" marL="411480" indent="-411480">
              <a:spcAft>
                <a:spcPts val="800"/>
              </a:spcAft>
              <a:buFont typeface="Arial"/>
              <a:buChar char="•"/>
            </a:pPr>
            <a:r>
              <a:rPr sz="2700" b="0" i="0">
                <a:solidFill>
                  <a:srgbClr val="1A1A1A"/>
                </a:solidFill>
                <a:latin typeface="Calibri"/>
              </a:rPr>
              <a:t>Lean removal (roll ≈ 0.6–0.7°) survives at every bandwidth</a:t>
            </a:r>
          </a:p>
        </p:txBody>
      </p:sp>
      <p:sp>
        <p:nvSpPr>
          <p:cNvPr id="12" name="TextBox 11"/>
          <p:cNvSpPr txBox="1"/>
          <p:nvPr/>
        </p:nvSpPr>
        <p:spPr>
          <a:xfrm>
            <a:off x="777240" y="12755880"/>
            <a:ext cx="22768560" cy="548640"/>
          </a:xfrm>
          <a:prstGeom prst="rect">
            <a:avLst/>
          </a:prstGeom>
          <a:noFill/>
        </p:spPr>
        <p:txBody>
          <a:bodyPr wrap="square" anchor="t" lIns="45720" rIns="45720" tIns="27432" bIns="27432">
            <a:noAutofit/>
          </a:bodyPr>
          <a:lstStyle/>
          <a:p>
            <a:pPr algn="l"/>
            <a:r>
              <a:rPr sz="2000" b="0" i="1">
                <a:solidFill>
                  <a:srgbClr val="6E6E6E"/>
                </a:solidFill>
                <a:latin typeface="Calibri"/>
              </a:rPr>
              <a:t>First-order lag and slew limit on the nominal controller, not redesigned. Baseline case, mean of five roads.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6. DISCUSSION</a:t>
            </a:r>
          </a:p>
        </p:txBody>
      </p:sp>
      <p:sp>
        <p:nvSpPr>
          <p:cNvPr id="4" name="Rounded Rectangle 3"/>
          <p:cNvSpPr/>
          <p:nvPr/>
        </p:nvSpPr>
        <p:spPr>
          <a:xfrm>
            <a:off x="777240" y="3566160"/>
            <a:ext cx="7315200" cy="896112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3931920"/>
            <a:ext cx="822960" cy="822960"/>
          </a:xfrm>
          <a:prstGeom prst="ellipse">
            <a:avLst/>
          </a:prstGeom>
          <a:solidFill>
            <a:srgbClr val="8400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Helvetica"/>
              </a:rPr>
              <a:t>1</a:t>
            </a:r>
          </a:p>
        </p:txBody>
      </p:sp>
      <p:sp>
        <p:nvSpPr>
          <p:cNvPr id="6" name="TextBox 5"/>
          <p:cNvSpPr txBox="1"/>
          <p:nvPr/>
        </p:nvSpPr>
        <p:spPr>
          <a:xfrm>
            <a:off x="1188720" y="5029200"/>
            <a:ext cx="6492240" cy="1280160"/>
          </a:xfrm>
          <a:prstGeom prst="rect">
            <a:avLst/>
          </a:prstGeom>
          <a:noFill/>
        </p:spPr>
        <p:txBody>
          <a:bodyPr wrap="square" anchor="t" lIns="45720" rIns="45720" tIns="27432" bIns="27432">
            <a:noAutofit/>
          </a:bodyPr>
          <a:lstStyle/>
          <a:p>
            <a:pPr algn="l"/>
            <a:r>
              <a:rPr sz="3100" b="1" i="0">
                <a:solidFill>
                  <a:srgbClr val="840032"/>
                </a:solidFill>
                <a:latin typeface="Helvetica"/>
              </a:rPr>
              <a:t>Why feedback degrades the margin</a:t>
            </a:r>
          </a:p>
        </p:txBody>
      </p:sp>
      <p:sp>
        <p:nvSpPr>
          <p:cNvPr id="7" name="TextBox 6"/>
          <p:cNvSpPr txBox="1"/>
          <p:nvPr/>
        </p:nvSpPr>
        <p:spPr>
          <a:xfrm>
            <a:off x="1188720" y="6492240"/>
            <a:ext cx="6492240" cy="5852160"/>
          </a:xfrm>
          <a:prstGeom prst="rect">
            <a:avLst/>
          </a:prstGeom>
          <a:noFill/>
        </p:spPr>
        <p:txBody>
          <a:bodyPr wrap="square" anchor="t" lIns="45720" rIns="45720" tIns="27432" bIns="27432">
            <a:noAutofit/>
          </a:bodyPr>
          <a:lstStyle/>
          <a:p>
            <a:pPr algn="l"/>
            <a:r>
              <a:rPr sz="3000" b="0" i="0">
                <a:solidFill>
                  <a:srgbClr val="1A1A1A"/>
                </a:solidFill>
                <a:latin typeface="Calibri"/>
              </a:rPr>
              <a:t>B leans 5.4° against passive 3.0°: lower effective roll stiffness. With no a</a:t>
            </a:r>
            <a:r>
              <a:rPr sz="3000" b="0" i="0" baseline="-25000">
                <a:solidFill>
                  <a:srgbClr val="1A1A1A"/>
                </a:solidFill>
                <a:latin typeface="Calibri"/>
              </a:rPr>
              <a:t>y</a:t>
            </a:r>
            <a:r>
              <a:rPr sz="3000" b="0" i="0">
                <a:solidFill>
                  <a:srgbClr val="1A1A1A"/>
                </a:solidFill>
                <a:latin typeface="Calibri"/>
              </a:rPr>
              <a:t> term in its model it treats the steady corner load as a disturbance and softens roll against it. A higher LTR weight makes it worse. Hypothesis; closed-loop modal analysis pending.</a:t>
            </a:r>
          </a:p>
        </p:txBody>
      </p:sp>
      <p:sp>
        <p:nvSpPr>
          <p:cNvPr id="8" name="Rounded Rectangle 7"/>
          <p:cNvSpPr/>
          <p:nvPr/>
        </p:nvSpPr>
        <p:spPr>
          <a:xfrm>
            <a:off x="8458200" y="3566160"/>
            <a:ext cx="7315200" cy="8961120"/>
          </a:xfrm>
          <a:prstGeom prst="roundRect">
            <a:avLst>
              <a:gd name="adj" fmla="val 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869680" y="3931920"/>
            <a:ext cx="822960" cy="822960"/>
          </a:xfrm>
          <a:prstGeom prst="ellipse">
            <a:avLst/>
          </a:prstGeom>
          <a:solidFill>
            <a:srgbClr val="8400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Helvetica"/>
              </a:rPr>
              <a:t>2</a:t>
            </a:r>
          </a:p>
        </p:txBody>
      </p:sp>
      <p:sp>
        <p:nvSpPr>
          <p:cNvPr id="10" name="TextBox 9"/>
          <p:cNvSpPr txBox="1"/>
          <p:nvPr/>
        </p:nvSpPr>
        <p:spPr>
          <a:xfrm>
            <a:off x="8869680" y="5029200"/>
            <a:ext cx="6492240" cy="1280160"/>
          </a:xfrm>
          <a:prstGeom prst="rect">
            <a:avLst/>
          </a:prstGeom>
          <a:noFill/>
        </p:spPr>
        <p:txBody>
          <a:bodyPr wrap="square" anchor="t" lIns="45720" rIns="45720" tIns="27432" bIns="27432">
            <a:noAutofit/>
          </a:bodyPr>
          <a:lstStyle/>
          <a:p>
            <a:pPr algn="l"/>
            <a:r>
              <a:rPr sz="3100" b="1" i="0">
                <a:solidFill>
                  <a:srgbClr val="840032"/>
                </a:solidFill>
                <a:latin typeface="Helvetica"/>
              </a:rPr>
              <a:t>Two criteria for the horizon</a:t>
            </a:r>
          </a:p>
        </p:txBody>
      </p:sp>
      <p:sp>
        <p:nvSpPr>
          <p:cNvPr id="11" name="TextBox 10"/>
          <p:cNvSpPr txBox="1"/>
          <p:nvPr/>
        </p:nvSpPr>
        <p:spPr>
          <a:xfrm>
            <a:off x="8869680" y="6492240"/>
            <a:ext cx="6492240" cy="5852160"/>
          </a:xfrm>
          <a:prstGeom prst="rect">
            <a:avLst/>
          </a:prstGeom>
          <a:noFill/>
        </p:spPr>
        <p:txBody>
          <a:bodyPr wrap="square" anchor="t" lIns="45720" rIns="45720" tIns="27432" bIns="27432">
            <a:noAutofit/>
          </a:bodyPr>
          <a:lstStyle/>
          <a:p>
            <a:pPr algn="l"/>
            <a:r>
              <a:rPr sz="3000" b="0" i="0">
                <a:solidFill>
                  <a:srgbClr val="1A1A1A"/>
                </a:solidFill>
                <a:latin typeface="Calibri"/>
              </a:rPr>
              <a:t>LQ cost saturates at 0.28 m; peak LTR needs 1.04 m, about 4× longer. The cost is dominated by the near present; the peak is one instant that needs action before impact. Choose the horizon against the reported metric. 1 m is about one wheel-hop wavelength, within sensor range.</a:t>
            </a:r>
          </a:p>
        </p:txBody>
      </p:sp>
      <p:sp>
        <p:nvSpPr>
          <p:cNvPr id="12" name="Rounded Rectangle 11"/>
          <p:cNvSpPr/>
          <p:nvPr/>
        </p:nvSpPr>
        <p:spPr>
          <a:xfrm>
            <a:off x="16139160" y="3566160"/>
            <a:ext cx="7315200" cy="896112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550640" y="3931920"/>
            <a:ext cx="822960" cy="822960"/>
          </a:xfrm>
          <a:prstGeom prst="ellipse">
            <a:avLst/>
          </a:prstGeom>
          <a:solidFill>
            <a:srgbClr val="8400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Helvetica"/>
              </a:rPr>
              <a:t>3</a:t>
            </a:r>
          </a:p>
        </p:txBody>
      </p:sp>
      <p:sp>
        <p:nvSpPr>
          <p:cNvPr id="14" name="TextBox 13"/>
          <p:cNvSpPr txBox="1"/>
          <p:nvPr/>
        </p:nvSpPr>
        <p:spPr>
          <a:xfrm>
            <a:off x="16550640" y="5029200"/>
            <a:ext cx="6492240" cy="1280160"/>
          </a:xfrm>
          <a:prstGeom prst="rect">
            <a:avLst/>
          </a:prstGeom>
          <a:noFill/>
        </p:spPr>
        <p:txBody>
          <a:bodyPr wrap="square" anchor="t" lIns="45720" rIns="45720" tIns="27432" bIns="27432">
            <a:noAutofit/>
          </a:bodyPr>
          <a:lstStyle/>
          <a:p>
            <a:pPr algn="l"/>
            <a:r>
              <a:rPr sz="3100" b="1" i="0">
                <a:solidFill>
                  <a:srgbClr val="840032"/>
                </a:solidFill>
                <a:latin typeface="Helvetica"/>
              </a:rPr>
              <a:t>What the vertical model cannot say</a:t>
            </a:r>
          </a:p>
        </p:txBody>
      </p:sp>
      <p:sp>
        <p:nvSpPr>
          <p:cNvPr id="15" name="TextBox 14"/>
          <p:cNvSpPr txBox="1"/>
          <p:nvPr/>
        </p:nvSpPr>
        <p:spPr>
          <a:xfrm>
            <a:off x="16550640" y="6492240"/>
            <a:ext cx="6492240" cy="5852160"/>
          </a:xfrm>
          <a:prstGeom prst="rect">
            <a:avLst/>
          </a:prstGeom>
          <a:noFill/>
        </p:spPr>
        <p:txBody>
          <a:bodyPr wrap="square" anchor="t" lIns="45720" rIns="45720" tIns="27432" bIns="27432">
            <a:noAutofit/>
          </a:bodyPr>
          <a:lstStyle/>
          <a:p>
            <a:pPr algn="l"/>
            <a:r>
              <a:rPr sz="3000" b="0" i="0">
                <a:solidFill>
                  <a:srgbClr val="1A1A1A"/>
                </a:solidFill>
                <a:latin typeface="Calibri"/>
              </a:rPr>
              <a:t>It resolves how tyre loads redistribute and whether the inner wheels unload. It cannot show tripped rollover: an outer-wheel pothole looks mild here, but the tyre can strike the far edge and trip the car.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6. LIMITATIONS AND NEXT STEPS</a:t>
            </a:r>
          </a:p>
        </p:txBody>
      </p:sp>
      <p:sp>
        <p:nvSpPr>
          <p:cNvPr id="4" name="Rounded Rectangle 3"/>
          <p:cNvSpPr/>
          <p:nvPr/>
        </p:nvSpPr>
        <p:spPr>
          <a:xfrm>
            <a:off x="777240" y="3611880"/>
            <a:ext cx="11155680" cy="886968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3931920"/>
            <a:ext cx="10241280" cy="822960"/>
          </a:xfrm>
          <a:prstGeom prst="rect">
            <a:avLst/>
          </a:prstGeom>
          <a:noFill/>
        </p:spPr>
        <p:txBody>
          <a:bodyPr wrap="square" anchor="t" lIns="45720" rIns="45720" tIns="27432" bIns="27432">
            <a:noAutofit/>
          </a:bodyPr>
          <a:lstStyle/>
          <a:p>
            <a:pPr algn="l"/>
            <a:r>
              <a:rPr sz="3600" b="1" i="0">
                <a:solidFill>
                  <a:srgbClr val="840032"/>
                </a:solidFill>
                <a:latin typeface="Helvetica"/>
              </a:rPr>
              <a:t>Limitations</a:t>
            </a:r>
          </a:p>
        </p:txBody>
      </p:sp>
      <p:sp>
        <p:nvSpPr>
          <p:cNvPr id="6" name="TextBox 5"/>
          <p:cNvSpPr txBox="1"/>
          <p:nvPr/>
        </p:nvSpPr>
        <p:spPr>
          <a:xfrm>
            <a:off x="1234440" y="4983480"/>
            <a:ext cx="10241280" cy="7315200"/>
          </a:xfrm>
          <a:prstGeom prst="rect">
            <a:avLst/>
          </a:prstGeom>
          <a:noFill/>
        </p:spPr>
        <p:txBody>
          <a:bodyPr wrap="square" lIns="45720" rIns="45720" tIns="27432" bIns="27432">
            <a:noAutofit/>
          </a:bodyPr>
          <a:lstStyle/>
          <a:p>
            <a:pPr algn="l" marL="411480" indent="-411480">
              <a:spcAft>
                <a:spcPts val="2400"/>
              </a:spcAft>
              <a:buFont typeface="Arial"/>
              <a:buChar char="•"/>
            </a:pPr>
            <a:r>
              <a:rPr sz="3400" b="0" i="0">
                <a:solidFill>
                  <a:srgbClr val="1A1A1A"/>
                </a:solidFill>
                <a:latin typeface="Calibri"/>
              </a:rPr>
              <a:t>Prescribed a</a:t>
            </a:r>
            <a:r>
              <a:rPr sz="3400" b="0" i="0" baseline="-25000">
                <a:solidFill>
                  <a:srgbClr val="1A1A1A"/>
                </a:solidFill>
                <a:latin typeface="Calibri"/>
              </a:rPr>
              <a:t>y</a:t>
            </a:r>
            <a:r>
              <a:rPr sz="3400" b="0" i="0">
                <a:solidFill>
                  <a:srgbClr val="1A1A1A"/>
                </a:solidFill>
                <a:latin typeface="Calibri"/>
              </a:rPr>
              <a:t>: no lateral or yaw dynamics, no tyre force saturation</a:t>
            </a:r>
          </a:p>
          <a:p>
            <a:pPr algn="l" marL="411480" indent="-411480">
              <a:spcAft>
                <a:spcPts val="2400"/>
              </a:spcAft>
              <a:buFont typeface="Arial"/>
              <a:buChar char="•"/>
            </a:pPr>
            <a:r>
              <a:rPr sz="3400" b="0" i="0">
                <a:solidFill>
                  <a:srgbClr val="1A1A1A"/>
                </a:solidFill>
                <a:latin typeface="Calibri"/>
              </a:rPr>
              <a:t>Unsprung load transfer not modelled: LTR ≈ 7 % low, all controllers equally</a:t>
            </a:r>
          </a:p>
          <a:p>
            <a:pPr algn="l" marL="411480" indent="-411480">
              <a:spcAft>
                <a:spcPts val="2400"/>
              </a:spcAft>
              <a:buFont typeface="Arial"/>
              <a:buChar char="•"/>
            </a:pPr>
            <a:r>
              <a:rPr sz="3400" b="0" i="0">
                <a:solidFill>
                  <a:srgbClr val="1A1A1A"/>
                </a:solidFill>
                <a:latin typeface="Calibri"/>
              </a:rPr>
              <a:t>Exact preview: no sensor noise, position error or delay</a:t>
            </a:r>
          </a:p>
          <a:p>
            <a:pPr algn="l" marL="411480" indent="-411480">
              <a:spcAft>
                <a:spcPts val="2400"/>
              </a:spcAft>
              <a:buFont typeface="Arial"/>
              <a:buChar char="•"/>
            </a:pPr>
            <a:r>
              <a:rPr sz="3400" b="0" i="0">
                <a:solidFill>
                  <a:srgbClr val="1A1A1A"/>
                </a:solidFill>
                <a:latin typeface="Calibri"/>
              </a:rPr>
              <a:t>Weights and horizon chosen on the baseline scenario</a:t>
            </a:r>
          </a:p>
          <a:p>
            <a:pPr algn="l" marL="411480" indent="-411480">
              <a:spcAft>
                <a:spcPts val="2400"/>
              </a:spcAft>
              <a:buFont typeface="Arial"/>
              <a:buChar char="•"/>
            </a:pPr>
            <a:r>
              <a:rPr sz="3400" b="0" i="0">
                <a:solidFill>
                  <a:srgbClr val="1A1A1A"/>
                </a:solidFill>
                <a:latin typeface="Calibri"/>
              </a:rPr>
              <a:t>Measured-vehicle suspension and tyre data assumed; limits not in the design</a:t>
            </a:r>
          </a:p>
        </p:txBody>
      </p:sp>
      <p:sp>
        <p:nvSpPr>
          <p:cNvPr id="7" name="Rounded Rectangle 6"/>
          <p:cNvSpPr/>
          <p:nvPr/>
        </p:nvSpPr>
        <p:spPr>
          <a:xfrm>
            <a:off x="12435840" y="3611880"/>
            <a:ext cx="11155680" cy="8869680"/>
          </a:xfrm>
          <a:prstGeom prst="roundRect">
            <a:avLst>
              <a:gd name="adj" fmla="val 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93040" y="3931920"/>
            <a:ext cx="10241280" cy="822960"/>
          </a:xfrm>
          <a:prstGeom prst="rect">
            <a:avLst/>
          </a:prstGeom>
          <a:noFill/>
        </p:spPr>
        <p:txBody>
          <a:bodyPr wrap="square" anchor="t" lIns="45720" rIns="45720" tIns="27432" bIns="27432">
            <a:noAutofit/>
          </a:bodyPr>
          <a:lstStyle/>
          <a:p>
            <a:pPr algn="l"/>
            <a:r>
              <a:rPr sz="3600" b="1" i="0">
                <a:solidFill>
                  <a:srgbClr val="840032"/>
                </a:solidFill>
                <a:latin typeface="Helvetica"/>
              </a:rPr>
              <a:t>Next steps</a:t>
            </a:r>
          </a:p>
        </p:txBody>
      </p:sp>
      <p:sp>
        <p:nvSpPr>
          <p:cNvPr id="9" name="TextBox 8"/>
          <p:cNvSpPr txBox="1"/>
          <p:nvPr/>
        </p:nvSpPr>
        <p:spPr>
          <a:xfrm>
            <a:off x="12893040" y="4983480"/>
            <a:ext cx="10241280" cy="7315200"/>
          </a:xfrm>
          <a:prstGeom prst="rect">
            <a:avLst/>
          </a:prstGeom>
          <a:noFill/>
        </p:spPr>
        <p:txBody>
          <a:bodyPr wrap="square" lIns="45720" rIns="45720" tIns="27432" bIns="27432">
            <a:noAutofit/>
          </a:bodyPr>
          <a:lstStyle/>
          <a:p>
            <a:pPr algn="l" marL="411480" indent="-411480">
              <a:spcAft>
                <a:spcPts val="2400"/>
              </a:spcAft>
              <a:buFont typeface="Arial"/>
              <a:buChar char="•"/>
            </a:pPr>
            <a:r>
              <a:rPr sz="3400" b="0" i="0">
                <a:solidFill>
                  <a:srgbClr val="1A1A1A"/>
                </a:solidFill>
                <a:latin typeface="Calibri"/>
              </a:rPr>
              <a:t>Model-error study: nominal design on similar-but-different vehicles</a:t>
            </a:r>
          </a:p>
          <a:p>
            <a:pPr algn="l" marL="411480" indent="-411480">
              <a:spcAft>
                <a:spcPts val="2400"/>
              </a:spcAft>
              <a:buFont typeface="Arial"/>
              <a:buChar char="•"/>
            </a:pPr>
            <a:r>
              <a:rPr sz="3400" b="0" i="0">
                <a:solidFill>
                  <a:srgbClr val="1A1A1A"/>
                </a:solidFill>
                <a:latin typeface="Calibri"/>
              </a:rPr>
              <a:t>Sensor noise and defect-position error in the preview</a:t>
            </a:r>
          </a:p>
          <a:p>
            <a:pPr algn="l" marL="411480" indent="-411480">
              <a:spcAft>
                <a:spcPts val="2400"/>
              </a:spcAft>
              <a:buFont typeface="Arial"/>
              <a:buChar char="•"/>
            </a:pPr>
            <a:r>
              <a:rPr sz="3400" b="0" i="0">
                <a:solidFill>
                  <a:srgbClr val="1A1A1A"/>
                </a:solidFill>
                <a:latin typeface="Calibri"/>
              </a:rPr>
              <a:t>Actuator dynamics inside the controller design</a:t>
            </a:r>
          </a:p>
          <a:p>
            <a:pPr algn="l" marL="411480" indent="-411480">
              <a:spcAft>
                <a:spcPts val="2400"/>
              </a:spcAft>
              <a:buFont typeface="Arial"/>
              <a:buChar char="•"/>
            </a:pPr>
            <a:r>
              <a:rPr sz="3400" b="0" i="0">
                <a:solidFill>
                  <a:srgbClr val="1A1A1A"/>
                </a:solidFill>
                <a:latin typeface="Calibri"/>
              </a:rPr>
              <a:t>Constrained formulation (MPC) where travel or force limits act</a:t>
            </a:r>
          </a:p>
          <a:p>
            <a:pPr algn="l" marL="411480" indent="-411480">
              <a:spcAft>
                <a:spcPts val="2400"/>
              </a:spcAft>
              <a:buFont typeface="Arial"/>
              <a:buChar char="•"/>
            </a:pPr>
            <a:r>
              <a:rPr sz="3400" b="0" i="0">
                <a:solidFill>
                  <a:srgbClr val="1A1A1A"/>
                </a:solidFill>
                <a:latin typeface="Calibri"/>
              </a:rPr>
              <a:t>CarSim validation with lateral tyre forces, incl. the pothole edge strike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56280" y="658368"/>
            <a:ext cx="6757416" cy="502920"/>
          </a:xfrm>
          <a:prstGeom prst="rect">
            <a:avLst/>
          </a:prstGeom>
          <a:noFill/>
        </p:spPr>
        <p:txBody>
          <a:bodyPr wrap="square" anchor="t" lIns="45720" rIns="45720" tIns="27432" bIns="27432">
            <a:noAutofit/>
          </a:bodyPr>
          <a:lstStyle/>
          <a:p>
            <a:pPr algn="r"/>
            <a:r>
              <a:rPr sz="2300" b="0" i="0">
                <a:solidFill>
                  <a:srgbClr val="1A1A1A"/>
                </a:solidFill>
                <a:latin typeface="Helvetica"/>
              </a:rPr>
              <a:t>VIPP Final Presentation</a:t>
            </a:r>
          </a:p>
        </p:txBody>
      </p:sp>
      <p:sp>
        <p:nvSpPr>
          <p:cNvPr id="3" name="TextBox 2"/>
          <p:cNvSpPr txBox="1"/>
          <p:nvPr/>
        </p:nvSpPr>
        <p:spPr>
          <a:xfrm>
            <a:off x="777240" y="2331720"/>
            <a:ext cx="22768560" cy="914400"/>
          </a:xfrm>
          <a:prstGeom prst="rect">
            <a:avLst/>
          </a:prstGeom>
          <a:noFill/>
        </p:spPr>
        <p:txBody>
          <a:bodyPr wrap="square" anchor="t" lIns="45720" rIns="45720" tIns="27432" bIns="27432">
            <a:noAutofit/>
          </a:bodyPr>
          <a:lstStyle/>
          <a:p>
            <a:pPr algn="l"/>
            <a:r>
              <a:rPr sz="5000" b="1" i="0">
                <a:solidFill>
                  <a:srgbClr val="840032"/>
                </a:solidFill>
                <a:latin typeface="Helvetica"/>
              </a:rPr>
              <a:t>6. CONCLUSION</a:t>
            </a:r>
          </a:p>
        </p:txBody>
      </p:sp>
      <p:sp>
        <p:nvSpPr>
          <p:cNvPr id="4" name="Rounded Rectangle 3"/>
          <p:cNvSpPr/>
          <p:nvPr/>
        </p:nvSpPr>
        <p:spPr>
          <a:xfrm>
            <a:off x="777240" y="3566160"/>
            <a:ext cx="5431536" cy="402336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840480"/>
            <a:ext cx="4608576" cy="960120"/>
          </a:xfrm>
          <a:prstGeom prst="rect">
            <a:avLst/>
          </a:prstGeom>
          <a:noFill/>
        </p:spPr>
        <p:txBody>
          <a:bodyPr wrap="square" anchor="t" lIns="45720" rIns="45720" tIns="27432" bIns="27432">
            <a:noAutofit/>
          </a:bodyPr>
          <a:lstStyle/>
          <a:p>
            <a:pPr algn="l"/>
            <a:r>
              <a:rPr sz="5600" b="1" i="0">
                <a:solidFill>
                  <a:srgbClr val="840032"/>
                </a:solidFill>
                <a:latin typeface="Helvetica"/>
              </a:rPr>
              <a:t>≈ 6 %</a:t>
            </a:r>
          </a:p>
        </p:txBody>
      </p:sp>
      <p:sp>
        <p:nvSpPr>
          <p:cNvPr id="6" name="TextBox 5"/>
          <p:cNvSpPr txBox="1"/>
          <p:nvPr/>
        </p:nvSpPr>
        <p:spPr>
          <a:xfrm>
            <a:off x="1188720" y="4846320"/>
            <a:ext cx="4608576" cy="2514600"/>
          </a:xfrm>
          <a:prstGeom prst="rect">
            <a:avLst/>
          </a:prstGeom>
          <a:noFill/>
        </p:spPr>
        <p:txBody>
          <a:bodyPr wrap="square" anchor="t" lIns="45720" rIns="45720" tIns="27432" bIns="27432">
            <a:noAutofit/>
          </a:bodyPr>
          <a:lstStyle/>
          <a:p>
            <a:pPr algn="l"/>
            <a:r>
              <a:rPr sz="2800" b="0" i="0">
                <a:solidFill>
                  <a:srgbClr val="1A1A1A"/>
                </a:solidFill>
                <a:latin typeface="Calibri"/>
              </a:rPr>
              <a:t>of steady-corner load transfer any suspension can change</a:t>
            </a:r>
          </a:p>
        </p:txBody>
      </p:sp>
      <p:sp>
        <p:nvSpPr>
          <p:cNvPr id="7" name="Rounded Rectangle 6"/>
          <p:cNvSpPr/>
          <p:nvPr/>
        </p:nvSpPr>
        <p:spPr>
          <a:xfrm>
            <a:off x="6574536" y="3566160"/>
            <a:ext cx="5431536" cy="402336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86016" y="3840480"/>
            <a:ext cx="4608576" cy="960120"/>
          </a:xfrm>
          <a:prstGeom prst="rect">
            <a:avLst/>
          </a:prstGeom>
          <a:noFill/>
        </p:spPr>
        <p:txBody>
          <a:bodyPr wrap="square" anchor="t" lIns="45720" rIns="45720" tIns="27432" bIns="27432">
            <a:noAutofit/>
          </a:bodyPr>
          <a:lstStyle/>
          <a:p>
            <a:pPr algn="l"/>
            <a:r>
              <a:rPr sz="5600" b="1" i="0">
                <a:solidFill>
                  <a:srgbClr val="840032"/>
                </a:solidFill>
                <a:latin typeface="Helvetica"/>
              </a:rPr>
              <a:t>11 / 25</a:t>
            </a:r>
          </a:p>
        </p:txBody>
      </p:sp>
      <p:sp>
        <p:nvSpPr>
          <p:cNvPr id="9" name="TextBox 8"/>
          <p:cNvSpPr txBox="1"/>
          <p:nvPr/>
        </p:nvSpPr>
        <p:spPr>
          <a:xfrm>
            <a:off x="6986016" y="4846320"/>
            <a:ext cx="4608576" cy="2514600"/>
          </a:xfrm>
          <a:prstGeom prst="rect">
            <a:avLst/>
          </a:prstGeom>
          <a:noFill/>
        </p:spPr>
        <p:txBody>
          <a:bodyPr wrap="square" anchor="t" lIns="45720" rIns="45720" tIns="27432" bIns="27432">
            <a:noAutofit/>
          </a:bodyPr>
          <a:lstStyle/>
          <a:p>
            <a:pPr algn="l"/>
            <a:r>
              <a:rPr sz="2800" b="0" i="0">
                <a:solidFill>
                  <a:srgbClr val="1A1A1A"/>
                </a:solidFill>
                <a:latin typeface="Calibri"/>
              </a:rPr>
              <a:t>roads where feedback reached LTR = 1 at 0.8 g (passive: 1)</a:t>
            </a:r>
          </a:p>
        </p:txBody>
      </p:sp>
      <p:sp>
        <p:nvSpPr>
          <p:cNvPr id="10" name="Rounded Rectangle 9"/>
          <p:cNvSpPr/>
          <p:nvPr/>
        </p:nvSpPr>
        <p:spPr>
          <a:xfrm>
            <a:off x="12371832" y="3566160"/>
            <a:ext cx="5431536" cy="402336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783311" y="3840480"/>
            <a:ext cx="4608576" cy="960120"/>
          </a:xfrm>
          <a:prstGeom prst="rect">
            <a:avLst/>
          </a:prstGeom>
          <a:noFill/>
        </p:spPr>
        <p:txBody>
          <a:bodyPr wrap="square" anchor="t" lIns="45720" rIns="45720" tIns="27432" bIns="27432">
            <a:noAutofit/>
          </a:bodyPr>
          <a:lstStyle/>
          <a:p>
            <a:pPr algn="l"/>
            <a:r>
              <a:rPr sz="5600" b="1" i="0">
                <a:solidFill>
                  <a:srgbClr val="840032"/>
                </a:solidFill>
                <a:latin typeface="Helvetica"/>
              </a:rPr>
              <a:t>51 / 55</a:t>
            </a:r>
          </a:p>
        </p:txBody>
      </p:sp>
      <p:sp>
        <p:nvSpPr>
          <p:cNvPr id="12" name="TextBox 11"/>
          <p:cNvSpPr txBox="1"/>
          <p:nvPr/>
        </p:nvSpPr>
        <p:spPr>
          <a:xfrm>
            <a:off x="12783311" y="4846320"/>
            <a:ext cx="4608576" cy="2514600"/>
          </a:xfrm>
          <a:prstGeom prst="rect">
            <a:avLst/>
          </a:prstGeom>
          <a:noFill/>
        </p:spPr>
        <p:txBody>
          <a:bodyPr wrap="square" anchor="t" lIns="45720" rIns="45720" tIns="27432" bIns="27432">
            <a:noAutofit/>
          </a:bodyPr>
          <a:lstStyle/>
          <a:p>
            <a:pPr algn="l"/>
            <a:r>
              <a:rPr sz="2800" b="0" i="0">
                <a:solidFill>
                  <a:srgbClr val="1A1A1A"/>
                </a:solidFill>
                <a:latin typeface="Calibri"/>
              </a:rPr>
              <a:t>cells passed by road + a</a:t>
            </a:r>
            <a:r>
              <a:rPr sz="2800" b="0" i="0" baseline="-25000">
                <a:solidFill>
                  <a:srgbClr val="1A1A1A"/>
                </a:solidFill>
                <a:latin typeface="Calibri"/>
              </a:rPr>
              <a:t>y</a:t>
            </a:r>
            <a:r>
              <a:rPr sz="2800" b="0" i="0">
                <a:solidFill>
                  <a:srgbClr val="1A1A1A"/>
                </a:solidFill>
                <a:latin typeface="Calibri"/>
              </a:rPr>
              <a:t> preview, no re-tuning</a:t>
            </a:r>
          </a:p>
        </p:txBody>
      </p:sp>
      <p:sp>
        <p:nvSpPr>
          <p:cNvPr id="13" name="Rounded Rectangle 12"/>
          <p:cNvSpPr/>
          <p:nvPr/>
        </p:nvSpPr>
        <p:spPr>
          <a:xfrm>
            <a:off x="18169128" y="3566160"/>
            <a:ext cx="5431536" cy="4023360"/>
          </a:xfrm>
          <a:prstGeom prst="roundRect">
            <a:avLst>
              <a:gd name="adj" fmla="val 5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580608" y="3840480"/>
            <a:ext cx="4608576" cy="960120"/>
          </a:xfrm>
          <a:prstGeom prst="rect">
            <a:avLst/>
          </a:prstGeom>
          <a:noFill/>
        </p:spPr>
        <p:txBody>
          <a:bodyPr wrap="square" anchor="t" lIns="45720" rIns="45720" tIns="27432" bIns="27432">
            <a:noAutofit/>
          </a:bodyPr>
          <a:lstStyle/>
          <a:p>
            <a:pPr algn="l"/>
            <a:r>
              <a:rPr sz="5600" b="1" i="0">
                <a:solidFill>
                  <a:srgbClr val="840032"/>
                </a:solidFill>
                <a:latin typeface="Helvetica"/>
              </a:rPr>
              <a:t>15–30 Hz</a:t>
            </a:r>
          </a:p>
        </p:txBody>
      </p:sp>
      <p:sp>
        <p:nvSpPr>
          <p:cNvPr id="15" name="TextBox 14"/>
          <p:cNvSpPr txBox="1"/>
          <p:nvPr/>
        </p:nvSpPr>
        <p:spPr>
          <a:xfrm>
            <a:off x="18580608" y="4846320"/>
            <a:ext cx="4608576" cy="2514600"/>
          </a:xfrm>
          <a:prstGeom prst="rect">
            <a:avLst/>
          </a:prstGeom>
          <a:noFill/>
        </p:spPr>
        <p:txBody>
          <a:bodyPr wrap="square" anchor="t" lIns="45720" rIns="45720" tIns="27432" bIns="27432">
            <a:noAutofit/>
          </a:bodyPr>
          <a:lstStyle/>
          <a:p>
            <a:pPr algn="l"/>
            <a:r>
              <a:rPr sz="2800" b="0" i="0">
                <a:solidFill>
                  <a:srgbClr val="1A1A1A"/>
                </a:solidFill>
                <a:latin typeface="Calibri"/>
              </a:rPr>
              <a:t>actuator bandwidth needed, with ≈ 300 kN/s slew</a:t>
            </a:r>
          </a:p>
        </p:txBody>
      </p:sp>
      <p:sp>
        <p:nvSpPr>
          <p:cNvPr id="16" name="TextBox 15"/>
          <p:cNvSpPr txBox="1"/>
          <p:nvPr/>
        </p:nvSpPr>
        <p:spPr>
          <a:xfrm>
            <a:off x="777240" y="8046720"/>
            <a:ext cx="22768560" cy="2926080"/>
          </a:xfrm>
          <a:prstGeom prst="rect">
            <a:avLst/>
          </a:prstGeom>
          <a:noFill/>
        </p:spPr>
        <p:txBody>
          <a:bodyPr wrap="square" lIns="45720" rIns="45720" tIns="27432" bIns="27432">
            <a:noAutofit/>
          </a:bodyPr>
          <a:lstStyle/>
          <a:p>
            <a:pPr algn="l" marL="411480" indent="-411480">
              <a:spcAft>
                <a:spcPts val="1200"/>
              </a:spcAft>
              <a:buFont typeface="Arial"/>
              <a:buChar char="•"/>
            </a:pPr>
            <a:r>
              <a:rPr sz="3100" b="1" i="0">
                <a:solidFill>
                  <a:srgbClr val="1A1A1A"/>
                </a:solidFill>
                <a:latin typeface="Calibri"/>
              </a:rPr>
              <a:t>Road preview handles the defect; a</a:t>
            </a:r>
            <a:r>
              <a:rPr sz="3100" b="1" i="0" baseline="-25000">
                <a:solidFill>
                  <a:srgbClr val="1A1A1A"/>
                </a:solidFill>
                <a:latin typeface="Calibri"/>
              </a:rPr>
              <a:t>y</a:t>
            </a:r>
            <a:r>
              <a:rPr sz="3100" b="1" i="0">
                <a:solidFill>
                  <a:srgbClr val="1A1A1A"/>
                </a:solidFill>
                <a:latin typeface="Calibri"/>
              </a:rPr>
              <a:t> preview handles the corner. </a:t>
            </a:r>
            <a:r>
              <a:rPr sz="3100" b="0" i="0">
                <a:solidFill>
                  <a:srgbClr val="1A1A1A"/>
                </a:solidFill>
                <a:latin typeface="Calibri"/>
              </a:rPr>
              <a:t>Together they lower peak LTR on every road, remove the lean and prevent the trip condition across the grid.</a:t>
            </a:r>
          </a:p>
          <a:p>
            <a:pPr algn="l" marL="411480" indent="-411480">
              <a:spcAft>
                <a:spcPts val="1200"/>
              </a:spcAft>
              <a:buFont typeface="Arial"/>
              <a:buChar char="•"/>
            </a:pPr>
            <a:r>
              <a:rPr sz="3100" b="1" i="0">
                <a:solidFill>
                  <a:srgbClr val="1A1A1A"/>
                </a:solidFill>
                <a:latin typeface="Calibri"/>
              </a:rPr>
              <a:t>Feedback LQR degrades the margin: </a:t>
            </a:r>
            <a:r>
              <a:rPr sz="3100" b="0" i="0">
                <a:solidFill>
                  <a:srgbClr val="1A1A1A"/>
                </a:solidFill>
                <a:latin typeface="Calibri"/>
              </a:rPr>
              <a:t>lower effective roll stiffness, and no way to tell the corner from the road.</a:t>
            </a:r>
          </a:p>
        </p:txBody>
      </p:sp>
      <p:sp>
        <p:nvSpPr>
          <p:cNvPr id="17" name="TextBox 16"/>
          <p:cNvSpPr txBox="1"/>
          <p:nvPr/>
        </p:nvSpPr>
        <p:spPr>
          <a:xfrm>
            <a:off x="777240" y="11155680"/>
            <a:ext cx="22768560" cy="1280160"/>
          </a:xfrm>
          <a:prstGeom prst="rect">
            <a:avLst/>
          </a:prstGeom>
          <a:noFill/>
        </p:spPr>
        <p:txBody>
          <a:bodyPr wrap="square" anchor="t" lIns="45720" rIns="45720" tIns="27432" bIns="27432">
            <a:noAutofit/>
          </a:bodyPr>
          <a:lstStyle/>
          <a:p>
            <a:pPr algn="l"/>
            <a:r>
              <a:rPr sz="3300" b="1" i="0">
                <a:solidFill>
                  <a:srgbClr val="840032"/>
                </a:solidFill>
                <a:latin typeface="Helvetica"/>
              </a:rPr>
              <a:t>Within a vertical model, information an automated vehicle already has protects a significant part of the rollover margin.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10241280"/>
            <a:ext cx="24387048" cy="914400"/>
          </a:xfrm>
          <a:prstGeom prst="rect">
            <a:avLst/>
          </a:prstGeom>
          <a:noFill/>
        </p:spPr>
        <p:txBody>
          <a:bodyPr wrap="square" anchor="t" lIns="45720" rIns="45720" tIns="27432" bIns="27432">
            <a:noAutofit/>
          </a:bodyPr>
          <a:lstStyle/>
          <a:p>
            <a:pPr algn="ctr"/>
            <a:r>
              <a:rPr sz="4000" b="1" i="0">
                <a:solidFill>
                  <a:srgbClr val="FFFFFF"/>
                </a:solidFill>
                <a:latin typeface="Helvetica"/>
              </a:rPr>
              <a:t>THANK YOU  ·  QUESTIONS</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0_BasicColor">
  <a:themeElements>
    <a:clrScheme name="30_Bas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21</Slides>
  <Notes>12</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Nura</dc:creator>
  <cp:revision>56</cp:revision>
  <dcterms:modified xsi:type="dcterms:W3CDTF">2026-09-18T08:10:33Z</dcterms:modified>
</cp:coreProperties>
</file>